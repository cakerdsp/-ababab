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30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  <p:sldMasterId id="2147483686" r:id="rId2"/>
    <p:sldMasterId id="2147483698" r:id="rId3"/>
    <p:sldMasterId id="2147483712" r:id="rId4"/>
    <p:sldMasterId id="2147483724" r:id="rId5"/>
    <p:sldMasterId id="2147483738" r:id="rId6"/>
  </p:sldMasterIdLst>
  <p:notesMasterIdLst>
    <p:notesMasterId r:id="rId33"/>
  </p:notesMasterIdLst>
  <p:sldIdLst>
    <p:sldId id="257" r:id="rId7"/>
    <p:sldId id="296" r:id="rId8"/>
    <p:sldId id="385" r:id="rId9"/>
    <p:sldId id="390" r:id="rId10"/>
    <p:sldId id="391" r:id="rId11"/>
    <p:sldId id="265" r:id="rId12"/>
    <p:sldId id="267" r:id="rId13"/>
    <p:sldId id="364" r:id="rId14"/>
    <p:sldId id="266" r:id="rId15"/>
    <p:sldId id="298" r:id="rId16"/>
    <p:sldId id="386" r:id="rId17"/>
    <p:sldId id="383" r:id="rId18"/>
    <p:sldId id="269" r:id="rId19"/>
    <p:sldId id="270" r:id="rId20"/>
    <p:sldId id="271" r:id="rId21"/>
    <p:sldId id="292" r:id="rId22"/>
    <p:sldId id="293" r:id="rId23"/>
    <p:sldId id="294" r:id="rId24"/>
    <p:sldId id="295" r:id="rId25"/>
    <p:sldId id="374" r:id="rId26"/>
    <p:sldId id="381" r:id="rId27"/>
    <p:sldId id="387" r:id="rId28"/>
    <p:sldId id="388" r:id="rId29"/>
    <p:sldId id="389" r:id="rId30"/>
    <p:sldId id="393" r:id="rId31"/>
    <p:sldId id="392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7016ED-C45A-D74A-9457-CEF37B1838C6}" v="7" dt="2023-04-03T18:45:15.9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035"/>
    <p:restoredTop sz="94643"/>
  </p:normalViewPr>
  <p:slideViewPr>
    <p:cSldViewPr snapToGrid="0" snapToObjects="1">
      <p:cViewPr varScale="1">
        <p:scale>
          <a:sx n="102" d="100"/>
          <a:sy n="102" d="100"/>
        </p:scale>
        <p:origin x="17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microsoft.com/office/2015/10/relationships/revisionInfo" Target="revisionInfo.xml"/><Relationship Id="rId21" Type="http://schemas.openxmlformats.org/officeDocument/2006/relationships/slide" Target="slides/slide15.xml"/><Relationship Id="rId34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viewProps" Target="viewProp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i Zheng" userId="d19317889db4c986" providerId="LiveId" clId="{F17016ED-C45A-D74A-9457-CEF37B1838C6}"/>
    <pc:docChg chg="undo addSld delSld modSld">
      <pc:chgData name="Fei Zheng" userId="d19317889db4c986" providerId="LiveId" clId="{F17016ED-C45A-D74A-9457-CEF37B1838C6}" dt="2023-04-03T18:45:48.503" v="26" actId="1076"/>
      <pc:docMkLst>
        <pc:docMk/>
      </pc:docMkLst>
      <pc:sldChg chg="addSp delSp modSp new add del mod">
        <pc:chgData name="Fei Zheng" userId="d19317889db4c986" providerId="LiveId" clId="{F17016ED-C45A-D74A-9457-CEF37B1838C6}" dt="2023-04-03T18:45:48.503" v="26" actId="1076"/>
        <pc:sldMkLst>
          <pc:docMk/>
          <pc:sldMk cId="3610944293" sldId="392"/>
        </pc:sldMkLst>
        <pc:spChg chg="del">
          <ac:chgData name="Fei Zheng" userId="d19317889db4c986" providerId="LiveId" clId="{F17016ED-C45A-D74A-9457-CEF37B1838C6}" dt="2023-04-03T18:43:33.475" v="2" actId="478"/>
          <ac:spMkLst>
            <pc:docMk/>
            <pc:sldMk cId="3610944293" sldId="392"/>
            <ac:spMk id="2" creationId="{F1AF9A84-FAE0-BFAD-F523-3ABCA5724F38}"/>
          </ac:spMkLst>
        </pc:spChg>
        <pc:spChg chg="del">
          <ac:chgData name="Fei Zheng" userId="d19317889db4c986" providerId="LiveId" clId="{F17016ED-C45A-D74A-9457-CEF37B1838C6}" dt="2023-04-03T18:43:31.562" v="1" actId="478"/>
          <ac:spMkLst>
            <pc:docMk/>
            <pc:sldMk cId="3610944293" sldId="392"/>
            <ac:spMk id="3" creationId="{07025F2D-7FE9-7B44-4AC4-CADC63FF6CDC}"/>
          </ac:spMkLst>
        </pc:spChg>
        <pc:spChg chg="add mod">
          <ac:chgData name="Fei Zheng" userId="d19317889db4c986" providerId="LiveId" clId="{F17016ED-C45A-D74A-9457-CEF37B1838C6}" dt="2023-04-03T18:45:48.503" v="26" actId="1076"/>
          <ac:spMkLst>
            <pc:docMk/>
            <pc:sldMk cId="3610944293" sldId="392"/>
            <ac:spMk id="5" creationId="{3ED32A5F-7017-FFAC-ABE8-4D48651F6D87}"/>
          </ac:spMkLst>
        </pc:spChg>
        <pc:picChg chg="add mod modCrop">
          <ac:chgData name="Fei Zheng" userId="d19317889db4c986" providerId="LiveId" clId="{F17016ED-C45A-D74A-9457-CEF37B1838C6}" dt="2023-04-03T18:45:41.053" v="23" actId="1076"/>
          <ac:picMkLst>
            <pc:docMk/>
            <pc:sldMk cId="3610944293" sldId="392"/>
            <ac:picMk id="7" creationId="{851E3E89-D935-5CFE-5610-09B89F56E70C}"/>
          </ac:picMkLst>
        </pc:picChg>
      </pc:sldChg>
      <pc:sldChg chg="addSp modSp add mod">
        <pc:chgData name="Fei Zheng" userId="d19317889db4c986" providerId="LiveId" clId="{F17016ED-C45A-D74A-9457-CEF37B1838C6}" dt="2023-04-03T18:44:25.119" v="12" actId="1582"/>
        <pc:sldMkLst>
          <pc:docMk/>
          <pc:sldMk cId="308882299" sldId="393"/>
        </pc:sldMkLst>
        <pc:spChg chg="add mod">
          <ac:chgData name="Fei Zheng" userId="d19317889db4c986" providerId="LiveId" clId="{F17016ED-C45A-D74A-9457-CEF37B1838C6}" dt="2023-04-03T18:44:25.119" v="12" actId="1582"/>
          <ac:spMkLst>
            <pc:docMk/>
            <pc:sldMk cId="308882299" sldId="393"/>
            <ac:spMk id="2" creationId="{85699D99-9275-7E8C-9725-1752C03BBED2}"/>
          </ac:spMkLst>
        </pc:spChg>
        <pc:spChg chg="mod">
          <ac:chgData name="Fei Zheng" userId="d19317889db4c986" providerId="LiveId" clId="{F17016ED-C45A-D74A-9457-CEF37B1838C6}" dt="2023-04-03T18:43:53.735" v="6" actId="207"/>
          <ac:spMkLst>
            <pc:docMk/>
            <pc:sldMk cId="308882299" sldId="393"/>
            <ac:spMk id="32775" creationId="{83A1E4E0-5B44-165B-8688-3AA8C453448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70C6A1-1B2A-B049-9632-473783033247}" type="datetimeFigureOut">
              <a:rPr kumimoji="1" lang="zh-CN" altLang="en-US" smtClean="0"/>
              <a:t>2023/4/4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9F606A-999E-344F-9158-DDC26E4C410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20808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F606A-999E-344F-9158-DDC26E4C4107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0534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F606A-999E-344F-9158-DDC26E4C4107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110711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2C0B40B2-0E66-EE4D-3B3E-E2FA70204226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DB70D6F2-1CDE-3849-BF44-72720BECB1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90E3E550-1240-A1CD-2D71-6C86F09402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="0" i="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D8C52909-DC42-AC6B-CA44-BCFF09076F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="0" i="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3C6E81F4-E2A2-2924-5633-F564C3911D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58812CB9-AF68-5654-707F-F55A8A4D23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="0" i="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3D680967-7327-2F03-8433-17A2E6A050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="0" i="0" dirty="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BCA13210-5D5B-FB65-6F48-4D88086701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0" i="0" dirty="0">
                <a:latin typeface="Times New Roman" panose="02020603050405020304" pitchFamily="18" charset="0"/>
              </a:endParaRPr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12961B29-40B9-67C6-3155-768DB9A0C1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0" i="0" dirty="0">
                <a:latin typeface="Times New Roman" panose="02020603050405020304" pitchFamily="18" charset="0"/>
              </a:endParaRPr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0A1888E4-B486-08D7-6108-FCB19D699B3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0" i="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350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350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A2271D18-942D-A235-AC9B-9963415B6D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CD73DF9F-E06E-2F6A-41DE-EB38BC71E3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2913CDDF-5E99-7A84-E14C-822A1E3D30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0F1A5B88-941E-DF4C-9551-7FDAA993B3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7583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EA35868-DC94-E193-698D-E5447F9F0D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27F60FD-FDA0-E2FB-C5CD-01C678FF5C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68A6500-7273-DDF2-6B4B-1FA85CB0BD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FE6CAB-D2AD-FE4E-BE59-C7711DB1F1C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7413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038602C-5D93-8ED4-8A9E-C87339918F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40A8852-7F0D-E3E9-240A-802D28287E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8A2E73B-ED7C-3B4B-A69A-CE9E977367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8AA48C-F9CB-724F-9D90-543756B60C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8942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665EB2BE-3659-936D-339A-2C2777C4B6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6F56D318-7B64-6298-CEE6-DB29F837B4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69D64EB-8662-272F-9AAD-B38B2E89B2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442AD7-9DBC-7443-B9D6-16B4689B4FB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1829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73520E00-9298-F45E-6B98-2CB638064C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84A3F51F-D9AB-8854-227C-31519BE157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63778748-1E44-1526-8430-033DB2A07E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4D1614-15B3-1842-873B-468818137E8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5400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43F196B4-72AE-F57D-2747-826601E6C6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7E71B0EE-A5AF-073F-175E-E27DB8C378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212F03AE-191D-4E9C-22D9-1B279DCD9E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8501DF-555D-954A-ACA9-784F7E3AAA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8809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E80F3622-740A-1BFF-CBD8-26AD062BBE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041C7691-21FC-3117-24C8-2FBE8E87AF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D890C387-A542-4458-CACA-3596137055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D08524-154C-AE4E-8CAF-309117BBB2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1208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797A8E7-17B9-990A-5D3C-0CE40CD0F5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9AA6A3E4-9189-76B4-BFAF-BEC4322D2F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30424A45-CD82-E202-3047-BB4C27401D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1F7BD1-ED3E-4444-808E-E5C9AD2B28D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06130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4D0AB11-1DA0-1D31-D51F-EB2C5A0FC6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13F1DB87-95F3-EAE1-2734-374CAAFDCC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8FB1B28-F5FA-126A-DB50-F3E51E477F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7AFAC2-2F20-444D-B59F-1E9E465C31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80027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65F6626-8849-40CF-0D7E-EE6616F811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8212637-2B59-DAFB-195A-B438EC8F28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A51E5EF-5C73-5EB5-E14E-A15FCBF1E0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0DF330-A1D9-0347-A685-950E951882A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8606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328929DE-C6A6-6A41-DB51-670ED0794D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EAC7AD3-F0D1-0452-EF72-34E5B2A3AD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1C2E3DED-9D6A-9DB1-23FD-FD706C894A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012826-2523-F24A-9FB9-DB5AE42B5B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66153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150938" y="214313"/>
            <a:ext cx="7804150" cy="591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D5078037-A83A-094C-FE8B-8A97B191C1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5D541952-DE5A-A988-DB70-7FFEAD889E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3A60AA82-4665-AB33-617A-A45E477DAD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B8169A-C1A4-D646-A16E-2F1F7F2548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8188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AD2BE470-A9BC-CD40-3E4D-7C2B3ACD30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8DB3859D-DBCB-7FA3-5ADB-76C1A74525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C49346F5-0298-2BA1-71EC-A0B34E259D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1564BD-23BB-704A-8809-471E98F3CC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73308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>
            <a:extLst>
              <a:ext uri="{FF2B5EF4-FFF2-40B4-BE49-F238E27FC236}">
                <a16:creationId xmlns:a16="http://schemas.microsoft.com/office/drawing/2014/main" id="{3B50AE58-9EE3-95AD-0D26-30C84D41D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4803343 w 1000"/>
              <a:gd name="T3" fmla="*/ 0 h 1000"/>
              <a:gd name="T4" fmla="*/ 4803343 w 1000"/>
              <a:gd name="T5" fmla="*/ 109538 h 1000"/>
              <a:gd name="T6" fmla="*/ 0 w 1000"/>
              <a:gd name="T7" fmla="*/ 109538 h 1000"/>
              <a:gd name="T8" fmla="*/ 0 w 1000"/>
              <a:gd name="T9" fmla="*/ 0 h 1000"/>
              <a:gd name="T10" fmla="*/ 77724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52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7BA448-13DF-0E00-F9A0-B986D2ED9C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6986DA-C716-D02F-BC5C-BE63D26B63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EAAE2B-592E-B5B0-F6A6-23AAA76014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A47E7EA-756D-7949-BE2A-C868C8D074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335328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A4AFA48-1E62-B094-0ADB-26951BBBBC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757CF60-9AEF-AAA0-B2CB-6BA0D4682F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57EAA75-9669-A2F2-3D11-447EEDF647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EA2D30-056B-344D-A95D-7754F72D81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93131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BD6345F-CC04-EEB5-ED2F-B861AB3940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8976F05-0036-79DD-4BF3-2FF04EE3A9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D7F8B48-EC32-58FD-9615-89DEDD55C4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E6DBAE-8BD8-5946-924B-13E9F2083D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9669931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98C61DA-0395-AE85-01C1-E7D341AE35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3DB4412-3241-3FC9-AB84-0938DF5A7A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BCCF44-478E-D5B9-B871-F325AD7230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58826D-2178-7E41-87A7-2F0F5B8C69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1325708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0CFC1B-0BD2-F401-213E-06FE4A131D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4D6C31-3174-F1F4-4A90-971CD9A3F5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FCEFD6-D167-0608-CA74-1BE781EEB2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651695-AB22-C44B-BB4C-609A3A01D4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7770477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AB944DA1-8572-B773-D771-933E63F266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E67211D6-B621-BA11-633C-9A7C96EFCA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2F5D14CA-97A3-0570-AF1D-3BAA4730F9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C9E885-5D96-0849-9A44-86C218AD56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749265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102D990C-9597-3AA9-8E89-51C54CAF11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AD79A081-E8A8-DB53-B7E8-4A2A40CB57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03EE0EE9-B28A-49A9-061D-CB7E61DB21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6E9D08-2B88-A94F-80AA-24DAAFD4C7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1045389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0669775-EFAE-CA9A-BB9B-CDEF4421A8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24DC9B7-BBCD-1332-ED14-EAF73746A3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7FBCF00B-82E6-AFD3-F591-BE0DF6F751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31CF7-86AE-7C4F-9B4B-EFEEA474B74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3367747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73A52A5-9AB4-5886-F5D3-05AED785B8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E3CE5D44-C34E-43E3-3450-F617DC6D23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712BAD0-E921-F24B-A48C-A41FA2B10C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9CC048-B93D-3C49-96E0-FE311D4A80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5394894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30CBD80-214F-91FE-3ED1-9FA02FF555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6A3FCB7-89A8-EAD0-F5A8-73E3C208F4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3E7B1247-4BFC-51A6-1E22-3182ACF71C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CB2A9A-A5FE-5243-B614-BE2CF40B66B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8649712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79ECD1E-BE2A-4C91-5A7A-C14BBA388E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2D24BDF-B7A1-1BB2-E4D1-8DE606A78E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55866FB0-B3DD-8491-DC48-F91618211D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01D2A2-CE5C-6F44-9ECB-1683029ECC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7866465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2C0B40B2-0E66-EE4D-3B3E-E2FA70204226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DB70D6F2-1CDE-3849-BF44-72720BECB1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90E3E550-1240-A1CD-2D71-6C86F09402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="0" i="0" dirty="0"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D8C52909-DC42-AC6B-CA44-BCFF09076F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="0" i="0" dirty="0"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3C6E81F4-E2A2-2924-5633-F564C3911D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58812CB9-AF68-5654-707F-F55A8A4D23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="0" i="0" dirty="0"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3D680967-7327-2F03-8433-17A2E6A050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="0" i="0" dirty="0"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BCA13210-5D5B-FB65-6F48-4D88086701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0" i="0" dirty="0">
                <a:latin typeface="Times New Roman" panose="02020603050405020304" pitchFamily="18" charset="0"/>
                <a:ea typeface="KaiTi" panose="02010609060101010101" pitchFamily="49" charset="-122"/>
              </a:endParaRPr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12961B29-40B9-67C6-3155-768DB9A0C1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0" i="0" dirty="0">
                <a:latin typeface="Times New Roman" panose="02020603050405020304" pitchFamily="18" charset="0"/>
                <a:ea typeface="KaiTi" panose="02010609060101010101" pitchFamily="49" charset="-122"/>
              </a:endParaRPr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0A1888E4-B486-08D7-6108-FCB19D699B3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0" i="0" dirty="0">
                <a:latin typeface="Times New Roman" panose="02020603050405020304" pitchFamily="18" charset="0"/>
                <a:ea typeface="KaiTi" panose="02010609060101010101" pitchFamily="49" charset="-122"/>
              </a:endParaRPr>
            </a:p>
          </p:txBody>
        </p:sp>
      </p:grpSp>
      <p:sp>
        <p:nvSpPr>
          <p:cNvPr id="6350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6350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A2271D18-942D-A235-AC9B-9963415B6D9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CD73DF9F-E06E-2F6A-41DE-EB38BC71E3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2913CDDF-5E99-7A84-E14C-822A1E3D30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0F1A5B88-941E-DF4C-9551-7FDAA993B34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758341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EA35868-DC94-E193-698D-E5447F9F0D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E27F60FD-FDA0-E2FB-C5CD-01C678FF5C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68A6500-7273-DDF2-6B4B-1FA85CB0BD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FE6CAB-D2AD-FE4E-BE59-C7711DB1F1C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7741357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4038602C-5D93-8ED4-8A9E-C87339918F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40A8852-7F0D-E3E9-240A-802D28287E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8A2E73B-ED7C-3B4B-A69A-CE9E9773676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8AA48C-F9CB-724F-9D90-543756B60C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894297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665EB2BE-3659-936D-339A-2C2777C4B6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6F56D318-7B64-6298-CEE6-DB29F837B4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B69D64EB-8662-272F-9AAD-B38B2E89B2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442AD7-9DBC-7443-B9D6-16B4689B4FB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182984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73520E00-9298-F45E-6B98-2CB638064CE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84A3F51F-D9AB-8854-227C-31519BE157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63778748-1E44-1526-8430-033DB2A07E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4D1614-15B3-1842-873B-468818137E8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54001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43F196B4-72AE-F57D-2747-826601E6C6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7E71B0EE-A5AF-073F-175E-E27DB8C378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212F03AE-191D-4E9C-22D9-1B279DCD9E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8501DF-555D-954A-ACA9-784F7E3AAA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688091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E80F3622-740A-1BFF-CBD8-26AD062BBE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041C7691-21FC-3117-24C8-2FBE8E87AF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D890C387-A542-4458-CACA-3596137055F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D08524-154C-AE4E-8CAF-309117BBB2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012089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797A8E7-17B9-990A-5D3C-0CE40CD0F5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9AA6A3E4-9189-76B4-BFAF-BEC4322D2F5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30424A45-CD82-E202-3047-BB4C27401D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1F7BD1-ED3E-4444-808E-E5C9AD2B28D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9061308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4D0AB11-1DA0-1D31-D51F-EB2C5A0FC65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13F1DB87-95F3-EAE1-2734-374CAAFDCC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A8FB1B28-F5FA-126A-DB50-F3E51E477F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7AFAC2-2F20-444D-B59F-1E9E465C319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80027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165F6626-8849-40CF-0D7E-EE6616F811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8212637-2B59-DAFB-195A-B438EC8F286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BA51E5EF-5C73-5EB5-E14E-A15FCBF1E0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0DF330-A1D9-0347-A685-950E951882A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86065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328929DE-C6A6-6A41-DB51-670ED0794D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6EAC7AD3-F0D1-0452-EF72-34E5B2A3AD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1C2E3DED-9D6A-9DB1-23FD-FD706C894A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012826-2523-F24A-9FB9-DB5AE42B5B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6661538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150938" y="214313"/>
            <a:ext cx="7804150" cy="591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D5078037-A83A-094C-FE8B-8A97B191C1F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5D541952-DE5A-A988-DB70-7FFEAD889E5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3A60AA82-4665-AB33-617A-A45E477DAD6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B8169A-C1A4-D646-A16E-2F1F7F25489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381883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145088" y="20177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145088" y="4151313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Rectangle 11">
            <a:extLst>
              <a:ext uri="{FF2B5EF4-FFF2-40B4-BE49-F238E27FC236}">
                <a16:creationId xmlns:a16="http://schemas.microsoft.com/office/drawing/2014/main" id="{AD2BE470-A9BC-CD40-3E4D-7C2B3ACD30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2">
            <a:extLst>
              <a:ext uri="{FF2B5EF4-FFF2-40B4-BE49-F238E27FC236}">
                <a16:creationId xmlns:a16="http://schemas.microsoft.com/office/drawing/2014/main" id="{8DB3859D-DBCB-7FA3-5ADB-76C1A74525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3">
            <a:extLst>
              <a:ext uri="{FF2B5EF4-FFF2-40B4-BE49-F238E27FC236}">
                <a16:creationId xmlns:a16="http://schemas.microsoft.com/office/drawing/2014/main" id="{C49346F5-0298-2BA1-71EC-A0B34E259D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1564BD-23BB-704A-8809-471E98F3CC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273308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>
            <a:extLst>
              <a:ext uri="{FF2B5EF4-FFF2-40B4-BE49-F238E27FC236}">
                <a16:creationId xmlns:a16="http://schemas.microsoft.com/office/drawing/2014/main" id="{3B50AE58-9EE3-95AD-0D26-30C84D41D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4803343 w 1000"/>
              <a:gd name="T3" fmla="*/ 0 h 1000"/>
              <a:gd name="T4" fmla="*/ 4803343 w 1000"/>
              <a:gd name="T5" fmla="*/ 109538 h 1000"/>
              <a:gd name="T6" fmla="*/ 0 w 1000"/>
              <a:gd name="T7" fmla="*/ 109538 h 1000"/>
              <a:gd name="T8" fmla="*/ 0 w 1000"/>
              <a:gd name="T9" fmla="*/ 0 h 1000"/>
              <a:gd name="T10" fmla="*/ 7772400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 b="0" i="0" dirty="0">
              <a:ea typeface="KaiTi" panose="02010609060101010101" pitchFamily="49" charset="-122"/>
            </a:endParaRPr>
          </a:p>
        </p:txBody>
      </p:sp>
      <p:sp>
        <p:nvSpPr>
          <p:cNvPr id="952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7BA448-13DF-0E00-F9A0-B986D2ED9C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6986DA-C716-D02F-BC5C-BE63D26B63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1EAAE2B-592E-B5B0-F6A6-23AAA76014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A47E7EA-756D-7949-BE2A-C868C8D074A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53353285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A4AFA48-1E62-B094-0ADB-26951BBBBC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757CF60-9AEF-AAA0-B2CB-6BA0D4682FA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57EAA75-9669-A2F2-3D11-447EEDF647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EA2D30-056B-344D-A95D-7754F72D814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93131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BD6345F-CC04-EEB5-ED2F-B861AB3940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8976F05-0036-79DD-4BF3-2FF04EE3A9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D7F8B48-EC32-58FD-9615-89DEDD55C4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E6DBAE-8BD8-5946-924B-13E9F2083D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9669931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98C61DA-0395-AE85-01C1-E7D341AE35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3DB4412-3241-3FC9-AB84-0938DF5A7A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BCCF44-478E-D5B9-B871-F325AD7230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58826D-2178-7E41-87A7-2F0F5B8C693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41325708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20CFC1B-0BD2-F401-213E-06FE4A131D2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4D6C31-3174-F1F4-4A90-971CD9A3F5A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FCEFD6-D167-0608-CA74-1BE781EEB2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651695-AB22-C44B-BB4C-609A3A01D48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7770477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AB944DA1-8572-B773-D771-933E63F266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E67211D6-B621-BA11-633C-9A7C96EFCA8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2F5D14CA-97A3-0570-AF1D-3BAA4730F9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C9E885-5D96-0849-9A44-86C218AD56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749265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102D990C-9597-3AA9-8E89-51C54CAF11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AD79A081-E8A8-DB53-B7E8-4A2A40CB57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03EE0EE9-B28A-49A9-061D-CB7E61DB210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6E9D08-2B88-A94F-80AA-24DAAFD4C7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1045389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0669775-EFAE-CA9A-BB9B-CDEF4421A8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124DC9B7-BBCD-1332-ED14-EAF73746A3F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7FBCF00B-82E6-AFD3-F591-BE0DF6F7514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31CF7-86AE-7C4F-9B4B-EFEEA474B74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3367747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73A52A5-9AB4-5886-F5D3-05AED785B8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E3CE5D44-C34E-43E3-3450-F617DC6D23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712BAD0-E921-F24B-A48C-A41FA2B10C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9CC048-B93D-3C49-96E0-FE311D4A80E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5394894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30CBD80-214F-91FE-3ED1-9FA02FF555B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6A3FCB7-89A8-EAD0-F5A8-73E3C208F43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3E7B1247-4BFC-51A6-1E22-3182ACF71C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CB2A9A-A5FE-5243-B614-BE2CF40B66B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8649712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79ECD1E-BE2A-4C91-5A7A-C14BBA388E5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2D24BDF-B7A1-1BB2-E4D1-8DE606A78E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55866FB0-B3DD-8491-DC48-F91618211DC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01D2A2-CE5C-6F44-9ECB-1683029ECCE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77866465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>
            <a:extLst>
              <a:ext uri="{FF2B5EF4-FFF2-40B4-BE49-F238E27FC236}">
                <a16:creationId xmlns:a16="http://schemas.microsoft.com/office/drawing/2014/main" id="{78F501A3-F30A-B3E7-B998-4BB7752C9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0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52A9A4-7578-E5BF-5142-A232462EB8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0FC3109-91A8-D916-7846-8D52722C92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7FF241-8A0A-99ED-6721-D4E6E33F00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5B583A-5F77-4F48-B003-E027A1882D8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33016799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8712090-F543-6426-39EE-7539592D85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CABC6649-A3DD-4137-1A9B-201CE6BD10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64ADD99-8854-CE29-A354-0EF3C0A068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2A30DC-085A-464F-8699-AE9DDB0C605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9275240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E9EA35B-C7EE-808F-F3FC-48E27FF626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FD946A3-2D14-32E7-74EA-5669E50E95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43E3810A-DBBD-F1BC-1FA4-6407212E00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9B8470-8E3E-594B-A2D5-7791777429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9676190"/>
      </p:ext>
    </p:extLst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575345B-8B95-D7FA-824F-71C4FFC013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0C56AA8A-EF94-FAA3-3BA1-7CFF4E320C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E2336540-1911-7917-BFF9-08B40A6D2D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755BC4-23C3-594C-A659-D4BDD66251B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0756694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A1DCD0-E1F1-05F7-A2B3-F6834E6E4B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4613AD-4D6D-BE97-4ACA-3938F0D8044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B6D1E0-741D-DDAB-5B8B-922BBB5B470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148B04-1903-B34D-AA97-784B0136E7F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90680274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A1078703-FBE0-8AA4-B0F8-C3361D6B096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4158392E-F04C-0217-7AD8-8658EC27D87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3DEC5BA0-DCC5-E846-4C3B-0E9333FDA34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2BC16B-E136-9849-9E90-00DB1111FAF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5937259"/>
      </p:ext>
    </p:extLst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D4B03245-DFB8-E51A-9776-0B92C0EC40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4B22E68A-39EC-B90A-AB00-4FC9F1263E7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ABECECE2-9C51-41AC-F79E-6033850C548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58CA67-FAF8-CB44-8095-20BED074761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66863909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3DCB0243-8F94-CF29-70F5-041DC1517A6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9140012C-9D3C-BD6F-B407-73742670C2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FD1C682E-0119-A8B5-7AF2-910C55EA3C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D936ED-1032-A34A-A2B5-FC4D301A717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6178986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F34A5858-4EBD-0D79-41BD-42C9B34E36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5E15201-522C-3098-1F18-C9452270D4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84CB04F6-8C41-E7AB-1A37-10CD69185B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2D1450-A050-A447-A639-9340B5955D3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5942760"/>
      </p:ext>
    </p:extLst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3B8B6D-DA02-D14C-06DC-6E58C5C657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B6912D2-FCB6-45FC-E478-C8364BA68C4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283F5EBC-48C4-B52D-319D-20BB9BA5E10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30DAE9-0C1C-F246-9014-1CEEFEA165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5864236"/>
      </p:ext>
    </p:extLst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E545E7D-7D67-59F8-37D2-7955E3D55B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E0FD048-552A-5E63-4D94-BF52E6759B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F6EE1415-2494-6830-2387-3E68F76D9A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A8DDC1-FABF-B34F-B124-4C99149883A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7371420"/>
      </p:ext>
    </p:extLst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66738" y="1752600"/>
            <a:ext cx="8001000" cy="4267200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A46B13F-B0CF-20E9-AD6C-89C21F2B40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BDFB2C7-99AB-CC95-C38D-9FE58C89079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54BC66AF-FFC3-0B3D-732E-802266F921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A81057-0D3D-624F-8CDC-9A2EDD29BD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9383848"/>
      </p:ext>
    </p:extLst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66738" y="304800"/>
            <a:ext cx="8008937" cy="5715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ED8CA145-AA5B-9BD8-DBB3-573480F1DB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E1A4A1E-80F5-807D-3A25-D11AD2CFAA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D8AC0F2-D4CE-4FF5-CFF8-0728001062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F383CD-CA3E-3047-8EF3-A7DC2709D8C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70024745"/>
      </p:ext>
    </p:extLst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685800" y="19812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94211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371600" y="3581400"/>
            <a:ext cx="6400800" cy="1752600"/>
          </a:xfrm>
        </p:spPr>
        <p:txBody>
          <a:bodyPr/>
          <a:lstStyle>
            <a:lvl1pPr marL="0" indent="0" algn="ctr">
              <a:buFont typeface="Wingdings 2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A4B78A7-D4DD-4810-17EE-4923C9162C8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301625" y="617220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4D67E35-0322-6713-D431-39485A00647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172200"/>
            <a:ext cx="28956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6BA9FD4-89A3-A002-2A84-1ACD6A556FE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172200"/>
            <a:ext cx="2289175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9C1471-AE75-9048-905A-3FFEB6E1F5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5287796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CE23012-3CDE-4061-F512-DECAD68C9C9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273AE44-9834-A11E-22F6-58F26445BBD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CE9EA2A-7F74-E6C1-487C-6FF21A8798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1538A-E09D-F34E-99AB-BFAA2F3D347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3007046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15FC6C0-A6E9-EBE6-9B61-37001FD2674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BD1CAC-8A19-330D-7FA0-78D5C5B457A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20A0EBB-57C8-D78E-679F-AC035DD899A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6E1867-ADBE-1448-A349-B0DD409888F4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9037428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1625" y="1600200"/>
            <a:ext cx="4194175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94175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F480C8-C1E8-37C1-A93C-B417F55B71D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449B21-E810-04FB-B262-4B51CCBCE8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4A28A1-92BB-1DCC-ED9D-5FAF36188C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7A8CE7-A32A-D941-809B-4512DD05DCC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3510565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538C616-955E-B8DC-9CB3-BF91BA7FA8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3F8FA86-A709-9D08-4EF7-8197496216B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2C9BDF1-0C17-4909-8AD4-C719444197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29D4EE-F1CE-4043-A9B8-2FFFE9E5D58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6768495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AF041D6-DFD6-397E-6E00-84A92A4CE7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573E8D0-7B94-7E59-7C3D-27CB58F080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D34D3E9-B22F-AB7F-EA4C-4624E95E29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3AA485-6E12-4443-A70A-53DE825923F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6468644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43D6C43-0591-0E4A-6400-4A5BC272B6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BBBC4F1-CA34-FE24-99F8-8B0C89DDCD7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B0DE2DB-9A81-E710-F00F-B69DF13E828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9DFDF2-5398-8D45-AE7A-AA01E9E31B4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2871573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CE6415-4E3B-FFC3-19C1-1A31EBE4AF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AF10C1-055A-AF5D-E799-8F07C8B8049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D90E84-FCFD-855E-D88C-41ADBB5A845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BC33B1-3D9E-224F-AA1D-B0B04EF0CC3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0153478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4487C2-15F7-3374-0B98-6FF5F696A8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B8A536C-50C2-DAEF-2212-ED2D8C1AA6A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9CC8BC-D2E8-6400-DB0D-411C45840E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CEFABD-6199-7545-842A-37B4290C83FC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1393962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12F7368-458E-3120-13A4-ABE4E8096B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D7E69AD-57A9-12F6-DA30-06CEFDBF600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B3A3D8B-4CC6-1D42-33AD-D2429A8191C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2851F4-D0C1-644D-9803-4A17173D82BB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4159082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07188" y="228600"/>
            <a:ext cx="2135187" cy="58705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1625" y="228600"/>
            <a:ext cx="6253163" cy="58705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66F4AE3-42C4-9264-AC7A-474AF85BBA3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2C44DDA-7684-74DD-AC7B-D347314F47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3CC98EA-F921-A916-B9B3-852A8FE3E1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8A65A0-022E-7543-96CA-29CB9CE3D65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85136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61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9.xml"/><Relationship Id="rId3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8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3.xml"/><Relationship Id="rId1" Type="http://schemas.openxmlformats.org/officeDocument/2006/relationships/slideLayout" Target="../slideLayouts/slideLayout62.xml"/><Relationship Id="rId6" Type="http://schemas.openxmlformats.org/officeDocument/2006/relationships/slideLayout" Target="../slideLayouts/slideLayout67.xml"/><Relationship Id="rId11" Type="http://schemas.openxmlformats.org/officeDocument/2006/relationships/slideLayout" Target="../slideLayouts/slideLayout72.xml"/><Relationship Id="rId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71.xml"/><Relationship Id="rId4" Type="http://schemas.openxmlformats.org/officeDocument/2006/relationships/slideLayout" Target="../slideLayouts/slideLayout65.xml"/><Relationship Id="rId9" Type="http://schemas.openxmlformats.org/officeDocument/2006/relationships/slideLayout" Target="../slideLayouts/slideLayout7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8F808D9-CA7C-2842-5C9A-F2A35F67FD4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</a:endParaRP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04DC6D1-5BA0-3042-3385-C27CC3D6415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</a:endParaRP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700820B3-AA15-5A3D-211D-B49596FB083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</a:endParaRP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3B2B0EA8-9A76-7847-A74B-13064CECE90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</a:endParaRP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3938C2D3-7142-E777-B344-E6C21401F10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</a:endParaRPr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BCD46D99-62BC-753D-02B2-0A3F9D92F165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</a:endParaRPr>
          </a:p>
        </p:txBody>
      </p:sp>
      <p:sp>
        <p:nvSpPr>
          <p:cNvPr id="3080" name="Rectangle 8">
            <a:extLst>
              <a:ext uri="{FF2B5EF4-FFF2-40B4-BE49-F238E27FC236}">
                <a16:creationId xmlns:a16="http://schemas.microsoft.com/office/drawing/2014/main" id="{CD2CDCC2-6570-5EB9-DE98-DDAC6D86600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 b="0">
              <a:latin typeface="Tahoma" panose="020B0604030504040204" pitchFamily="34" charset="0"/>
            </a:endParaRPr>
          </a:p>
        </p:txBody>
      </p:sp>
      <p:sp>
        <p:nvSpPr>
          <p:cNvPr id="3081" name="Rectangle 9">
            <a:extLst>
              <a:ext uri="{FF2B5EF4-FFF2-40B4-BE49-F238E27FC236}">
                <a16:creationId xmlns:a16="http://schemas.microsoft.com/office/drawing/2014/main" id="{3369DD64-C05D-F3D3-9300-687FF3ACDD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82" name="Rectangle 10">
            <a:extLst>
              <a:ext uri="{FF2B5EF4-FFF2-40B4-BE49-F238E27FC236}">
                <a16:creationId xmlns:a16="http://schemas.microsoft.com/office/drawing/2014/main" id="{C7E5E9C1-987D-06C2-950C-A8EE82042F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2475" name="Rectangle 11">
            <a:extLst>
              <a:ext uri="{FF2B5EF4-FFF2-40B4-BE49-F238E27FC236}">
                <a16:creationId xmlns:a16="http://schemas.microsoft.com/office/drawing/2014/main" id="{12EEE47C-0AF0-2DD8-FBAD-8BC1E275C75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2476" name="Rectangle 12">
            <a:extLst>
              <a:ext uri="{FF2B5EF4-FFF2-40B4-BE49-F238E27FC236}">
                <a16:creationId xmlns:a16="http://schemas.microsoft.com/office/drawing/2014/main" id="{697F395B-6D41-4CCC-91D0-C8FAB1990D1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2477" name="Rectangle 13">
            <a:extLst>
              <a:ext uri="{FF2B5EF4-FFF2-40B4-BE49-F238E27FC236}">
                <a16:creationId xmlns:a16="http://schemas.microsoft.com/office/drawing/2014/main" id="{AB2558ED-7EFD-99F1-A019-B9D1D587F3F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latin typeface="+mn-lt"/>
              </a:defRPr>
            </a:lvl1pPr>
          </a:lstStyle>
          <a:p>
            <a:pPr>
              <a:defRPr/>
            </a:pPr>
            <a:fld id="{482C5C04-65DF-824E-8E49-D4682498C95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077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E2095A2-238E-7C94-F9D3-629DEA38D6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82A8445-434B-B99C-D5D9-12548FAD6A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24" name="AutoShape 4">
            <a:extLst>
              <a:ext uri="{FF2B5EF4-FFF2-40B4-BE49-F238E27FC236}">
                <a16:creationId xmlns:a16="http://schemas.microsoft.com/office/drawing/2014/main" id="{183598C8-AB27-EB39-37AD-899077F29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4655511 w 1000"/>
              <a:gd name="T3" fmla="*/ 0 h 1000"/>
              <a:gd name="T4" fmla="*/ 4655511 w 1000"/>
              <a:gd name="T5" fmla="*/ 109537 h 1000"/>
              <a:gd name="T6" fmla="*/ 0 w 1000"/>
              <a:gd name="T7" fmla="*/ 109537 h 1000"/>
              <a:gd name="T8" fmla="*/ 0 w 1000"/>
              <a:gd name="T9" fmla="*/ 0 h 1000"/>
              <a:gd name="T10" fmla="*/ 7958138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25" name="Line 5">
            <a:extLst>
              <a:ext uri="{FF2B5EF4-FFF2-40B4-BE49-F238E27FC236}">
                <a16:creationId xmlns:a16="http://schemas.microsoft.com/office/drawing/2014/main" id="{C191D6B9-508D-E25E-AA49-D6C2D268B3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214" name="Rectangle 6">
            <a:extLst>
              <a:ext uri="{FF2B5EF4-FFF2-40B4-BE49-F238E27FC236}">
                <a16:creationId xmlns:a16="http://schemas.microsoft.com/office/drawing/2014/main" id="{C1D78C3D-1531-996B-D796-606D96A1524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4215" name="Rectangle 7">
            <a:extLst>
              <a:ext uri="{FF2B5EF4-FFF2-40B4-BE49-F238E27FC236}">
                <a16:creationId xmlns:a16="http://schemas.microsoft.com/office/drawing/2014/main" id="{479273AD-2826-4845-26EB-F8722950BCE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4216" name="Rectangle 8">
            <a:extLst>
              <a:ext uri="{FF2B5EF4-FFF2-40B4-BE49-F238E27FC236}">
                <a16:creationId xmlns:a16="http://schemas.microsoft.com/office/drawing/2014/main" id="{DAD18ABB-184E-0C51-AC78-FA1D7502E62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latin typeface="+mn-lt"/>
              </a:defRPr>
            </a:lvl1pPr>
          </a:lstStyle>
          <a:p>
            <a:pPr>
              <a:defRPr/>
            </a:pPr>
            <a:fld id="{5AF7CB7E-41F0-0A4A-8EF2-DCB097C31F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07314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ransition spd="med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8F808D9-CA7C-2842-5C9A-F2A35F67FD4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 b="0" i="0" dirty="0">
              <a:latin typeface="Tahoma" panose="020B0604030504040204" pitchFamily="34" charset="0"/>
              <a:ea typeface="KaiTi" panose="02010609060101010101" pitchFamily="49" charset="-122"/>
            </a:endParaRP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04DC6D1-5BA0-3042-3385-C27CC3D6415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 b="0" i="0" dirty="0">
              <a:latin typeface="Tahoma" panose="020B0604030504040204" pitchFamily="34" charset="0"/>
              <a:ea typeface="KaiTi" panose="02010609060101010101" pitchFamily="49" charset="-122"/>
            </a:endParaRPr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700820B3-AA15-5A3D-211D-B49596FB083E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 b="0" i="0" dirty="0">
              <a:latin typeface="Tahoma" panose="020B0604030504040204" pitchFamily="34" charset="0"/>
              <a:ea typeface="KaiTi" panose="02010609060101010101" pitchFamily="49" charset="-122"/>
            </a:endParaRPr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3B2B0EA8-9A76-7847-A74B-13064CECE905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 b="0" i="0" dirty="0">
              <a:latin typeface="Tahoma" panose="020B0604030504040204" pitchFamily="34" charset="0"/>
              <a:ea typeface="KaiTi" panose="02010609060101010101" pitchFamily="49" charset="-122"/>
            </a:endParaRP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3938C2D3-7142-E777-B344-E6C21401F10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 b="0" i="0" dirty="0">
              <a:latin typeface="Tahoma" panose="020B0604030504040204" pitchFamily="34" charset="0"/>
              <a:ea typeface="KaiTi" panose="02010609060101010101" pitchFamily="49" charset="-122"/>
            </a:endParaRPr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BCD46D99-62BC-753D-02B2-0A3F9D92F165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 b="0" i="0" dirty="0">
              <a:latin typeface="Tahoma" panose="020B0604030504040204" pitchFamily="34" charset="0"/>
              <a:ea typeface="KaiTi" panose="02010609060101010101" pitchFamily="49" charset="-122"/>
            </a:endParaRPr>
          </a:p>
        </p:txBody>
      </p:sp>
      <p:sp>
        <p:nvSpPr>
          <p:cNvPr id="3080" name="Rectangle 8">
            <a:extLst>
              <a:ext uri="{FF2B5EF4-FFF2-40B4-BE49-F238E27FC236}">
                <a16:creationId xmlns:a16="http://schemas.microsoft.com/office/drawing/2014/main" id="{CD2CDCC2-6570-5EB9-DE98-DDAC6D866005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kumimoji="1" lang="zh-CN" altLang="zh-CN" sz="2400" b="0" i="0" dirty="0">
              <a:latin typeface="Tahoma" panose="020B0604030504040204" pitchFamily="34" charset="0"/>
              <a:ea typeface="KaiTi" panose="02010609060101010101" pitchFamily="49" charset="-122"/>
            </a:endParaRPr>
          </a:p>
        </p:txBody>
      </p:sp>
      <p:sp>
        <p:nvSpPr>
          <p:cNvPr id="3081" name="Rectangle 9">
            <a:extLst>
              <a:ext uri="{FF2B5EF4-FFF2-40B4-BE49-F238E27FC236}">
                <a16:creationId xmlns:a16="http://schemas.microsoft.com/office/drawing/2014/main" id="{3369DD64-C05D-F3D3-9300-687FF3ACDD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082" name="Rectangle 10">
            <a:extLst>
              <a:ext uri="{FF2B5EF4-FFF2-40B4-BE49-F238E27FC236}">
                <a16:creationId xmlns:a16="http://schemas.microsoft.com/office/drawing/2014/main" id="{C7E5E9C1-987D-06C2-950C-A8EE82042F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2475" name="Rectangle 11">
            <a:extLst>
              <a:ext uri="{FF2B5EF4-FFF2-40B4-BE49-F238E27FC236}">
                <a16:creationId xmlns:a16="http://schemas.microsoft.com/office/drawing/2014/main" id="{12EEE47C-0AF0-2DD8-FBAD-8BC1E275C75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 i="0">
                <a:latin typeface="+mn-lt"/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2476" name="Rectangle 12">
            <a:extLst>
              <a:ext uri="{FF2B5EF4-FFF2-40B4-BE49-F238E27FC236}">
                <a16:creationId xmlns:a16="http://schemas.microsoft.com/office/drawing/2014/main" id="{697F395B-6D41-4CCC-91D0-C8FAB1990D1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 i="0">
                <a:latin typeface="+mn-lt"/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2477" name="Rectangle 13">
            <a:extLst>
              <a:ext uri="{FF2B5EF4-FFF2-40B4-BE49-F238E27FC236}">
                <a16:creationId xmlns:a16="http://schemas.microsoft.com/office/drawing/2014/main" id="{AB2558ED-7EFD-99F1-A019-B9D1D587F3F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 b="0" i="0" smtClean="0">
                <a:latin typeface="+mn-lt"/>
                <a:ea typeface="KaiTi" panose="02010609060101010101" pitchFamily="49" charset="-122"/>
              </a:defRPr>
            </a:lvl1pPr>
          </a:lstStyle>
          <a:p>
            <a:pPr>
              <a:defRPr/>
            </a:pPr>
            <a:fld id="{482C5C04-65DF-824E-8E49-D4682498C95A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4077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0" i="0" kern="1200">
          <a:solidFill>
            <a:schemeClr val="tx2"/>
          </a:solidFill>
          <a:latin typeface="+mj-lt"/>
          <a:ea typeface="KaiTi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itchFamily="2" charset="2"/>
        <a:buChar char="n"/>
        <a:defRPr sz="32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itchFamily="2" charset="2"/>
        <a:buChar char="n"/>
        <a:defRPr sz="28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n"/>
        <a:defRPr sz="24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sz="2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AE2095A2-238E-7C94-F9D3-629DEA38D6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882A8445-434B-B99C-D5D9-12548FAD6A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124" name="AutoShape 4">
            <a:extLst>
              <a:ext uri="{FF2B5EF4-FFF2-40B4-BE49-F238E27FC236}">
                <a16:creationId xmlns:a16="http://schemas.microsoft.com/office/drawing/2014/main" id="{183598C8-AB27-EB39-37AD-899077F29C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4655511 w 1000"/>
              <a:gd name="T3" fmla="*/ 0 h 1000"/>
              <a:gd name="T4" fmla="*/ 4655511 w 1000"/>
              <a:gd name="T5" fmla="*/ 109537 h 1000"/>
              <a:gd name="T6" fmla="*/ 0 w 1000"/>
              <a:gd name="T7" fmla="*/ 109537 h 1000"/>
              <a:gd name="T8" fmla="*/ 0 w 1000"/>
              <a:gd name="T9" fmla="*/ 0 h 1000"/>
              <a:gd name="T10" fmla="*/ 7958138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 b="0" i="0" dirty="0">
              <a:ea typeface="KaiTi" panose="02010609060101010101" pitchFamily="49" charset="-122"/>
            </a:endParaRPr>
          </a:p>
        </p:txBody>
      </p:sp>
      <p:sp>
        <p:nvSpPr>
          <p:cNvPr id="5125" name="Line 5">
            <a:extLst>
              <a:ext uri="{FF2B5EF4-FFF2-40B4-BE49-F238E27FC236}">
                <a16:creationId xmlns:a16="http://schemas.microsoft.com/office/drawing/2014/main" id="{C191D6B9-508D-E25E-AA49-D6C2D268B3F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b="0" i="0" dirty="0">
              <a:ea typeface="KaiTi" panose="02010609060101010101" pitchFamily="49" charset="-122"/>
            </a:endParaRPr>
          </a:p>
        </p:txBody>
      </p:sp>
      <p:sp>
        <p:nvSpPr>
          <p:cNvPr id="94214" name="Rectangle 6">
            <a:extLst>
              <a:ext uri="{FF2B5EF4-FFF2-40B4-BE49-F238E27FC236}">
                <a16:creationId xmlns:a16="http://schemas.microsoft.com/office/drawing/2014/main" id="{C1D78C3D-1531-996B-D796-606D96A1524C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 i="0">
                <a:latin typeface="+mn-lt"/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4215" name="Rectangle 7">
            <a:extLst>
              <a:ext uri="{FF2B5EF4-FFF2-40B4-BE49-F238E27FC236}">
                <a16:creationId xmlns:a16="http://schemas.microsoft.com/office/drawing/2014/main" id="{479273AD-2826-4845-26EB-F8722950BCE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 i="0">
                <a:latin typeface="+mn-lt"/>
                <a:ea typeface="KaiTi" panose="02010609060101010101" pitchFamily="49" charset="-122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94216" name="Rectangle 8">
            <a:extLst>
              <a:ext uri="{FF2B5EF4-FFF2-40B4-BE49-F238E27FC236}">
                <a16:creationId xmlns:a16="http://schemas.microsoft.com/office/drawing/2014/main" id="{DAD18ABB-184E-0C51-AC78-FA1D7502E62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 i="0" smtClean="0">
                <a:latin typeface="+mn-lt"/>
                <a:ea typeface="KaiTi" panose="02010609060101010101" pitchFamily="49" charset="-122"/>
              </a:defRPr>
            </a:lvl1pPr>
          </a:lstStyle>
          <a:p>
            <a:pPr>
              <a:defRPr/>
            </a:pPr>
            <a:fld id="{5AF7CB7E-41F0-0A4A-8EF2-DCB097C31FF9}" type="slidenum">
              <a:rPr lang="en-US" altLang="zh-CN" smtClean="0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07314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transition spd="med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 b="0" i="0" kern="1200">
          <a:solidFill>
            <a:schemeClr val="tx2"/>
          </a:solidFill>
          <a:latin typeface="+mj-lt"/>
          <a:ea typeface="KaiTi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b="0" i="0" kern="1200">
          <a:solidFill>
            <a:schemeClr val="tx1"/>
          </a:solidFill>
          <a:latin typeface="+mn-lt"/>
          <a:ea typeface="KaiTi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E65A670-D627-B877-8269-F0AFB7A65D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EB4BA488-4055-1D07-5D4C-4B036FD78B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2113F2C3-9D71-0511-FBC7-1F442C255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52F96E64-F7AF-A136-F93C-0026A1167E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4038" name="Rectangle 6">
            <a:extLst>
              <a:ext uri="{FF2B5EF4-FFF2-40B4-BE49-F238E27FC236}">
                <a16:creationId xmlns:a16="http://schemas.microsoft.com/office/drawing/2014/main" id="{528E0799-B8DF-CE73-C986-D4CB1877088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+mn-lt"/>
                <a:ea typeface="楷体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39" name="Rectangle 7">
            <a:extLst>
              <a:ext uri="{FF2B5EF4-FFF2-40B4-BE49-F238E27FC236}">
                <a16:creationId xmlns:a16="http://schemas.microsoft.com/office/drawing/2014/main" id="{D728180C-5EF5-07A2-EB1F-867D6E82BA0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 b="0">
                <a:latin typeface="+mn-lt"/>
                <a:ea typeface="楷体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40" name="Rectangle 8">
            <a:extLst>
              <a:ext uri="{FF2B5EF4-FFF2-40B4-BE49-F238E27FC236}">
                <a16:creationId xmlns:a16="http://schemas.microsoft.com/office/drawing/2014/main" id="{48141021-9A81-039B-E206-EF91EA63E02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+mn-lt"/>
                <a:ea typeface="楷体" panose="02010609060101010101" pitchFamily="49" charset="-122"/>
              </a:defRPr>
            </a:lvl1pPr>
          </a:lstStyle>
          <a:p>
            <a:pPr>
              <a:defRPr/>
            </a:pPr>
            <a:fld id="{73795596-63B4-394A-861F-18429EFADB8E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40848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</p:sldLayoutIdLst>
  <p:transition spd="med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 kern="1200">
          <a:solidFill>
            <a:schemeClr val="tx2"/>
          </a:solidFill>
          <a:latin typeface="+mj-lt"/>
          <a:ea typeface="楷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Times New Roman" panose="02020603050405020304" pitchFamily="18" charset="0"/>
          <a:ea typeface="楷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Times New Roman" panose="02020603050405020304" pitchFamily="18" charset="0"/>
          <a:ea typeface="楷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Times New Roman" panose="02020603050405020304" pitchFamily="18" charset="0"/>
          <a:ea typeface="楷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Times New Roman" panose="02020603050405020304" pitchFamily="18" charset="0"/>
          <a:ea typeface="楷体" panose="02010609060101010101" pitchFamily="49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  <a:ea typeface="宋体" panose="02010600030101010101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30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6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o"/>
        <a:defRPr sz="23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n"/>
        <a:defRPr sz="20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楷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8B8200C4-1BB6-1605-8E85-B4DB4086157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228600"/>
            <a:ext cx="854075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C172643-03E2-047D-9B8D-49418338EECA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600200"/>
            <a:ext cx="8540750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93188" name="Rectangle 4">
            <a:extLst>
              <a:ext uri="{FF2B5EF4-FFF2-40B4-BE49-F238E27FC236}">
                <a16:creationId xmlns:a16="http://schemas.microsoft.com/office/drawing/2014/main" id="{AD99DA1D-25A8-DE93-7B69-5CBA7720FE7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3189" name="Rectangle 5">
            <a:extLst>
              <a:ext uri="{FF2B5EF4-FFF2-40B4-BE49-F238E27FC236}">
                <a16:creationId xmlns:a16="http://schemas.microsoft.com/office/drawing/2014/main" id="{7A874EE3-A7C4-1A2E-4CFD-0873DA2B337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3190" name="Rectangle 6">
            <a:extLst>
              <a:ext uri="{FF2B5EF4-FFF2-40B4-BE49-F238E27FC236}">
                <a16:creationId xmlns:a16="http://schemas.microsoft.com/office/drawing/2014/main" id="{6453E87F-019D-FDE7-BFD0-C215C92D1AB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</a:lstStyle>
          <a:p>
            <a:pPr>
              <a:defRPr/>
            </a:pPr>
            <a:fld id="{89C91DF6-E9FB-6945-BF15-C23CEC811803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426670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Times New Roman" panose="02020603050405020304" pitchFamily="18" charset="0"/>
          <a:ea typeface="楷体" panose="02010609060101010101" pitchFamily="49" charset="-122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楷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楷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楷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ea typeface="楷体" panose="020106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ingdings 2" pitchFamily="2" charset="2"/>
        <a:buChar char="¡"/>
        <a:defRPr sz="3200" kern="120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85000"/>
        <a:buFont typeface="Wingdings 2" pitchFamily="2" charset="2"/>
        <a:buChar char=""/>
        <a:defRPr sz="2800" kern="120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 2" pitchFamily="2" charset="2"/>
        <a:buChar char="¡"/>
        <a:defRPr sz="2400" kern="120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90000"/>
        <a:buFont typeface="Wingdings 2" pitchFamily="2" charset="2"/>
        <a:buChar char=""/>
        <a:defRPr sz="2000" kern="120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 2" pitchFamily="2" charset="2"/>
        <a:buChar char="¡"/>
        <a:defRPr sz="2000" kern="1200">
          <a:solidFill>
            <a:schemeClr val="tx1"/>
          </a:solidFill>
          <a:latin typeface="Times New Roman" panose="02020603050405020304" pitchFamily="18" charset="0"/>
          <a:ea typeface="楷体" panose="02010609060101010101" pitchFamily="49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6.xml"/><Relationship Id="rId1" Type="http://schemas.openxmlformats.org/officeDocument/2006/relationships/slideLayout" Target="../slideLayouts/slideLayout6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80.png"/><Relationship Id="rId5" Type="http://schemas.openxmlformats.org/officeDocument/2006/relationships/image" Target="../media/image71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15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14.png"/><Relationship Id="rId2" Type="http://schemas.openxmlformats.org/officeDocument/2006/relationships/tags" Target="../tags/tag2.xml"/><Relationship Id="rId16" Type="http://schemas.openxmlformats.org/officeDocument/2006/relationships/image" Target="../media/image13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30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16.emf"/><Relationship Id="rId7" Type="http://schemas.openxmlformats.org/officeDocument/2006/relationships/image" Target="../media/image120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17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0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50.png"/><Relationship Id="rId7" Type="http://schemas.openxmlformats.org/officeDocument/2006/relationships/image" Target="../media/image17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16.png"/><Relationship Id="rId5" Type="http://schemas.openxmlformats.org/officeDocument/2006/relationships/image" Target="../media/image17.emf"/><Relationship Id="rId4" Type="http://schemas.openxmlformats.org/officeDocument/2006/relationships/oleObject" Target="../embeddings/oleObject3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9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0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18.emf"/><Relationship Id="rId4" Type="http://schemas.openxmlformats.org/officeDocument/2006/relationships/oleObject" Target="../embeddings/oleObject4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5.xml"/><Relationship Id="rId5" Type="http://schemas.openxmlformats.org/officeDocument/2006/relationships/image" Target="../media/image20.emf"/><Relationship Id="rId4" Type="http://schemas.openxmlformats.org/officeDocument/2006/relationships/oleObject" Target="../embeddings/oleObject6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0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8.bin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37.png"/><Relationship Id="rId11" Type="http://schemas.openxmlformats.org/officeDocument/2006/relationships/image" Target="../media/image29.png"/><Relationship Id="rId5" Type="http://schemas.openxmlformats.org/officeDocument/2006/relationships/image" Target="../media/image36.png"/><Relationship Id="rId10" Type="http://schemas.openxmlformats.org/officeDocument/2006/relationships/image" Target="../media/image24.emf"/><Relationship Id="rId4" Type="http://schemas.openxmlformats.org/officeDocument/2006/relationships/image" Target="../media/image22.emf"/><Relationship Id="rId9" Type="http://schemas.openxmlformats.org/officeDocument/2006/relationships/oleObject" Target="../embeddings/oleObject9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.bin"/><Relationship Id="rId13" Type="http://schemas.openxmlformats.org/officeDocument/2006/relationships/image" Target="../media/image35.emf"/><Relationship Id="rId18" Type="http://schemas.openxmlformats.org/officeDocument/2006/relationships/image" Target="../media/image22.emf"/><Relationship Id="rId3" Type="http://schemas.openxmlformats.org/officeDocument/2006/relationships/image" Target="../media/image30.emf"/><Relationship Id="rId7" Type="http://schemas.openxmlformats.org/officeDocument/2006/relationships/image" Target="../media/image32.emf"/><Relationship Id="rId12" Type="http://schemas.openxmlformats.org/officeDocument/2006/relationships/oleObject" Target="../embeddings/oleObject15.bin"/><Relationship Id="rId17" Type="http://schemas.openxmlformats.org/officeDocument/2006/relationships/oleObject" Target="../embeddings/oleObject7.bin"/><Relationship Id="rId2" Type="http://schemas.openxmlformats.org/officeDocument/2006/relationships/oleObject" Target="../embeddings/oleObject10.bin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31.xml"/><Relationship Id="rId6" Type="http://schemas.openxmlformats.org/officeDocument/2006/relationships/oleObject" Target="../embeddings/oleObject12.bin"/><Relationship Id="rId11" Type="http://schemas.openxmlformats.org/officeDocument/2006/relationships/image" Target="../media/image34.emf"/><Relationship Id="rId5" Type="http://schemas.openxmlformats.org/officeDocument/2006/relationships/image" Target="../media/image31.emf"/><Relationship Id="rId15" Type="http://schemas.openxmlformats.org/officeDocument/2006/relationships/image" Target="../media/image36.emf"/><Relationship Id="rId10" Type="http://schemas.openxmlformats.org/officeDocument/2006/relationships/oleObject" Target="../embeddings/oleObject14.bin"/><Relationship Id="rId19" Type="http://schemas.openxmlformats.org/officeDocument/2006/relationships/image" Target="../media/image47.png"/><Relationship Id="rId4" Type="http://schemas.openxmlformats.org/officeDocument/2006/relationships/oleObject" Target="../embeddings/oleObject11.bin"/><Relationship Id="rId9" Type="http://schemas.openxmlformats.org/officeDocument/2006/relationships/image" Target="../media/image33.emf"/><Relationship Id="rId14" Type="http://schemas.openxmlformats.org/officeDocument/2006/relationships/oleObject" Target="../embeddings/oleObject16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37.emf"/><Relationship Id="rId7" Type="http://schemas.openxmlformats.org/officeDocument/2006/relationships/image" Target="../media/image34.png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50.png"/><Relationship Id="rId5" Type="http://schemas.openxmlformats.org/officeDocument/2006/relationships/image" Target="../media/image38.emf"/><Relationship Id="rId10" Type="http://schemas.openxmlformats.org/officeDocument/2006/relationships/image" Target="../media/image51.png"/><Relationship Id="rId4" Type="http://schemas.openxmlformats.org/officeDocument/2006/relationships/oleObject" Target="../embeddings/oleObject18.bin"/><Relationship Id="rId9" Type="http://schemas.openxmlformats.org/officeDocument/2006/relationships/image" Target="../media/image22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9.png"/><Relationship Id="rId7" Type="http://schemas.openxmlformats.org/officeDocument/2006/relationships/image" Target="../media/image40.e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44.xml"/><Relationship Id="rId6" Type="http://schemas.openxmlformats.org/officeDocument/2006/relationships/oleObject" Target="../embeddings/oleObject20.bin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emf"/><Relationship Id="rId13" Type="http://schemas.openxmlformats.org/officeDocument/2006/relationships/oleObject" Target="../embeddings/oleObject25.bin"/><Relationship Id="rId18" Type="http://schemas.openxmlformats.org/officeDocument/2006/relationships/image" Target="../media/image49.e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62.png"/><Relationship Id="rId17" Type="http://schemas.openxmlformats.org/officeDocument/2006/relationships/oleObject" Target="../embeddings/oleObject27.bin"/><Relationship Id="rId2" Type="http://schemas.openxmlformats.org/officeDocument/2006/relationships/image" Target="../media/image42.png"/><Relationship Id="rId16" Type="http://schemas.openxmlformats.org/officeDocument/2006/relationships/image" Target="../media/image48.emf"/><Relationship Id="rId20" Type="http://schemas.openxmlformats.org/officeDocument/2006/relationships/image" Target="../media/image50.emf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44.emf"/><Relationship Id="rId11" Type="http://schemas.openxmlformats.org/officeDocument/2006/relationships/image" Target="../media/image46.emf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6.bin"/><Relationship Id="rId10" Type="http://schemas.openxmlformats.org/officeDocument/2006/relationships/oleObject" Target="../embeddings/oleObject24.bin"/><Relationship Id="rId19" Type="http://schemas.openxmlformats.org/officeDocument/2006/relationships/oleObject" Target="../embeddings/oleObject28.bin"/><Relationship Id="rId4" Type="http://schemas.openxmlformats.org/officeDocument/2006/relationships/image" Target="../media/image43.emf"/><Relationship Id="rId9" Type="http://schemas.openxmlformats.org/officeDocument/2006/relationships/image" Target="../media/image60.png"/><Relationship Id="rId14" Type="http://schemas.openxmlformats.org/officeDocument/2006/relationships/image" Target="../media/image47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emf"/><Relationship Id="rId13" Type="http://schemas.openxmlformats.org/officeDocument/2006/relationships/oleObject" Target="../embeddings/oleObject33.bin"/><Relationship Id="rId18" Type="http://schemas.openxmlformats.org/officeDocument/2006/relationships/image" Target="../media/image57.e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72.png"/><Relationship Id="rId17" Type="http://schemas.openxmlformats.org/officeDocument/2006/relationships/oleObject" Target="../embeddings/oleObject35.bin"/><Relationship Id="rId2" Type="http://schemas.openxmlformats.org/officeDocument/2006/relationships/image" Target="../media/image42.png"/><Relationship Id="rId16" Type="http://schemas.openxmlformats.org/officeDocument/2006/relationships/image" Target="../media/image56.emf"/><Relationship Id="rId20" Type="http://schemas.openxmlformats.org/officeDocument/2006/relationships/image" Target="../media/image58.emf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52.emf"/><Relationship Id="rId11" Type="http://schemas.openxmlformats.org/officeDocument/2006/relationships/image" Target="../media/image54.emf"/><Relationship Id="rId5" Type="http://schemas.openxmlformats.org/officeDocument/2006/relationships/oleObject" Target="../embeddings/oleObject30.bin"/><Relationship Id="rId15" Type="http://schemas.openxmlformats.org/officeDocument/2006/relationships/oleObject" Target="../embeddings/oleObject34.bin"/><Relationship Id="rId10" Type="http://schemas.openxmlformats.org/officeDocument/2006/relationships/oleObject" Target="../embeddings/oleObject32.bin"/><Relationship Id="rId19" Type="http://schemas.openxmlformats.org/officeDocument/2006/relationships/oleObject" Target="../embeddings/oleObject36.bin"/><Relationship Id="rId4" Type="http://schemas.openxmlformats.org/officeDocument/2006/relationships/image" Target="../media/image51.emf"/><Relationship Id="rId9" Type="http://schemas.openxmlformats.org/officeDocument/2006/relationships/image" Target="../media/image70.png"/><Relationship Id="rId14" Type="http://schemas.openxmlformats.org/officeDocument/2006/relationships/image" Target="../media/image55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3" Type="http://schemas.openxmlformats.org/officeDocument/2006/relationships/image" Target="../media/image59.emf"/><Relationship Id="rId7" Type="http://schemas.openxmlformats.org/officeDocument/2006/relationships/oleObject" Target="../embeddings/oleObject24.bin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44.xml"/><Relationship Id="rId6" Type="http://schemas.openxmlformats.org/officeDocument/2006/relationships/image" Target="../media/image40.emf"/><Relationship Id="rId5" Type="http://schemas.openxmlformats.org/officeDocument/2006/relationships/oleObject" Target="../embeddings/oleObject38.bin"/><Relationship Id="rId10" Type="http://schemas.openxmlformats.org/officeDocument/2006/relationships/image" Target="../media/image54.emf"/><Relationship Id="rId4" Type="http://schemas.openxmlformats.org/officeDocument/2006/relationships/image" Target="../media/image78.png"/><Relationship Id="rId9" Type="http://schemas.openxmlformats.org/officeDocument/2006/relationships/oleObject" Target="../embeddings/oleObject32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5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5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5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5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slide" Target="slide6.xml"/><Relationship Id="rId1" Type="http://schemas.openxmlformats.org/officeDocument/2006/relationships/slideLayout" Target="../slideLayouts/slideLayout5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ext Box 2">
            <a:hlinkClick r:id="rId2" action="ppaction://hlinksldjump" tooltip="点击进入"/>
            <a:extLst>
              <a:ext uri="{FF2B5EF4-FFF2-40B4-BE49-F238E27FC236}">
                <a16:creationId xmlns:a16="http://schemas.microsoft.com/office/drawing/2014/main" id="{474AF414-EB45-16EF-87BE-71B4899E8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765175"/>
            <a:ext cx="6372225" cy="709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C0C0C0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多维随机变量及其分布</a:t>
            </a: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AAFB832D-3970-9863-77E8-AF60F572B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25500"/>
            <a:ext cx="2459037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C0C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第三章 </a:t>
            </a:r>
          </a:p>
        </p:txBody>
      </p:sp>
      <p:sp>
        <p:nvSpPr>
          <p:cNvPr id="32771" name="Text Box 4">
            <a:hlinkClick r:id="" action="ppaction://noaction"/>
            <a:extLst>
              <a:ext uri="{FF2B5EF4-FFF2-40B4-BE49-F238E27FC236}">
                <a16:creationId xmlns:a16="http://schemas.microsoft.com/office/drawing/2014/main" id="{E91C5AA0-7C47-A32F-77B3-02A5C7ECD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205038"/>
            <a:ext cx="69850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二维随机变量</a:t>
            </a:r>
          </a:p>
        </p:txBody>
      </p:sp>
      <p:sp>
        <p:nvSpPr>
          <p:cNvPr id="32772" name="Text Box 5">
            <a:hlinkClick r:id="" action="ppaction://noaction"/>
            <a:extLst>
              <a:ext uri="{FF2B5EF4-FFF2-40B4-BE49-F238E27FC236}">
                <a16:creationId xmlns:a16="http://schemas.microsoft.com/office/drawing/2014/main" id="{EB87E7D8-A947-23DC-C627-2914CC387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997200"/>
            <a:ext cx="518477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边缘分布</a:t>
            </a:r>
          </a:p>
        </p:txBody>
      </p:sp>
      <p:sp>
        <p:nvSpPr>
          <p:cNvPr id="32773" name="Text Box 6">
            <a:hlinkClick r:id="rId3" action="ppaction://hlinksldjump"/>
            <a:extLst>
              <a:ext uri="{FF2B5EF4-FFF2-40B4-BE49-F238E27FC236}">
                <a16:creationId xmlns:a16="http://schemas.microsoft.com/office/drawing/2014/main" id="{51C2862B-C79E-319C-4C2D-28C9E1349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5356225"/>
            <a:ext cx="7345363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两个随机变量的函数的分布</a:t>
            </a:r>
          </a:p>
        </p:txBody>
      </p:sp>
      <p:sp>
        <p:nvSpPr>
          <p:cNvPr id="7" name="Text Box 5">
            <a:hlinkClick r:id="" action="ppaction://noaction"/>
            <a:extLst>
              <a:ext uri="{FF2B5EF4-FFF2-40B4-BE49-F238E27FC236}">
                <a16:creationId xmlns:a16="http://schemas.microsoft.com/office/drawing/2014/main" id="{7453892A-2721-079D-F74A-CAB7690BE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771900"/>
            <a:ext cx="5184775" cy="593725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anose="05020102010507070707" pitchFamily="18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anose="05020102010507070707" pitchFamily="18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1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条件分布</a:t>
            </a:r>
          </a:p>
        </p:txBody>
      </p:sp>
      <p:sp>
        <p:nvSpPr>
          <p:cNvPr id="32775" name="Text Box 5">
            <a:hlinkClick r:id="" action="ppaction://noaction"/>
            <a:extLst>
              <a:ext uri="{FF2B5EF4-FFF2-40B4-BE49-F238E27FC236}">
                <a16:creationId xmlns:a16="http://schemas.microsoft.com/office/drawing/2014/main" id="{83A1E4E0-5B44-165B-8688-3AA8C4534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4564063"/>
            <a:ext cx="59055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相互独立的随机变量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椭圆 2">
            <a:extLst>
              <a:ext uri="{FF2B5EF4-FFF2-40B4-BE49-F238E27FC236}">
                <a16:creationId xmlns:a16="http://schemas.microsoft.com/office/drawing/2014/main" id="{2840EA87-6C75-FEBA-D6ED-09096690A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234" y="1077189"/>
            <a:ext cx="574675" cy="525462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dirty="0">
                <a:solidFill>
                  <a:srgbClr val="FFFF00"/>
                </a:solidFill>
              </a:rPr>
              <a:t>1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35" name="椭圆 27">
            <a:extLst>
              <a:ext uri="{FF2B5EF4-FFF2-40B4-BE49-F238E27FC236}">
                <a16:creationId xmlns:a16="http://schemas.microsoft.com/office/drawing/2014/main" id="{6CA5F3F7-1457-F299-512A-BF2FA36FD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3632" y="754926"/>
            <a:ext cx="576262" cy="525463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FFFF00"/>
                </a:solidFill>
              </a:rPr>
              <a:t>2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6" name="椭圆 28">
            <a:extLst>
              <a:ext uri="{FF2B5EF4-FFF2-40B4-BE49-F238E27FC236}">
                <a16:creationId xmlns:a16="http://schemas.microsoft.com/office/drawing/2014/main" id="{7C6D2732-264C-6F06-31DE-FA1D55184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3632" y="1507401"/>
            <a:ext cx="576262" cy="525463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FFFF00"/>
                </a:solidFill>
              </a:rPr>
              <a:t>3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7" name="椭圆 29">
            <a:extLst>
              <a:ext uri="{FF2B5EF4-FFF2-40B4-BE49-F238E27FC236}">
                <a16:creationId xmlns:a16="http://schemas.microsoft.com/office/drawing/2014/main" id="{7DD70E8D-9513-68C4-C78E-27D2D3B7B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2069" y="1074014"/>
            <a:ext cx="576262" cy="525462"/>
          </a:xfrm>
          <a:prstGeom prst="ellipse">
            <a:avLst/>
          </a:prstGeom>
          <a:solidFill>
            <a:srgbClr val="0070C0"/>
          </a:solidFill>
          <a:ln w="9525" algn="ctr">
            <a:solidFill>
              <a:srgbClr val="0070C0"/>
            </a:solidFill>
            <a:round/>
            <a:headEnd/>
            <a:tailEnd/>
          </a:ln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FFFF00"/>
                </a:solidFill>
              </a:rPr>
              <a:t>1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8" name="椭圆 30">
            <a:extLst>
              <a:ext uri="{FF2B5EF4-FFF2-40B4-BE49-F238E27FC236}">
                <a16:creationId xmlns:a16="http://schemas.microsoft.com/office/drawing/2014/main" id="{CE512482-4DBA-D089-07D8-7618851FA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733" y="754926"/>
            <a:ext cx="576263" cy="525463"/>
          </a:xfrm>
          <a:prstGeom prst="ellipse">
            <a:avLst/>
          </a:prstGeom>
          <a:solidFill>
            <a:srgbClr val="0070C0"/>
          </a:solidFill>
          <a:ln w="9525" algn="ctr">
            <a:solidFill>
              <a:srgbClr val="0070C0"/>
            </a:solidFill>
            <a:round/>
            <a:headEnd/>
            <a:tailEnd/>
          </a:ln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FFFF00"/>
                </a:solidFill>
              </a:rPr>
              <a:t>2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9" name="椭圆 31">
            <a:extLst>
              <a:ext uri="{FF2B5EF4-FFF2-40B4-BE49-F238E27FC236}">
                <a16:creationId xmlns:a16="http://schemas.microsoft.com/office/drawing/2014/main" id="{AE24819E-67BC-7120-74A6-8346B534C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733" y="1529626"/>
            <a:ext cx="576263" cy="525463"/>
          </a:xfrm>
          <a:prstGeom prst="ellipse">
            <a:avLst/>
          </a:prstGeom>
          <a:solidFill>
            <a:srgbClr val="0070C0"/>
          </a:solidFill>
          <a:ln w="9525" algn="ctr">
            <a:solidFill>
              <a:srgbClr val="0070C0"/>
            </a:solidFill>
            <a:round/>
            <a:headEnd/>
            <a:tailEnd/>
          </a:ln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dirty="0">
                <a:solidFill>
                  <a:srgbClr val="FFFF00"/>
                </a:solidFill>
              </a:rPr>
              <a:t>2</a:t>
            </a:r>
            <a:endParaRPr lang="zh-CN" altLang="en-US" dirty="0">
              <a:solidFill>
                <a:srgbClr val="FFFF00"/>
              </a:solidFill>
            </a:endParaRPr>
          </a:p>
        </p:txBody>
      </p:sp>
      <p:graphicFrame>
        <p:nvGraphicFramePr>
          <p:cNvPr id="40" name="表格 10">
            <a:extLst>
              <a:ext uri="{FF2B5EF4-FFF2-40B4-BE49-F238E27FC236}">
                <a16:creationId xmlns:a16="http://schemas.microsoft.com/office/drawing/2014/main" id="{450A1C61-CEF9-8D68-9091-81D06A6A7F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3751333"/>
              </p:ext>
            </p:extLst>
          </p:nvPr>
        </p:nvGraphicFramePr>
        <p:xfrm>
          <a:off x="479670" y="3944670"/>
          <a:ext cx="3677660" cy="2286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17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9040">
                <a:tc>
                  <a:txBody>
                    <a:bodyPr/>
                    <a:lstStyle/>
                    <a:p>
                      <a:pPr algn="ctr"/>
                      <a:endParaRPr lang="zh-CN" altLang="en-US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400" b="1" kern="12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2400" b="1" kern="12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CN" sz="2400" b="0" i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2400" b="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</a:t>
                      </a:r>
                      <a:endParaRPr lang="zh-CN" altLang="en-US" sz="2400" b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1/6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1/6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1/6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2/6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1/2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1/6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1/6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i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CN" sz="2400" b="0" baseline="-25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</a:t>
                      </a:r>
                      <a:r>
                        <a:rPr lang="en-US" altLang="zh-CN" sz="2400" b="0" i="1" baseline="-25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CN" altLang="en-US" sz="2400" b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1/2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1/2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41" name="直线连接符 12">
            <a:extLst>
              <a:ext uri="{FF2B5EF4-FFF2-40B4-BE49-F238E27FC236}">
                <a16:creationId xmlns:a16="http://schemas.microsoft.com/office/drawing/2014/main" id="{931C6071-3654-EE24-651E-D37B283886F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79670" y="3944670"/>
            <a:ext cx="801340" cy="36973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" name="文本框 14">
            <a:extLst>
              <a:ext uri="{FF2B5EF4-FFF2-40B4-BE49-F238E27FC236}">
                <a16:creationId xmlns:a16="http://schemas.microsoft.com/office/drawing/2014/main" id="{B11A895F-CFE0-3AC8-5FDF-A27881270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783" y="4089133"/>
            <a:ext cx="339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kumimoji="1" lang="zh-CN" altLang="en-US" sz="18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15">
            <a:extLst>
              <a:ext uri="{FF2B5EF4-FFF2-40B4-BE49-F238E27FC236}">
                <a16:creationId xmlns:a16="http://schemas.microsoft.com/office/drawing/2014/main" id="{366C405A-5D59-D85E-7743-BA6A3BCCCF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571" y="3944513"/>
            <a:ext cx="339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kumimoji="1" lang="zh-CN" altLang="en-US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D8EA35B9-F5FC-0F3F-6152-101C005B6D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9559" y="2418031"/>
                <a:ext cx="1320683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kumimoji="1" lang="en-US" altLang="zh-CN" sz="24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kumimoji="1" lang="zh-CN" altLang="en-US" sz="24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 数字</a:t>
                </a: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D8EA35B9-F5FC-0F3F-6152-101C005B6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89559" y="2418031"/>
                <a:ext cx="1320683" cy="461665"/>
              </a:xfrm>
              <a:prstGeom prst="rect">
                <a:avLst/>
              </a:prstGeom>
              <a:blipFill>
                <a:blip r:embed="rId3"/>
                <a:stretch>
                  <a:fillRect l="-952" t="-13514" r="-6667" b="-2702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A36AF5D6-20D9-CB11-02FE-57A2413C5F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62141" y="2418031"/>
                <a:ext cx="1307859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kumimoji="1" lang="en-US" altLang="zh-CN" sz="24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kumimoji="1" lang="zh-CN" altLang="en-US" sz="24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 颜色</a:t>
                </a:r>
                <a:endParaRPr kumimoji="1" lang="en-US" altLang="zh-CN" sz="2400" dirty="0"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A36AF5D6-20D9-CB11-02FE-57A2413C5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62141" y="2418031"/>
                <a:ext cx="1307859" cy="461665"/>
              </a:xfrm>
              <a:prstGeom prst="rect">
                <a:avLst/>
              </a:prstGeom>
              <a:blipFill>
                <a:blip r:embed="rId4"/>
                <a:stretch>
                  <a:fillRect l="-962" t="-13514" r="-5769" b="-2702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2586932-CD0D-1E46-2A6F-A55458B945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3504" y="3036162"/>
                <a:ext cx="1117101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kumimoji="1" lang="en-US" altLang="zh-CN" sz="2400" b="1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sz="2400" dirty="0"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2586932-CD0D-1E46-2A6F-A55458B94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3504" y="3036162"/>
                <a:ext cx="1117101" cy="461665"/>
              </a:xfrm>
              <a:prstGeom prst="rect">
                <a:avLst/>
              </a:prstGeom>
              <a:blipFill>
                <a:blip r:embed="rId5"/>
                <a:stretch>
                  <a:fillRect b="-1891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5938CDFA-CA79-EE5F-39C4-AC118D4492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1081566"/>
                  </p:ext>
                </p:extLst>
              </p:nvPr>
            </p:nvGraphicFramePr>
            <p:xfrm>
              <a:off x="4370393" y="3944670"/>
              <a:ext cx="4499828" cy="975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43058">
                      <a:extLst>
                        <a:ext uri="{9D8B030D-6E8A-4147-A177-3AD203B41FA5}">
                          <a16:colId xmlns:a16="http://schemas.microsoft.com/office/drawing/2014/main" val="744576631"/>
                        </a:ext>
                      </a:extLst>
                    </a:gridCol>
                    <a:gridCol w="808075">
                      <a:extLst>
                        <a:ext uri="{9D8B030D-6E8A-4147-A177-3AD203B41FA5}">
                          <a16:colId xmlns:a16="http://schemas.microsoft.com/office/drawing/2014/main" val="217006186"/>
                        </a:ext>
                      </a:extLst>
                    </a:gridCol>
                    <a:gridCol w="701951">
                      <a:extLst>
                        <a:ext uri="{9D8B030D-6E8A-4147-A177-3AD203B41FA5}">
                          <a16:colId xmlns:a16="http://schemas.microsoft.com/office/drawing/2014/main" val="1515890922"/>
                        </a:ext>
                      </a:extLst>
                    </a:gridCol>
                    <a:gridCol w="746744">
                      <a:extLst>
                        <a:ext uri="{9D8B030D-6E8A-4147-A177-3AD203B41FA5}">
                          <a16:colId xmlns:a16="http://schemas.microsoft.com/office/drawing/2014/main" val="21038398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3293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=1}</m:t>
                                </m:r>
                              </m:oMath>
                            </m:oMathPara>
                          </a14:m>
                          <a:endParaRPr lang="zh-CN" altLang="en-US" sz="23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758292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5938CDFA-CA79-EE5F-39C4-AC118D4492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1081566"/>
                  </p:ext>
                </p:extLst>
              </p:nvPr>
            </p:nvGraphicFramePr>
            <p:xfrm>
              <a:off x="4370393" y="3944670"/>
              <a:ext cx="4499828" cy="975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43058">
                      <a:extLst>
                        <a:ext uri="{9D8B030D-6E8A-4147-A177-3AD203B41FA5}">
                          <a16:colId xmlns:a16="http://schemas.microsoft.com/office/drawing/2014/main" val="744576631"/>
                        </a:ext>
                      </a:extLst>
                    </a:gridCol>
                    <a:gridCol w="808075">
                      <a:extLst>
                        <a:ext uri="{9D8B030D-6E8A-4147-A177-3AD203B41FA5}">
                          <a16:colId xmlns:a16="http://schemas.microsoft.com/office/drawing/2014/main" val="217006186"/>
                        </a:ext>
                      </a:extLst>
                    </a:gridCol>
                    <a:gridCol w="701951">
                      <a:extLst>
                        <a:ext uri="{9D8B030D-6E8A-4147-A177-3AD203B41FA5}">
                          <a16:colId xmlns:a16="http://schemas.microsoft.com/office/drawing/2014/main" val="1515890922"/>
                        </a:ext>
                      </a:extLst>
                    </a:gridCol>
                    <a:gridCol w="746744">
                      <a:extLst>
                        <a:ext uri="{9D8B030D-6E8A-4147-A177-3AD203B41FA5}">
                          <a16:colId xmlns:a16="http://schemas.microsoft.com/office/drawing/2014/main" val="210383984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65" t="-10256" r="-101130" b="-1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3293658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65" t="-110256" r="-101130" b="-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7582922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表格 5">
                <a:extLst>
                  <a:ext uri="{FF2B5EF4-FFF2-40B4-BE49-F238E27FC236}">
                    <a16:creationId xmlns:a16="http://schemas.microsoft.com/office/drawing/2014/main" id="{B73AD171-B81E-20BB-5D62-AC724A16D9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2615797"/>
                  </p:ext>
                </p:extLst>
              </p:nvPr>
            </p:nvGraphicFramePr>
            <p:xfrm>
              <a:off x="4370393" y="5255310"/>
              <a:ext cx="4499828" cy="975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43058">
                      <a:extLst>
                        <a:ext uri="{9D8B030D-6E8A-4147-A177-3AD203B41FA5}">
                          <a16:colId xmlns:a16="http://schemas.microsoft.com/office/drawing/2014/main" val="744576631"/>
                        </a:ext>
                      </a:extLst>
                    </a:gridCol>
                    <a:gridCol w="808075">
                      <a:extLst>
                        <a:ext uri="{9D8B030D-6E8A-4147-A177-3AD203B41FA5}">
                          <a16:colId xmlns:a16="http://schemas.microsoft.com/office/drawing/2014/main" val="217006186"/>
                        </a:ext>
                      </a:extLst>
                    </a:gridCol>
                    <a:gridCol w="701951">
                      <a:extLst>
                        <a:ext uri="{9D8B030D-6E8A-4147-A177-3AD203B41FA5}">
                          <a16:colId xmlns:a16="http://schemas.microsoft.com/office/drawing/2014/main" val="1515890922"/>
                        </a:ext>
                      </a:extLst>
                    </a:gridCol>
                    <a:gridCol w="746744">
                      <a:extLst>
                        <a:ext uri="{9D8B030D-6E8A-4147-A177-3AD203B41FA5}">
                          <a16:colId xmlns:a16="http://schemas.microsoft.com/office/drawing/2014/main" val="21038398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3293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=2}</m:t>
                                </m:r>
                              </m:oMath>
                            </m:oMathPara>
                          </a14:m>
                          <a:endParaRPr lang="zh-CN" altLang="en-US" sz="23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758292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表格 5">
                <a:extLst>
                  <a:ext uri="{FF2B5EF4-FFF2-40B4-BE49-F238E27FC236}">
                    <a16:creationId xmlns:a16="http://schemas.microsoft.com/office/drawing/2014/main" id="{B73AD171-B81E-20BB-5D62-AC724A16D9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32615797"/>
                  </p:ext>
                </p:extLst>
              </p:nvPr>
            </p:nvGraphicFramePr>
            <p:xfrm>
              <a:off x="4370393" y="5255310"/>
              <a:ext cx="4499828" cy="975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43058">
                      <a:extLst>
                        <a:ext uri="{9D8B030D-6E8A-4147-A177-3AD203B41FA5}">
                          <a16:colId xmlns:a16="http://schemas.microsoft.com/office/drawing/2014/main" val="744576631"/>
                        </a:ext>
                      </a:extLst>
                    </a:gridCol>
                    <a:gridCol w="808075">
                      <a:extLst>
                        <a:ext uri="{9D8B030D-6E8A-4147-A177-3AD203B41FA5}">
                          <a16:colId xmlns:a16="http://schemas.microsoft.com/office/drawing/2014/main" val="217006186"/>
                        </a:ext>
                      </a:extLst>
                    </a:gridCol>
                    <a:gridCol w="701951">
                      <a:extLst>
                        <a:ext uri="{9D8B030D-6E8A-4147-A177-3AD203B41FA5}">
                          <a16:colId xmlns:a16="http://schemas.microsoft.com/office/drawing/2014/main" val="1515890922"/>
                        </a:ext>
                      </a:extLst>
                    </a:gridCol>
                    <a:gridCol w="746744">
                      <a:extLst>
                        <a:ext uri="{9D8B030D-6E8A-4147-A177-3AD203B41FA5}">
                          <a16:colId xmlns:a16="http://schemas.microsoft.com/office/drawing/2014/main" val="210383984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565" t="-10256" r="-101130" b="-1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3293658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565" t="-110256" r="-101130" b="-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7582922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1" name="Line 96">
            <a:extLst>
              <a:ext uri="{FF2B5EF4-FFF2-40B4-BE49-F238E27FC236}">
                <a16:creationId xmlns:a16="http://schemas.microsoft.com/office/drawing/2014/main" id="{C75994E9-4C70-4A00-14A0-0FA8B630E2D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8243" y="880966"/>
            <a:ext cx="0" cy="2232025"/>
          </a:xfrm>
          <a:prstGeom prst="line">
            <a:avLst/>
          </a:prstGeom>
          <a:ln>
            <a:headEnd type="triangle" w="med" len="med"/>
            <a:tailEnd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2" name="Line 98">
            <a:extLst>
              <a:ext uri="{FF2B5EF4-FFF2-40B4-BE49-F238E27FC236}">
                <a16:creationId xmlns:a16="http://schemas.microsoft.com/office/drawing/2014/main" id="{F924244C-F3F6-AF6D-BDE3-72432D031153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9781" y="2709766"/>
            <a:ext cx="3370263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73F2265D-8FB8-6F62-7C6C-DB5DDBE72536}"/>
                  </a:ext>
                </a:extLst>
              </p:cNvPr>
              <p:cNvSpPr txBox="1"/>
              <p:nvPr/>
            </p:nvSpPr>
            <p:spPr>
              <a:xfrm>
                <a:off x="8154432" y="2673194"/>
                <a:ext cx="5229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𝑿</m:t>
                      </m:r>
                    </m:oMath>
                  </m:oMathPara>
                </a14:m>
                <a:endParaRPr kumimoji="1" lang="zh-CN" altLang="en-US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73F2265D-8FB8-6F62-7C6C-DB5DDBE72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4432" y="2673194"/>
                <a:ext cx="522900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2DCCCD9-3B04-6FB3-3397-769CB28C913E}"/>
                  </a:ext>
                </a:extLst>
              </p:cNvPr>
              <p:cNvSpPr txBox="1"/>
              <p:nvPr/>
            </p:nvSpPr>
            <p:spPr>
              <a:xfrm>
                <a:off x="4957731" y="665425"/>
                <a:ext cx="50206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𝒀</m:t>
                      </m:r>
                    </m:oMath>
                  </m:oMathPara>
                </a14:m>
                <a:endParaRPr kumimoji="1" lang="zh-CN" altLang="en-US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02DCCCD9-3B04-6FB3-3397-769CB28C91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7731" y="665425"/>
                <a:ext cx="50206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文本框 24">
            <a:extLst>
              <a:ext uri="{FF2B5EF4-FFF2-40B4-BE49-F238E27FC236}">
                <a16:creationId xmlns:a16="http://schemas.microsoft.com/office/drawing/2014/main" id="{AE319F4C-9711-26A0-B46B-2E3F2CFFD492}"/>
              </a:ext>
            </a:extLst>
          </p:cNvPr>
          <p:cNvSpPr txBox="1"/>
          <p:nvPr/>
        </p:nvSpPr>
        <p:spPr>
          <a:xfrm>
            <a:off x="5972748" y="268116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9977EECB-0420-B5C6-C644-BBCEAAA45051}"/>
              </a:ext>
            </a:extLst>
          </p:cNvPr>
          <p:cNvSpPr txBox="1"/>
          <p:nvPr/>
        </p:nvSpPr>
        <p:spPr>
          <a:xfrm>
            <a:off x="6737877" y="269546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72A89C6-81A5-4664-6A32-BC60365D87A2}"/>
              </a:ext>
            </a:extLst>
          </p:cNvPr>
          <p:cNvSpPr txBox="1"/>
          <p:nvPr/>
        </p:nvSpPr>
        <p:spPr>
          <a:xfrm>
            <a:off x="7474873" y="268116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9F17A9F-7D3F-4B5F-6662-32648D89489C}"/>
              </a:ext>
            </a:extLst>
          </p:cNvPr>
          <p:cNvSpPr txBox="1"/>
          <p:nvPr/>
        </p:nvSpPr>
        <p:spPr>
          <a:xfrm>
            <a:off x="4995680" y="192493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2BA010E-2E18-4A7E-881D-93D15904C69B}"/>
              </a:ext>
            </a:extLst>
          </p:cNvPr>
          <p:cNvSpPr txBox="1"/>
          <p:nvPr/>
        </p:nvSpPr>
        <p:spPr>
          <a:xfrm>
            <a:off x="4995680" y="1202945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椭圆 2">
            <a:extLst>
              <a:ext uri="{FF2B5EF4-FFF2-40B4-BE49-F238E27FC236}">
                <a16:creationId xmlns:a16="http://schemas.microsoft.com/office/drawing/2014/main" id="{FF0EC1CA-21B7-8077-DDB7-15985D9935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1937" y="2120228"/>
            <a:ext cx="108000" cy="108000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1" name="椭圆 27">
            <a:extLst>
              <a:ext uri="{FF2B5EF4-FFF2-40B4-BE49-F238E27FC236}">
                <a16:creationId xmlns:a16="http://schemas.microsoft.com/office/drawing/2014/main" id="{56C908F0-F6A0-7C04-D203-329A724C16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9936" y="2112969"/>
            <a:ext cx="108000" cy="108000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" name="椭圆 29">
            <a:extLst>
              <a:ext uri="{FF2B5EF4-FFF2-40B4-BE49-F238E27FC236}">
                <a16:creationId xmlns:a16="http://schemas.microsoft.com/office/drawing/2014/main" id="{7407E3D0-8775-4FAD-44B8-A44A03A85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8653" y="1436594"/>
            <a:ext cx="108000" cy="108000"/>
          </a:xfrm>
          <a:prstGeom prst="ellipse">
            <a:avLst/>
          </a:prstGeom>
          <a:solidFill>
            <a:srgbClr val="0070C0"/>
          </a:solidFill>
          <a:ln w="9525" algn="ctr">
            <a:solidFill>
              <a:srgbClr val="0070C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" name="椭圆 31">
            <a:extLst>
              <a:ext uri="{FF2B5EF4-FFF2-40B4-BE49-F238E27FC236}">
                <a16:creationId xmlns:a16="http://schemas.microsoft.com/office/drawing/2014/main" id="{6630455E-0970-13EC-1FC5-C0A68769C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1823" y="1436594"/>
            <a:ext cx="108000" cy="108000"/>
          </a:xfrm>
          <a:prstGeom prst="ellipse">
            <a:avLst/>
          </a:prstGeom>
          <a:solidFill>
            <a:srgbClr val="0070C0"/>
          </a:solidFill>
          <a:ln w="9525" algn="ctr">
            <a:solidFill>
              <a:srgbClr val="0070C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9" name="椭圆 27">
            <a:extLst>
              <a:ext uri="{FF2B5EF4-FFF2-40B4-BE49-F238E27FC236}">
                <a16:creationId xmlns:a16="http://schemas.microsoft.com/office/drawing/2014/main" id="{5CC2E6AC-544F-FCEC-2803-AA82FF955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3168" y="2119065"/>
            <a:ext cx="108000" cy="108000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224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 animBg="1"/>
      <p:bldP spid="31" grpId="0" animBg="1"/>
      <p:bldP spid="32" grpId="0" animBg="1"/>
      <p:bldP spid="33" grpId="0" animBg="1"/>
      <p:bldP spid="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椭圆 2">
            <a:extLst>
              <a:ext uri="{FF2B5EF4-FFF2-40B4-BE49-F238E27FC236}">
                <a16:creationId xmlns:a16="http://schemas.microsoft.com/office/drawing/2014/main" id="{2840EA87-6C75-FEBA-D6ED-09096690A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234" y="1077189"/>
            <a:ext cx="574675" cy="525462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dirty="0">
                <a:solidFill>
                  <a:srgbClr val="FFFF00"/>
                </a:solidFill>
              </a:rPr>
              <a:t>1</a:t>
            </a:r>
            <a:endParaRPr lang="zh-CN" altLang="en-US" dirty="0">
              <a:solidFill>
                <a:srgbClr val="FFFF00"/>
              </a:solidFill>
            </a:endParaRPr>
          </a:p>
        </p:txBody>
      </p:sp>
      <p:sp>
        <p:nvSpPr>
          <p:cNvPr id="35" name="椭圆 27">
            <a:extLst>
              <a:ext uri="{FF2B5EF4-FFF2-40B4-BE49-F238E27FC236}">
                <a16:creationId xmlns:a16="http://schemas.microsoft.com/office/drawing/2014/main" id="{6CA5F3F7-1457-F299-512A-BF2FA36FDB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3632" y="754926"/>
            <a:ext cx="576262" cy="525463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FFFF00"/>
                </a:solidFill>
              </a:rPr>
              <a:t>2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6" name="椭圆 28">
            <a:extLst>
              <a:ext uri="{FF2B5EF4-FFF2-40B4-BE49-F238E27FC236}">
                <a16:creationId xmlns:a16="http://schemas.microsoft.com/office/drawing/2014/main" id="{7C6D2732-264C-6F06-31DE-FA1D55184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3632" y="1507401"/>
            <a:ext cx="576262" cy="525463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FFFF00"/>
                </a:solidFill>
              </a:rPr>
              <a:t>3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7" name="椭圆 29">
            <a:extLst>
              <a:ext uri="{FF2B5EF4-FFF2-40B4-BE49-F238E27FC236}">
                <a16:creationId xmlns:a16="http://schemas.microsoft.com/office/drawing/2014/main" id="{7DD70E8D-9513-68C4-C78E-27D2D3B7B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2069" y="1074014"/>
            <a:ext cx="576262" cy="525462"/>
          </a:xfrm>
          <a:prstGeom prst="ellipse">
            <a:avLst/>
          </a:prstGeom>
          <a:solidFill>
            <a:srgbClr val="0070C0"/>
          </a:solidFill>
          <a:ln w="9525" algn="ctr">
            <a:solidFill>
              <a:srgbClr val="0070C0"/>
            </a:solidFill>
            <a:round/>
            <a:headEnd/>
            <a:tailEnd/>
          </a:ln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FFFF00"/>
                </a:solidFill>
              </a:rPr>
              <a:t>1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8" name="椭圆 30">
            <a:extLst>
              <a:ext uri="{FF2B5EF4-FFF2-40B4-BE49-F238E27FC236}">
                <a16:creationId xmlns:a16="http://schemas.microsoft.com/office/drawing/2014/main" id="{CE512482-4DBA-D089-07D8-7618851FA1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733" y="754926"/>
            <a:ext cx="576263" cy="525463"/>
          </a:xfrm>
          <a:prstGeom prst="ellipse">
            <a:avLst/>
          </a:prstGeom>
          <a:solidFill>
            <a:srgbClr val="0070C0"/>
          </a:solidFill>
          <a:ln w="9525" algn="ctr">
            <a:solidFill>
              <a:srgbClr val="0070C0"/>
            </a:solidFill>
            <a:round/>
            <a:headEnd/>
            <a:tailEnd/>
          </a:ln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rgbClr val="FFFF00"/>
                </a:solidFill>
              </a:rPr>
              <a:t>2</a:t>
            </a:r>
            <a:endParaRPr lang="zh-CN" altLang="en-US">
              <a:solidFill>
                <a:srgbClr val="FFFF00"/>
              </a:solidFill>
            </a:endParaRPr>
          </a:p>
        </p:txBody>
      </p:sp>
      <p:sp>
        <p:nvSpPr>
          <p:cNvPr id="39" name="椭圆 31">
            <a:extLst>
              <a:ext uri="{FF2B5EF4-FFF2-40B4-BE49-F238E27FC236}">
                <a16:creationId xmlns:a16="http://schemas.microsoft.com/office/drawing/2014/main" id="{AE24819E-67BC-7120-74A6-8346B534C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3733" y="1529626"/>
            <a:ext cx="576263" cy="525463"/>
          </a:xfrm>
          <a:prstGeom prst="ellipse">
            <a:avLst/>
          </a:prstGeom>
          <a:solidFill>
            <a:srgbClr val="0070C0"/>
          </a:solidFill>
          <a:ln w="9525" algn="ctr">
            <a:solidFill>
              <a:srgbClr val="0070C0"/>
            </a:solidFill>
            <a:round/>
            <a:headEnd/>
            <a:tailEnd/>
          </a:ln>
        </p:spPr>
        <p:txBody>
          <a:bodyPr anchor="ctr" anchorCtr="0"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dirty="0">
                <a:solidFill>
                  <a:srgbClr val="FFFF00"/>
                </a:solidFill>
              </a:rPr>
              <a:t>3</a:t>
            </a:r>
            <a:endParaRPr lang="zh-CN" altLang="en-US" dirty="0">
              <a:solidFill>
                <a:srgbClr val="FFFF00"/>
              </a:solidFill>
            </a:endParaRPr>
          </a:p>
        </p:txBody>
      </p:sp>
      <p:graphicFrame>
        <p:nvGraphicFramePr>
          <p:cNvPr id="40" name="表格 10">
            <a:extLst>
              <a:ext uri="{FF2B5EF4-FFF2-40B4-BE49-F238E27FC236}">
                <a16:creationId xmlns:a16="http://schemas.microsoft.com/office/drawing/2014/main" id="{450A1C61-CEF9-8D68-9091-81D06A6A7F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6416608"/>
              </p:ext>
            </p:extLst>
          </p:nvPr>
        </p:nvGraphicFramePr>
        <p:xfrm>
          <a:off x="479670" y="3944670"/>
          <a:ext cx="3677660" cy="2286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17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50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9040">
                <a:tc>
                  <a:txBody>
                    <a:bodyPr/>
                    <a:lstStyle/>
                    <a:p>
                      <a:pPr algn="ctr"/>
                      <a:endParaRPr lang="zh-CN" altLang="en-US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zh-CN" altLang="en-US" sz="2400" b="1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2400" b="1" kern="12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b="1" kern="12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CN" sz="2400" b="0" i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2400" b="0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</a:t>
                      </a:r>
                      <a:endParaRPr lang="zh-CN" altLang="en-US" sz="2400" b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1/6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1/6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zh-CN" altLang="en-US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1/6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1/6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zh-CN" altLang="en-US" sz="2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1/6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1/6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1/3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i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CN" sz="2400" b="0" baseline="-25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</a:t>
                      </a:r>
                      <a:r>
                        <a:rPr lang="en-US" altLang="zh-CN" sz="2400" b="0" i="1" baseline="-25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</a:t>
                      </a:r>
                      <a:endParaRPr lang="zh-CN" altLang="en-US" sz="2400" b="0" baseline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1/2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1/2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240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41" name="直线连接符 12">
            <a:extLst>
              <a:ext uri="{FF2B5EF4-FFF2-40B4-BE49-F238E27FC236}">
                <a16:creationId xmlns:a16="http://schemas.microsoft.com/office/drawing/2014/main" id="{931C6071-3654-EE24-651E-D37B283886F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79670" y="3944670"/>
            <a:ext cx="801340" cy="36973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" name="文本框 14">
            <a:extLst>
              <a:ext uri="{FF2B5EF4-FFF2-40B4-BE49-F238E27FC236}">
                <a16:creationId xmlns:a16="http://schemas.microsoft.com/office/drawing/2014/main" id="{B11A895F-CFE0-3AC8-5FDF-A27881270D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783" y="4089133"/>
            <a:ext cx="3397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8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kumimoji="1" lang="zh-CN" altLang="en-US" sz="18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15">
            <a:extLst>
              <a:ext uri="{FF2B5EF4-FFF2-40B4-BE49-F238E27FC236}">
                <a16:creationId xmlns:a16="http://schemas.microsoft.com/office/drawing/2014/main" id="{366C405A-5D59-D85E-7743-BA6A3BCCCF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3571" y="3944513"/>
            <a:ext cx="339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1" lang="en-US" altLang="zh-C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kumimoji="1" lang="zh-CN" altLang="en-US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D8EA35B9-F5FC-0F3F-6152-101C005B6DF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89559" y="2418031"/>
                <a:ext cx="1320683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kumimoji="1" lang="en-US" altLang="zh-CN" sz="24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kumimoji="1" lang="zh-CN" altLang="en-US" sz="24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 数字</a:t>
                </a:r>
              </a:p>
            </p:txBody>
          </p:sp>
        </mc:Choice>
        <mc:Fallback xmlns="">
          <p:sp>
            <p:nvSpPr>
              <p:cNvPr id="44" name="文本框 43">
                <a:extLst>
                  <a:ext uri="{FF2B5EF4-FFF2-40B4-BE49-F238E27FC236}">
                    <a16:creationId xmlns:a16="http://schemas.microsoft.com/office/drawing/2014/main" id="{D8EA35B9-F5FC-0F3F-6152-101C005B6D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89559" y="2418031"/>
                <a:ext cx="1320683" cy="461665"/>
              </a:xfrm>
              <a:prstGeom prst="rect">
                <a:avLst/>
              </a:prstGeom>
              <a:blipFill>
                <a:blip r:embed="rId2"/>
                <a:stretch>
                  <a:fillRect l="-952" t="-13514" r="-6667" b="-2702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A36AF5D6-20D9-CB11-02FE-57A2413C5F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62141" y="2418031"/>
                <a:ext cx="1307859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kumimoji="1" lang="en-US" altLang="zh-CN" sz="2400" i="1" dirty="0" smtClean="0"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kumimoji="1" lang="en-US" altLang="zh-CN" sz="24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:</a:t>
                </a:r>
                <a:r>
                  <a:rPr kumimoji="1" lang="zh-CN" altLang="en-US" sz="2400" dirty="0">
                    <a:latin typeface="KaiTi" panose="02010609060101010101" pitchFamily="49" charset="-122"/>
                    <a:ea typeface="KaiTi" panose="02010609060101010101" pitchFamily="49" charset="-122"/>
                    <a:cs typeface="Times New Roman" panose="02020603050405020304" pitchFamily="18" charset="0"/>
                  </a:rPr>
                  <a:t> 颜色</a:t>
                </a:r>
                <a:endParaRPr kumimoji="1" lang="en-US" altLang="zh-CN" sz="2400" dirty="0"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A36AF5D6-20D9-CB11-02FE-57A2413C5F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62141" y="2418031"/>
                <a:ext cx="1307859" cy="461665"/>
              </a:xfrm>
              <a:prstGeom prst="rect">
                <a:avLst/>
              </a:prstGeom>
              <a:blipFill>
                <a:blip r:embed="rId3"/>
                <a:stretch>
                  <a:fillRect l="-962" t="-13514" r="-5769" b="-2702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2586932-CD0D-1E46-2A6F-A55458B945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13504" y="3036162"/>
                <a:ext cx="1117101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𝑋</m:t>
                      </m:r>
                      <m:r>
                        <a:rPr kumimoji="1" lang="en-US" altLang="zh-CN" sz="2400" b="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,</m:t>
                      </m:r>
                      <m:r>
                        <a:rPr kumimoji="1" lang="en-US" altLang="zh-CN" sz="2400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𝑌</m:t>
                      </m:r>
                      <m:r>
                        <a:rPr kumimoji="1" lang="en-US" altLang="zh-CN" sz="2400" b="1" i="1" dirty="0" smtClean="0"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kumimoji="1" lang="en-US" altLang="zh-CN" sz="2400" dirty="0">
                  <a:latin typeface="KaiTi" panose="02010609060101010101" pitchFamily="49" charset="-122"/>
                  <a:ea typeface="KaiTi" panose="02010609060101010101" pitchFamily="49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A2586932-CD0D-1E46-2A6F-A55458B945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13504" y="3036162"/>
                <a:ext cx="1117101" cy="461665"/>
              </a:xfrm>
              <a:prstGeom prst="rect">
                <a:avLst/>
              </a:prstGeom>
              <a:blipFill>
                <a:blip r:embed="rId4"/>
                <a:stretch>
                  <a:fillRect b="-1891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5938CDFA-CA79-EE5F-39C4-AC118D44920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70393" y="3944670"/>
              <a:ext cx="4499828" cy="975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43058">
                      <a:extLst>
                        <a:ext uri="{9D8B030D-6E8A-4147-A177-3AD203B41FA5}">
                          <a16:colId xmlns:a16="http://schemas.microsoft.com/office/drawing/2014/main" val="744576631"/>
                        </a:ext>
                      </a:extLst>
                    </a:gridCol>
                    <a:gridCol w="808075">
                      <a:extLst>
                        <a:ext uri="{9D8B030D-6E8A-4147-A177-3AD203B41FA5}">
                          <a16:colId xmlns:a16="http://schemas.microsoft.com/office/drawing/2014/main" val="217006186"/>
                        </a:ext>
                      </a:extLst>
                    </a:gridCol>
                    <a:gridCol w="701951">
                      <a:extLst>
                        <a:ext uri="{9D8B030D-6E8A-4147-A177-3AD203B41FA5}">
                          <a16:colId xmlns:a16="http://schemas.microsoft.com/office/drawing/2014/main" val="1515890922"/>
                        </a:ext>
                      </a:extLst>
                    </a:gridCol>
                    <a:gridCol w="746744">
                      <a:extLst>
                        <a:ext uri="{9D8B030D-6E8A-4147-A177-3AD203B41FA5}">
                          <a16:colId xmlns:a16="http://schemas.microsoft.com/office/drawing/2014/main" val="21038398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3293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=0}</m:t>
                                </m:r>
                              </m:oMath>
                            </m:oMathPara>
                          </a14:m>
                          <a:endParaRPr lang="zh-CN" altLang="en-US" sz="23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758292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5938CDFA-CA79-EE5F-39C4-AC118D44920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370393" y="3944670"/>
              <a:ext cx="4499828" cy="975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43058">
                      <a:extLst>
                        <a:ext uri="{9D8B030D-6E8A-4147-A177-3AD203B41FA5}">
                          <a16:colId xmlns:a16="http://schemas.microsoft.com/office/drawing/2014/main" val="744576631"/>
                        </a:ext>
                      </a:extLst>
                    </a:gridCol>
                    <a:gridCol w="808075">
                      <a:extLst>
                        <a:ext uri="{9D8B030D-6E8A-4147-A177-3AD203B41FA5}">
                          <a16:colId xmlns:a16="http://schemas.microsoft.com/office/drawing/2014/main" val="217006186"/>
                        </a:ext>
                      </a:extLst>
                    </a:gridCol>
                    <a:gridCol w="701951">
                      <a:extLst>
                        <a:ext uri="{9D8B030D-6E8A-4147-A177-3AD203B41FA5}">
                          <a16:colId xmlns:a16="http://schemas.microsoft.com/office/drawing/2014/main" val="1515890922"/>
                        </a:ext>
                      </a:extLst>
                    </a:gridCol>
                    <a:gridCol w="746744">
                      <a:extLst>
                        <a:ext uri="{9D8B030D-6E8A-4147-A177-3AD203B41FA5}">
                          <a16:colId xmlns:a16="http://schemas.microsoft.com/office/drawing/2014/main" val="210383984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65" t="-10256" r="-101130" b="-1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3293658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65" t="-110256" r="-101130" b="-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7582922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表格 5">
                <a:extLst>
                  <a:ext uri="{FF2B5EF4-FFF2-40B4-BE49-F238E27FC236}">
                    <a16:creationId xmlns:a16="http://schemas.microsoft.com/office/drawing/2014/main" id="{B73AD171-B81E-20BB-5D62-AC724A16D9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7702690"/>
                  </p:ext>
                </p:extLst>
              </p:nvPr>
            </p:nvGraphicFramePr>
            <p:xfrm>
              <a:off x="4370393" y="5255310"/>
              <a:ext cx="4499828" cy="975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43058">
                      <a:extLst>
                        <a:ext uri="{9D8B030D-6E8A-4147-A177-3AD203B41FA5}">
                          <a16:colId xmlns:a16="http://schemas.microsoft.com/office/drawing/2014/main" val="744576631"/>
                        </a:ext>
                      </a:extLst>
                    </a:gridCol>
                    <a:gridCol w="808075">
                      <a:extLst>
                        <a:ext uri="{9D8B030D-6E8A-4147-A177-3AD203B41FA5}">
                          <a16:colId xmlns:a16="http://schemas.microsoft.com/office/drawing/2014/main" val="217006186"/>
                        </a:ext>
                      </a:extLst>
                    </a:gridCol>
                    <a:gridCol w="701951">
                      <a:extLst>
                        <a:ext uri="{9D8B030D-6E8A-4147-A177-3AD203B41FA5}">
                          <a16:colId xmlns:a16="http://schemas.microsoft.com/office/drawing/2014/main" val="1515890922"/>
                        </a:ext>
                      </a:extLst>
                    </a:gridCol>
                    <a:gridCol w="746744">
                      <a:extLst>
                        <a:ext uri="{9D8B030D-6E8A-4147-A177-3AD203B41FA5}">
                          <a16:colId xmlns:a16="http://schemas.microsoft.com/office/drawing/2014/main" val="21038398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40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oMath>
                            </m:oMathPara>
                          </a14:m>
                          <a:endParaRPr lang="zh-CN" altLang="en-US" sz="24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329365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{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  <m:r>
                                  <a:rPr lang="en-US" altLang="zh-CN" sz="2300" b="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=1}</m:t>
                                </m:r>
                              </m:oMath>
                            </m:oMathPara>
                          </a14:m>
                          <a:endParaRPr lang="zh-CN" altLang="en-US" sz="23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758292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表格 5">
                <a:extLst>
                  <a:ext uri="{FF2B5EF4-FFF2-40B4-BE49-F238E27FC236}">
                    <a16:creationId xmlns:a16="http://schemas.microsoft.com/office/drawing/2014/main" id="{B73AD171-B81E-20BB-5D62-AC724A16D95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7702690"/>
                  </p:ext>
                </p:extLst>
              </p:nvPr>
            </p:nvGraphicFramePr>
            <p:xfrm>
              <a:off x="4370393" y="5255310"/>
              <a:ext cx="4499828" cy="9753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43058">
                      <a:extLst>
                        <a:ext uri="{9D8B030D-6E8A-4147-A177-3AD203B41FA5}">
                          <a16:colId xmlns:a16="http://schemas.microsoft.com/office/drawing/2014/main" val="744576631"/>
                        </a:ext>
                      </a:extLst>
                    </a:gridCol>
                    <a:gridCol w="808075">
                      <a:extLst>
                        <a:ext uri="{9D8B030D-6E8A-4147-A177-3AD203B41FA5}">
                          <a16:colId xmlns:a16="http://schemas.microsoft.com/office/drawing/2014/main" val="217006186"/>
                        </a:ext>
                      </a:extLst>
                    </a:gridCol>
                    <a:gridCol w="701951">
                      <a:extLst>
                        <a:ext uri="{9D8B030D-6E8A-4147-A177-3AD203B41FA5}">
                          <a16:colId xmlns:a16="http://schemas.microsoft.com/office/drawing/2014/main" val="1515890922"/>
                        </a:ext>
                      </a:extLst>
                    </a:gridCol>
                    <a:gridCol w="746744">
                      <a:extLst>
                        <a:ext uri="{9D8B030D-6E8A-4147-A177-3AD203B41FA5}">
                          <a16:colId xmlns:a16="http://schemas.microsoft.com/office/drawing/2014/main" val="210383984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65" t="-10256" r="-101130" b="-1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CN" altLang="en-US" sz="2600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3293658"/>
                      </a:ext>
                    </a:extLst>
                  </a:tr>
                  <a:tr h="48768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565" t="-110256" r="-101130" b="-30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6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1/3</a:t>
                          </a:r>
                          <a:endParaRPr lang="zh-CN" altLang="en-US" sz="260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7582922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Line 96">
            <a:extLst>
              <a:ext uri="{FF2B5EF4-FFF2-40B4-BE49-F238E27FC236}">
                <a16:creationId xmlns:a16="http://schemas.microsoft.com/office/drawing/2014/main" id="{A8BB3E11-0756-591F-E550-07CA29034ECE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8243" y="880966"/>
            <a:ext cx="0" cy="2232025"/>
          </a:xfrm>
          <a:prstGeom prst="line">
            <a:avLst/>
          </a:prstGeom>
          <a:ln>
            <a:headEnd type="triangle" w="med" len="med"/>
            <a:tailEnd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3" name="Line 98">
            <a:extLst>
              <a:ext uri="{FF2B5EF4-FFF2-40B4-BE49-F238E27FC236}">
                <a16:creationId xmlns:a16="http://schemas.microsoft.com/office/drawing/2014/main" id="{8D010C2A-E90A-F9EE-53AA-111033FD0B8B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9781" y="2709766"/>
            <a:ext cx="3370263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B0E4F70-A72A-9AE5-79E3-EF1A75E6A226}"/>
                  </a:ext>
                </a:extLst>
              </p:cNvPr>
              <p:cNvSpPr txBox="1"/>
              <p:nvPr/>
            </p:nvSpPr>
            <p:spPr>
              <a:xfrm>
                <a:off x="8154432" y="2673194"/>
                <a:ext cx="5229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𝑿</m:t>
                      </m:r>
                    </m:oMath>
                  </m:oMathPara>
                </a14:m>
                <a:endParaRPr kumimoji="1" lang="zh-CN" altLang="en-US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6B0E4F70-A72A-9AE5-79E3-EF1A75E6A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4432" y="2673194"/>
                <a:ext cx="5229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D307C9E-AA03-6301-7127-3BCAA3057D6B}"/>
                  </a:ext>
                </a:extLst>
              </p:cNvPr>
              <p:cNvSpPr txBox="1"/>
              <p:nvPr/>
            </p:nvSpPr>
            <p:spPr>
              <a:xfrm>
                <a:off x="4957731" y="665425"/>
                <a:ext cx="50206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𝒀</m:t>
                      </m:r>
                    </m:oMath>
                  </m:oMathPara>
                </a14:m>
                <a:endParaRPr kumimoji="1" lang="zh-CN" altLang="en-US" sz="2800" b="1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D307C9E-AA03-6301-7127-3BCAA3057D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7731" y="665425"/>
                <a:ext cx="502061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278E9811-B014-1FDE-3AC2-BBEC1FD4BA8E}"/>
              </a:ext>
            </a:extLst>
          </p:cNvPr>
          <p:cNvSpPr txBox="1"/>
          <p:nvPr/>
        </p:nvSpPr>
        <p:spPr>
          <a:xfrm>
            <a:off x="5972748" y="268116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81C4782-BDC8-3653-82CA-71C87F71F885}"/>
              </a:ext>
            </a:extLst>
          </p:cNvPr>
          <p:cNvSpPr txBox="1"/>
          <p:nvPr/>
        </p:nvSpPr>
        <p:spPr>
          <a:xfrm>
            <a:off x="6737877" y="269546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0DD4524-3685-4BAD-436F-841FBD83460C}"/>
              </a:ext>
            </a:extLst>
          </p:cNvPr>
          <p:cNvSpPr txBox="1"/>
          <p:nvPr/>
        </p:nvSpPr>
        <p:spPr>
          <a:xfrm>
            <a:off x="7474873" y="2681166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kumimoji="1" lang="zh-CN" altLang="en-US" sz="2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DC9C53E-2AE4-0A37-D605-AF0C4647FCF7}"/>
              </a:ext>
            </a:extLst>
          </p:cNvPr>
          <p:cNvSpPr txBox="1"/>
          <p:nvPr/>
        </p:nvSpPr>
        <p:spPr>
          <a:xfrm>
            <a:off x="4995680" y="1924937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13861E3-C23E-6FCF-D752-10E9B4059024}"/>
              </a:ext>
            </a:extLst>
          </p:cNvPr>
          <p:cNvSpPr txBox="1"/>
          <p:nvPr/>
        </p:nvSpPr>
        <p:spPr>
          <a:xfrm>
            <a:off x="4995680" y="1202945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kumimoji="1" lang="zh-CN" altLang="en-US" sz="2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椭圆 2">
            <a:extLst>
              <a:ext uri="{FF2B5EF4-FFF2-40B4-BE49-F238E27FC236}">
                <a16:creationId xmlns:a16="http://schemas.microsoft.com/office/drawing/2014/main" id="{4F74162B-10CF-164D-305C-576278D35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1937" y="2120228"/>
            <a:ext cx="108000" cy="108000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椭圆 27">
            <a:extLst>
              <a:ext uri="{FF2B5EF4-FFF2-40B4-BE49-F238E27FC236}">
                <a16:creationId xmlns:a16="http://schemas.microsoft.com/office/drawing/2014/main" id="{6F6BC71B-08F5-A3DE-8E90-10C662033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9936" y="2112969"/>
            <a:ext cx="108000" cy="108000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椭圆 29">
            <a:extLst>
              <a:ext uri="{FF2B5EF4-FFF2-40B4-BE49-F238E27FC236}">
                <a16:creationId xmlns:a16="http://schemas.microsoft.com/office/drawing/2014/main" id="{F4AAD69A-3426-0879-D860-326A047679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8653" y="1436594"/>
            <a:ext cx="108000" cy="108000"/>
          </a:xfrm>
          <a:prstGeom prst="ellipse">
            <a:avLst/>
          </a:prstGeom>
          <a:solidFill>
            <a:srgbClr val="0070C0"/>
          </a:solidFill>
          <a:ln w="9525" algn="ctr">
            <a:solidFill>
              <a:srgbClr val="0070C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椭圆 31">
            <a:extLst>
              <a:ext uri="{FF2B5EF4-FFF2-40B4-BE49-F238E27FC236}">
                <a16:creationId xmlns:a16="http://schemas.microsoft.com/office/drawing/2014/main" id="{529B391A-34BA-96E0-09DF-94C76AF789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1823" y="1436594"/>
            <a:ext cx="108000" cy="108000"/>
          </a:xfrm>
          <a:prstGeom prst="ellipse">
            <a:avLst/>
          </a:prstGeom>
          <a:solidFill>
            <a:srgbClr val="0070C0"/>
          </a:solidFill>
          <a:ln w="9525" algn="ctr">
            <a:solidFill>
              <a:srgbClr val="0070C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" name="椭圆 27">
            <a:extLst>
              <a:ext uri="{FF2B5EF4-FFF2-40B4-BE49-F238E27FC236}">
                <a16:creationId xmlns:a16="http://schemas.microsoft.com/office/drawing/2014/main" id="{D3848C84-2031-4750-9CF4-15A8702850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3168" y="2119065"/>
            <a:ext cx="108000" cy="108000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椭圆 31">
            <a:extLst>
              <a:ext uri="{FF2B5EF4-FFF2-40B4-BE49-F238E27FC236}">
                <a16:creationId xmlns:a16="http://schemas.microsoft.com/office/drawing/2014/main" id="{900077CA-89E7-1D93-31DE-9824425D8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7247" y="1454882"/>
            <a:ext cx="108000" cy="108000"/>
          </a:xfrm>
          <a:prstGeom prst="ellipse">
            <a:avLst/>
          </a:prstGeom>
          <a:solidFill>
            <a:srgbClr val="0070C0"/>
          </a:solidFill>
          <a:ln w="9525" algn="ctr">
            <a:solidFill>
              <a:srgbClr val="0070C0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7121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2" grpId="0" animBg="1"/>
      <p:bldP spid="3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96">
            <a:extLst>
              <a:ext uri="{FF2B5EF4-FFF2-40B4-BE49-F238E27FC236}">
                <a16:creationId xmlns:a16="http://schemas.microsoft.com/office/drawing/2014/main" id="{9D9E9BEA-4FBA-31F5-A74E-9AC936C1F22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6547" y="4009402"/>
            <a:ext cx="0" cy="2232025"/>
          </a:xfrm>
          <a:prstGeom prst="line">
            <a:avLst/>
          </a:prstGeom>
          <a:ln>
            <a:headEnd type="triangle" w="med" len="med"/>
            <a:tailEnd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3" name="Line 98">
            <a:extLst>
              <a:ext uri="{FF2B5EF4-FFF2-40B4-BE49-F238E27FC236}">
                <a16:creationId xmlns:a16="http://schemas.microsoft.com/office/drawing/2014/main" id="{A0779CBB-997E-48C0-75DC-73C41B96DC2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085" y="5838202"/>
            <a:ext cx="3370263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537C4D5-BD0C-D378-6986-EB8FB90F1188}"/>
                  </a:ext>
                </a:extLst>
              </p:cNvPr>
              <p:cNvSpPr txBox="1"/>
              <p:nvPr/>
            </p:nvSpPr>
            <p:spPr>
              <a:xfrm>
                <a:off x="3382736" y="5801630"/>
                <a:ext cx="5229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𝑿</m:t>
                      </m:r>
                    </m:oMath>
                  </m:oMathPara>
                </a14:m>
                <a:endParaRPr kumimoji="1" lang="zh-CN" altLang="en-US" sz="28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9537C4D5-BD0C-D378-6986-EB8FB90F1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736" y="5801630"/>
                <a:ext cx="5229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DA9D2B6-01FF-61B0-3AE5-D16D3E1E6D27}"/>
                  </a:ext>
                </a:extLst>
              </p:cNvPr>
              <p:cNvSpPr txBox="1"/>
              <p:nvPr/>
            </p:nvSpPr>
            <p:spPr>
              <a:xfrm>
                <a:off x="186035" y="3793861"/>
                <a:ext cx="50206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𝒀</m:t>
                      </m:r>
                    </m:oMath>
                  </m:oMathPara>
                </a14:m>
                <a:endParaRPr kumimoji="1" lang="zh-CN" altLang="en-US" sz="28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5DA9D2B6-01FF-61B0-3AE5-D16D3E1E6D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35" y="3793861"/>
                <a:ext cx="50206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椭圆 2">
            <a:extLst>
              <a:ext uri="{FF2B5EF4-FFF2-40B4-BE49-F238E27FC236}">
                <a16:creationId xmlns:a16="http://schemas.microsoft.com/office/drawing/2014/main" id="{423DF002-5AA4-2360-F34E-7D145C224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0241" y="5248664"/>
            <a:ext cx="108000" cy="10800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椭圆 27">
            <a:extLst>
              <a:ext uri="{FF2B5EF4-FFF2-40B4-BE49-F238E27FC236}">
                <a16:creationId xmlns:a16="http://schemas.microsoft.com/office/drawing/2014/main" id="{4385DE6E-B7CA-F869-5609-7D808AD84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8240" y="5241405"/>
            <a:ext cx="108000" cy="10800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椭圆 29">
            <a:extLst>
              <a:ext uri="{FF2B5EF4-FFF2-40B4-BE49-F238E27FC236}">
                <a16:creationId xmlns:a16="http://schemas.microsoft.com/office/drawing/2014/main" id="{F797034D-E488-B75E-6085-A05AEC53D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6957" y="4565030"/>
            <a:ext cx="108000" cy="10800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椭圆 31">
            <a:extLst>
              <a:ext uri="{FF2B5EF4-FFF2-40B4-BE49-F238E27FC236}">
                <a16:creationId xmlns:a16="http://schemas.microsoft.com/office/drawing/2014/main" id="{E049EDD5-7491-AD7F-03A6-D5EE7F7F90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0127" y="4565030"/>
            <a:ext cx="108000" cy="10800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5" name="椭圆 27">
            <a:extLst>
              <a:ext uri="{FF2B5EF4-FFF2-40B4-BE49-F238E27FC236}">
                <a16:creationId xmlns:a16="http://schemas.microsoft.com/office/drawing/2014/main" id="{35CC98AC-6A04-E738-F927-D3788B90F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1472" y="5247501"/>
            <a:ext cx="108000" cy="10800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6" name="椭圆 31">
            <a:extLst>
              <a:ext uri="{FF2B5EF4-FFF2-40B4-BE49-F238E27FC236}">
                <a16:creationId xmlns:a16="http://schemas.microsoft.com/office/drawing/2014/main" id="{EEF0B85B-473E-4F5D-F99B-55642174A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5551" y="4583318"/>
            <a:ext cx="108000" cy="10800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7" name="Line 96">
            <a:extLst>
              <a:ext uri="{FF2B5EF4-FFF2-40B4-BE49-F238E27FC236}">
                <a16:creationId xmlns:a16="http://schemas.microsoft.com/office/drawing/2014/main" id="{4C56C3A6-6DD8-3435-B93D-EA8F08BEF88F}"/>
              </a:ext>
            </a:extLst>
          </p:cNvPr>
          <p:cNvSpPr>
            <a:spLocks noChangeShapeType="1"/>
          </p:cNvSpPr>
          <p:nvPr/>
        </p:nvSpPr>
        <p:spPr bwMode="auto">
          <a:xfrm>
            <a:off x="726547" y="846321"/>
            <a:ext cx="0" cy="2232025"/>
          </a:xfrm>
          <a:prstGeom prst="line">
            <a:avLst/>
          </a:prstGeom>
          <a:ln>
            <a:headEnd type="triangle" w="med" len="med"/>
            <a:tailEnd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18" name="Line 98">
            <a:extLst>
              <a:ext uri="{FF2B5EF4-FFF2-40B4-BE49-F238E27FC236}">
                <a16:creationId xmlns:a16="http://schemas.microsoft.com/office/drawing/2014/main" id="{A598F0DD-3BD6-4D78-7EBB-429B652D66F9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085" y="2675121"/>
            <a:ext cx="3370263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B2A227D4-0E74-4FA6-039E-F26E76DF00B4}"/>
                  </a:ext>
                </a:extLst>
              </p:cNvPr>
              <p:cNvSpPr txBox="1"/>
              <p:nvPr/>
            </p:nvSpPr>
            <p:spPr>
              <a:xfrm>
                <a:off x="3382736" y="2638549"/>
                <a:ext cx="5229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𝑿</m:t>
                      </m:r>
                    </m:oMath>
                  </m:oMathPara>
                </a14:m>
                <a:endParaRPr kumimoji="1" lang="zh-CN" altLang="en-US" sz="28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B2A227D4-0E74-4FA6-039E-F26E76DF0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2736" y="2638549"/>
                <a:ext cx="52290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41DFFB6-EDDE-E824-8A74-D66FE8BFB5EA}"/>
                  </a:ext>
                </a:extLst>
              </p:cNvPr>
              <p:cNvSpPr txBox="1"/>
              <p:nvPr/>
            </p:nvSpPr>
            <p:spPr>
              <a:xfrm>
                <a:off x="186035" y="630780"/>
                <a:ext cx="50206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𝒀</m:t>
                      </m:r>
                    </m:oMath>
                  </m:oMathPara>
                </a14:m>
                <a:endParaRPr kumimoji="1" lang="zh-CN" altLang="en-US" sz="28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941DFFB6-EDDE-E824-8A74-D66FE8BFB5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35" y="630780"/>
                <a:ext cx="50206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椭圆 2">
            <a:extLst>
              <a:ext uri="{FF2B5EF4-FFF2-40B4-BE49-F238E27FC236}">
                <a16:creationId xmlns:a16="http://schemas.microsoft.com/office/drawing/2014/main" id="{3977DAB4-5652-ECC6-F9CF-755D5F388D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0241" y="2085583"/>
            <a:ext cx="108000" cy="10800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7" name="椭圆 27">
            <a:extLst>
              <a:ext uri="{FF2B5EF4-FFF2-40B4-BE49-F238E27FC236}">
                <a16:creationId xmlns:a16="http://schemas.microsoft.com/office/drawing/2014/main" id="{85EBC1A0-3954-0B42-F308-E66633193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8240" y="2078324"/>
            <a:ext cx="108000" cy="10800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" name="椭圆 29">
            <a:extLst>
              <a:ext uri="{FF2B5EF4-FFF2-40B4-BE49-F238E27FC236}">
                <a16:creationId xmlns:a16="http://schemas.microsoft.com/office/drawing/2014/main" id="{E74FD0F8-5B51-3C65-6E14-E0AFC7C71F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6957" y="1401949"/>
            <a:ext cx="108000" cy="10800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9" name="椭圆 31">
            <a:extLst>
              <a:ext uri="{FF2B5EF4-FFF2-40B4-BE49-F238E27FC236}">
                <a16:creationId xmlns:a16="http://schemas.microsoft.com/office/drawing/2014/main" id="{264BA4E1-E5D5-7965-B865-C6FBD3FCC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0127" y="1401949"/>
            <a:ext cx="108000" cy="10800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0" name="椭圆 27">
            <a:extLst>
              <a:ext uri="{FF2B5EF4-FFF2-40B4-BE49-F238E27FC236}">
                <a16:creationId xmlns:a16="http://schemas.microsoft.com/office/drawing/2014/main" id="{CEFD1215-F401-BBEF-3A7B-2584276B6D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1472" y="2084420"/>
            <a:ext cx="108000" cy="10800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2" name="Line 96">
            <a:extLst>
              <a:ext uri="{FF2B5EF4-FFF2-40B4-BE49-F238E27FC236}">
                <a16:creationId xmlns:a16="http://schemas.microsoft.com/office/drawing/2014/main" id="{AF6A1304-DBEA-2C9E-CD99-C0D75D5C724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3066" y="4019365"/>
            <a:ext cx="0" cy="2232025"/>
          </a:xfrm>
          <a:prstGeom prst="line">
            <a:avLst/>
          </a:prstGeom>
          <a:ln>
            <a:headEnd type="triangle" w="med" len="med"/>
            <a:tailEnd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33" name="Line 98">
            <a:extLst>
              <a:ext uri="{FF2B5EF4-FFF2-40B4-BE49-F238E27FC236}">
                <a16:creationId xmlns:a16="http://schemas.microsoft.com/office/drawing/2014/main" id="{05571FD5-8D10-58C1-EBD3-CC3868E747A7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4604" y="5848165"/>
            <a:ext cx="3370263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44365BD9-D591-120A-50D7-26B7CFA9CA07}"/>
                  </a:ext>
                </a:extLst>
              </p:cNvPr>
              <p:cNvSpPr txBox="1"/>
              <p:nvPr/>
            </p:nvSpPr>
            <p:spPr>
              <a:xfrm>
                <a:off x="8149255" y="5811593"/>
                <a:ext cx="5229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𝑿</m:t>
                      </m:r>
                    </m:oMath>
                  </m:oMathPara>
                </a14:m>
                <a:endParaRPr kumimoji="1" lang="zh-CN" altLang="en-US" sz="28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44365BD9-D591-120A-50D7-26B7CFA9CA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9255" y="5811593"/>
                <a:ext cx="52290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38C37430-CA29-0139-3875-7CA506E0248B}"/>
                  </a:ext>
                </a:extLst>
              </p:cNvPr>
              <p:cNvSpPr txBox="1"/>
              <p:nvPr/>
            </p:nvSpPr>
            <p:spPr>
              <a:xfrm>
                <a:off x="4952554" y="3803824"/>
                <a:ext cx="50206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𝒀</m:t>
                      </m:r>
                    </m:oMath>
                  </m:oMathPara>
                </a14:m>
                <a:endParaRPr kumimoji="1" lang="zh-CN" altLang="en-US" sz="28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38C37430-CA29-0139-3875-7CA506E02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2554" y="3803824"/>
                <a:ext cx="50206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Line 96">
            <a:extLst>
              <a:ext uri="{FF2B5EF4-FFF2-40B4-BE49-F238E27FC236}">
                <a16:creationId xmlns:a16="http://schemas.microsoft.com/office/drawing/2014/main" id="{851A37AB-2BF4-BE9C-51FF-BEC3064EBFE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0448" y="855471"/>
            <a:ext cx="0" cy="2232025"/>
          </a:xfrm>
          <a:prstGeom prst="line">
            <a:avLst/>
          </a:prstGeom>
          <a:ln>
            <a:headEnd type="triangle" w="med" len="med"/>
            <a:tailEnd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47" name="Line 98">
            <a:extLst>
              <a:ext uri="{FF2B5EF4-FFF2-40B4-BE49-F238E27FC236}">
                <a16:creationId xmlns:a16="http://schemas.microsoft.com/office/drawing/2014/main" id="{E5EB6D5F-A327-9472-C7FD-C49E5A4CDF2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1986" y="2684271"/>
            <a:ext cx="3370263" cy="0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99747AB2-F187-A4D1-9BFE-DD11C561A327}"/>
                  </a:ext>
                </a:extLst>
              </p:cNvPr>
              <p:cNvSpPr txBox="1"/>
              <p:nvPr/>
            </p:nvSpPr>
            <p:spPr>
              <a:xfrm>
                <a:off x="8096637" y="2647699"/>
                <a:ext cx="522900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𝑿</m:t>
                      </m:r>
                    </m:oMath>
                  </m:oMathPara>
                </a14:m>
                <a:endParaRPr kumimoji="1" lang="zh-CN" altLang="en-US" sz="28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99747AB2-F187-A4D1-9BFE-DD11C561A3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6637" y="2647699"/>
                <a:ext cx="522900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B73337D2-8E0E-06A4-6810-DDE6000DF60A}"/>
                  </a:ext>
                </a:extLst>
              </p:cNvPr>
              <p:cNvSpPr txBox="1"/>
              <p:nvPr/>
            </p:nvSpPr>
            <p:spPr>
              <a:xfrm>
                <a:off x="4899936" y="639930"/>
                <a:ext cx="502061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defTabSz="91440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2800" b="1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𝒀</m:t>
                      </m:r>
                    </m:oMath>
                  </m:oMathPara>
                </a14:m>
                <a:endParaRPr kumimoji="1" lang="zh-CN" altLang="en-US" sz="2800" b="1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B73337D2-8E0E-06A4-6810-DDE6000DF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9936" y="639930"/>
                <a:ext cx="50206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椭圆 2">
            <a:extLst>
              <a:ext uri="{FF2B5EF4-FFF2-40B4-BE49-F238E27FC236}">
                <a16:creationId xmlns:a16="http://schemas.microsoft.com/office/drawing/2014/main" id="{EC364CD9-4040-66E0-8452-BFD159E53D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4142" y="2094733"/>
            <a:ext cx="108000" cy="10800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6" name="椭圆 27">
            <a:extLst>
              <a:ext uri="{FF2B5EF4-FFF2-40B4-BE49-F238E27FC236}">
                <a16:creationId xmlns:a16="http://schemas.microsoft.com/office/drawing/2014/main" id="{5E294507-C3CD-9CB0-BCF2-8EA2688FE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2554" y="995170"/>
            <a:ext cx="108000" cy="10800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7" name="椭圆 29">
            <a:extLst>
              <a:ext uri="{FF2B5EF4-FFF2-40B4-BE49-F238E27FC236}">
                <a16:creationId xmlns:a16="http://schemas.microsoft.com/office/drawing/2014/main" id="{6DDB232A-9037-5E82-9BEF-1D585D719A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8181" y="1700670"/>
            <a:ext cx="108000" cy="10800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8" name="椭圆 31">
            <a:extLst>
              <a:ext uri="{FF2B5EF4-FFF2-40B4-BE49-F238E27FC236}">
                <a16:creationId xmlns:a16="http://schemas.microsoft.com/office/drawing/2014/main" id="{FABC70A5-C585-6100-6D61-15BB73E12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6141" y="1350175"/>
            <a:ext cx="108000" cy="10800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9" name="椭圆 27">
            <a:extLst>
              <a:ext uri="{FF2B5EF4-FFF2-40B4-BE49-F238E27FC236}">
                <a16:creationId xmlns:a16="http://schemas.microsoft.com/office/drawing/2014/main" id="{F373B006-9753-4F1D-EB76-53D478E29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8355" y="2503245"/>
            <a:ext cx="108000" cy="10800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0" name="椭圆 31">
            <a:extLst>
              <a:ext uri="{FF2B5EF4-FFF2-40B4-BE49-F238E27FC236}">
                <a16:creationId xmlns:a16="http://schemas.microsoft.com/office/drawing/2014/main" id="{324DB420-A416-81A2-0E36-3B427706A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209" y="622656"/>
            <a:ext cx="108000" cy="108000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67" name="组合 66">
            <a:extLst>
              <a:ext uri="{FF2B5EF4-FFF2-40B4-BE49-F238E27FC236}">
                <a16:creationId xmlns:a16="http://schemas.microsoft.com/office/drawing/2014/main" id="{022BC1DA-481D-46A7-55F5-56D5CF4C848B}"/>
              </a:ext>
            </a:extLst>
          </p:cNvPr>
          <p:cNvGrpSpPr/>
          <p:nvPr/>
        </p:nvGrpSpPr>
        <p:grpSpPr>
          <a:xfrm rot="5400000">
            <a:off x="5587487" y="3678736"/>
            <a:ext cx="2054854" cy="1988589"/>
            <a:chOff x="5760755" y="775056"/>
            <a:chExt cx="2054854" cy="1988589"/>
          </a:xfrm>
        </p:grpSpPr>
        <p:sp>
          <p:nvSpPr>
            <p:cNvPr id="61" name="椭圆 2">
              <a:extLst>
                <a:ext uri="{FF2B5EF4-FFF2-40B4-BE49-F238E27FC236}">
                  <a16:creationId xmlns:a16="http://schemas.microsoft.com/office/drawing/2014/main" id="{ADC59D33-0F2C-24A9-B571-CC2C4D9FB2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6542" y="2247133"/>
              <a:ext cx="108000" cy="1080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2" name="椭圆 27">
              <a:extLst>
                <a:ext uri="{FF2B5EF4-FFF2-40B4-BE49-F238E27FC236}">
                  <a16:creationId xmlns:a16="http://schemas.microsoft.com/office/drawing/2014/main" id="{04156345-FC72-C7BD-3617-7DB10B5921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64954" y="1147570"/>
              <a:ext cx="108000" cy="1080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3" name="椭圆 29">
              <a:extLst>
                <a:ext uri="{FF2B5EF4-FFF2-40B4-BE49-F238E27FC236}">
                  <a16:creationId xmlns:a16="http://schemas.microsoft.com/office/drawing/2014/main" id="{E40761B6-6101-E710-365A-2CD0CBD55C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20581" y="1853070"/>
              <a:ext cx="108000" cy="1080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4" name="椭圆 31">
              <a:extLst>
                <a:ext uri="{FF2B5EF4-FFF2-40B4-BE49-F238E27FC236}">
                  <a16:creationId xmlns:a16="http://schemas.microsoft.com/office/drawing/2014/main" id="{D29C95F7-0F1D-BB24-D7E0-19C102612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8541" y="1502575"/>
              <a:ext cx="108000" cy="1080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5" name="椭圆 27">
              <a:extLst>
                <a:ext uri="{FF2B5EF4-FFF2-40B4-BE49-F238E27FC236}">
                  <a16:creationId xmlns:a16="http://schemas.microsoft.com/office/drawing/2014/main" id="{4C0D8873-2BC8-9AB2-C0B7-4731CB7A4F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0755" y="2655645"/>
              <a:ext cx="108000" cy="1080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6" name="椭圆 31">
              <a:extLst>
                <a:ext uri="{FF2B5EF4-FFF2-40B4-BE49-F238E27FC236}">
                  <a16:creationId xmlns:a16="http://schemas.microsoft.com/office/drawing/2014/main" id="{64CB55D9-AB71-5E53-E61B-4D47A73C65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07609" y="775056"/>
              <a:ext cx="108000" cy="108000"/>
            </a:xfrm>
            <a:prstGeom prst="ellipse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07579EB2-737C-8967-1167-9AC20EFC9F8F}"/>
              </a:ext>
            </a:extLst>
          </p:cNvPr>
          <p:cNvSpPr txBox="1"/>
          <p:nvPr/>
        </p:nvSpPr>
        <p:spPr>
          <a:xfrm>
            <a:off x="3108960" y="846321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5E2B7F99-E575-BECF-1030-B6A9E6F36BA9}"/>
              </a:ext>
            </a:extLst>
          </p:cNvPr>
          <p:cNvSpPr txBox="1"/>
          <p:nvPr/>
        </p:nvSpPr>
        <p:spPr>
          <a:xfrm>
            <a:off x="7981425" y="846321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FDCC34D-4427-77C9-36F1-BDD6273BFD5A}"/>
              </a:ext>
            </a:extLst>
          </p:cNvPr>
          <p:cNvSpPr txBox="1"/>
          <p:nvPr/>
        </p:nvSpPr>
        <p:spPr>
          <a:xfrm>
            <a:off x="3154796" y="3975509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3BD13D3C-5594-8FAD-177D-32705485D5D7}"/>
              </a:ext>
            </a:extLst>
          </p:cNvPr>
          <p:cNvSpPr txBox="1"/>
          <p:nvPr/>
        </p:nvSpPr>
        <p:spPr>
          <a:xfrm>
            <a:off x="7981425" y="3856327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</a:t>
            </a:r>
            <a:endParaRPr kumimoji="1"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28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/>
      <p:bldP spid="20" grpId="0"/>
      <p:bldP spid="26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3" grpId="0" animBg="1"/>
      <p:bldP spid="34" grpId="0"/>
      <p:bldP spid="35" grpId="0"/>
      <p:bldP spid="31" grpId="0" animBg="1"/>
      <p:bldP spid="47" grpId="0" animBg="1"/>
      <p:bldP spid="48" grpId="0"/>
      <p:bldP spid="49" grpId="0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>
            <a:extLst>
              <a:ext uri="{FF2B5EF4-FFF2-40B4-BE49-F238E27FC236}">
                <a16:creationId xmlns:a16="http://schemas.microsoft.com/office/drawing/2014/main" id="{66B77F26-5025-4A8E-C693-C05B9FD0A7B4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4" name="TitleBackground">
              <a:extLst>
                <a:ext uri="{FF2B5EF4-FFF2-40B4-BE49-F238E27FC236}">
                  <a16:creationId xmlns:a16="http://schemas.microsoft.com/office/drawing/2014/main" id="{EC8AB7CD-E7FE-149A-C058-4C63A85BD2EC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5" name="ColorBlock">
              <a:extLst>
                <a:ext uri="{FF2B5EF4-FFF2-40B4-BE49-F238E27FC236}">
                  <a16:creationId xmlns:a16="http://schemas.microsoft.com/office/drawing/2014/main" id="{4FCF48DB-BD62-86B3-6CE0-F735E6FA5E1E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zh-CN" altLang="en-US" sz="2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6" name="TypeText">
              <a:extLst>
                <a:ext uri="{FF2B5EF4-FFF2-40B4-BE49-F238E27FC236}">
                  <a16:creationId xmlns:a16="http://schemas.microsoft.com/office/drawing/2014/main" id="{824B3426-7436-C9C4-D314-3C1AF07FEC98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</a:p>
          </p:txBody>
        </p:sp>
        <p:sp>
          <p:nvSpPr>
            <p:cNvPr id="7" name="TipText">
              <a:extLst>
                <a:ext uri="{FF2B5EF4-FFF2-40B4-BE49-F238E27FC236}">
                  <a16:creationId xmlns:a16="http://schemas.microsoft.com/office/drawing/2014/main" id="{93EADFC2-9254-2F6B-E10C-B95AA977F5D6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kumimoji="1"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kumimoji="1"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D9481D3-47B8-2E98-6841-BF1585377A25}"/>
                  </a:ext>
                </a:extLst>
              </p:cNvPr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kumimoji="1"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在哪些图中，</a:t>
                </a:r>
                <a14:m>
                  <m:oMath xmlns:m="http://schemas.openxmlformats.org/officeDocument/2006/math">
                    <m:r>
                      <a:rPr kumimoji="1" lang="en-US" altLang="zh-CN" sz="2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𝑋</m:t>
                    </m:r>
                  </m:oMath>
                </a14:m>
                <a:r>
                  <a:rPr kumimoji="1"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和</a:t>
                </a:r>
                <a14:m>
                  <m:oMath xmlns:m="http://schemas.openxmlformats.org/officeDocument/2006/math">
                    <m:r>
                      <a:rPr kumimoji="1" lang="en-US" altLang="zh-CN" sz="26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Microsoft Yahei" panose="020B0503020204020204" pitchFamily="34" charset="-122"/>
                        <a:sym typeface="Microsoft Yahei" panose="020B0503020204020204" pitchFamily="34" charset="-122"/>
                      </a:rPr>
                      <m:t>𝑌</m:t>
                    </m:r>
                  </m:oMath>
                </a14:m>
                <a:r>
                  <a:rPr kumimoji="1" lang="zh-CN" altLang="en-US" sz="2600" dirty="0">
                    <a:solidFill>
                      <a:srgbClr val="000000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  <a:sym typeface="Microsoft Yahei" panose="020B0503020204020204" pitchFamily="34" charset="-122"/>
                  </a:rPr>
                  <a:t>是相互独立的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3D9481D3-47B8-2E98-6841-BF1585377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5"/>
                </p:custDataLst>
              </p:nvPr>
            </p:nvSpPr>
            <p:spPr>
              <a:xfrm>
                <a:off x="914400" y="635000"/>
                <a:ext cx="7315200" cy="2143125"/>
              </a:xfrm>
              <a:prstGeom prst="rect">
                <a:avLst/>
              </a:prstGeom>
              <a:blipFill>
                <a:blip r:embed="rId16"/>
                <a:stretch>
                  <a:fillRect l="-15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>
            <a:extLst>
              <a:ext uri="{FF2B5EF4-FFF2-40B4-BE49-F238E27FC236}">
                <a16:creationId xmlns:a16="http://schemas.microsoft.com/office/drawing/2014/main" id="{27B05DFA-E763-F987-F753-D79625A07A84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 bwMode="auto">
          <a:xfrm>
            <a:off x="1114425" y="2850356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CF1448E-24F8-3B84-788B-2219A709D064}"/>
              </a:ext>
            </a:extLst>
          </p:cNvPr>
          <p:cNvSpPr>
            <a:spLocks noChangeAspect="1"/>
          </p:cNvSpPr>
          <p:nvPr>
            <p:custDataLst>
              <p:tags r:id="rId5"/>
            </p:custDataLst>
          </p:nvPr>
        </p:nvSpPr>
        <p:spPr bwMode="auto">
          <a:xfrm>
            <a:off x="1114425" y="3707606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B0C09AA-CE85-3B64-C980-2616855180D8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 bwMode="auto">
          <a:xfrm>
            <a:off x="1114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56E61D3-DD43-441E-E951-AB06AE80E903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5422106"/>
            <a:ext cx="514350" cy="514350"/>
          </a:xfrm>
          <a:prstGeom prst="rect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0" lang="zh-CN" altLang="en-US" sz="16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DDC6AD55-FDAB-F937-2A3B-BD04205A7BF1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en-US" sz="1600" b="1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7DCC8071-6B3B-6293-0ED3-45863A19055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011680" y="2300677"/>
            <a:ext cx="5429250" cy="384255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A58A7A0-B9E2-BEDE-C9B1-DBA01A4BCA4C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54588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2000D159-EAE2-C1CB-0B8F-EE7A5F10AD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67632" y="242888"/>
            <a:ext cx="6408737" cy="593725"/>
          </a:xfrm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FF0000"/>
                </a:solidFill>
                <a:ea typeface="华文新魏" panose="02010800040101010101" pitchFamily="2" charset="-122"/>
              </a:rPr>
              <a:t>随机变量的相互独立性</a:t>
            </a:r>
            <a:endParaRPr lang="zh-CN" altLang="en-US" sz="4000" dirty="0">
              <a:solidFill>
                <a:srgbClr val="FF0000"/>
              </a:solidFill>
              <a:ea typeface="华文新魏" panose="02010800040101010101" pitchFamily="2" charset="-122"/>
            </a:endParaRPr>
          </a:p>
        </p:txBody>
      </p:sp>
      <p:graphicFrame>
        <p:nvGraphicFramePr>
          <p:cNvPr id="35843" name="Object 3">
            <a:extLst>
              <a:ext uri="{FF2B5EF4-FFF2-40B4-BE49-F238E27FC236}">
                <a16:creationId xmlns:a16="http://schemas.microsoft.com/office/drawing/2014/main" id="{E2CA0B5F-CC3C-995D-9BD7-7B9AAA38E516}"/>
              </a:ext>
            </a:extLst>
          </p:cNvPr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val="1008583244"/>
              </p:ext>
            </p:extLst>
          </p:nvPr>
        </p:nvGraphicFramePr>
        <p:xfrm>
          <a:off x="1979613" y="5940402"/>
          <a:ext cx="3613113" cy="580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766000" imgH="5270500" progId="Equation.DSMT4">
                  <p:embed/>
                </p:oleObj>
              </mc:Choice>
              <mc:Fallback>
                <p:oleObj name="Equation" r:id="rId2" imgW="32766000" imgH="5270500" progId="Equation.DSMT4">
                  <p:embed/>
                  <p:pic>
                    <p:nvPicPr>
                      <p:cNvPr id="35843" name="Object 3">
                        <a:extLst>
                          <a:ext uri="{FF2B5EF4-FFF2-40B4-BE49-F238E27FC236}">
                            <a16:creationId xmlns:a16="http://schemas.microsoft.com/office/drawing/2014/main" id="{E2CA0B5F-CC3C-995D-9BD7-7B9AAA38E51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5940402"/>
                        <a:ext cx="3613113" cy="580267"/>
                      </a:xfrm>
                      <a:prstGeom prst="rect">
                        <a:avLst/>
                      </a:prstGeom>
                      <a:noFill/>
                      <a:ln w="9525" cap="rnd">
                        <a:solidFill>
                          <a:schemeClr val="tx1"/>
                        </a:solidFill>
                        <a:prstDash val="sysDot"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4" name="Rectangle 4">
            <a:extLst>
              <a:ext uri="{FF2B5EF4-FFF2-40B4-BE49-F238E27FC236}">
                <a16:creationId xmlns:a16="http://schemas.microsoft.com/office/drawing/2014/main" id="{35ABF875-720E-01AE-8336-2E8121458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453" y="3877532"/>
            <a:ext cx="8351837" cy="5386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rgbClr val="FFCF01"/>
              </a:buClr>
              <a:buSzTx/>
              <a:tabLst/>
              <a:defRPr/>
            </a:pPr>
            <a:r>
              <a:rPr kumimoji="1" lang="zh-CN" altLang="en-US" sz="2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对于离散型和连续型的随机变量，该定义分别等价于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849" name="Rectangle 9">
                <a:extLst>
                  <a:ext uri="{FF2B5EF4-FFF2-40B4-BE49-F238E27FC236}">
                    <a16:creationId xmlns:a16="http://schemas.microsoft.com/office/drawing/2014/main" id="{E6AD1FD6-F203-E4B7-930B-758EC1445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81208" y="1274131"/>
                <a:ext cx="9446474" cy="213507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 lIns="90000" tIns="46800" rIns="90000" bIns="46800" anchor="ctr">
                <a:spAutoFit/>
              </a:bodyPr>
              <a:lstStyle>
                <a:lvl1pPr marL="908050" indent="-436563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471487" lvl="0" indent="0" defTabSz="914400" fontAlgn="base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FCF01"/>
                  </a:buClr>
                  <a:defRPr/>
                </a:pPr>
                <a:r>
                  <a:rPr kumimoji="0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定义</a:t>
                </a:r>
                <a:r>
                  <a:rPr kumimoji="0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 设</a:t>
                </a:r>
                <a14:m>
                  <m:oMath xmlns:m="http://schemas.openxmlformats.org/officeDocument/2006/math">
                    <m:r>
                      <a:rPr lang="en-US" altLang="zh-CN" sz="2600" b="1" i="1" noProof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𝑿</m:t>
                    </m:r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,</m:t>
                    </m:r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𝒀</m:t>
                    </m:r>
                    <m:r>
                      <a:rPr lang="en-US" altLang="zh-CN" sz="2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r>
                  <a:rPr kumimoji="0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的联合分布函数为</a:t>
                </a:r>
                <a14:m>
                  <m:oMath xmlns:m="http://schemas.openxmlformats.org/officeDocument/2006/math">
                    <m:r>
                      <a:rPr lang="en-US" altLang="zh-CN" sz="26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𝑭</m:t>
                    </m:r>
                    <m:r>
                      <a:rPr lang="en-US" altLang="zh-CN" sz="2600" b="1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lang="en-US" altLang="zh-CN" sz="2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𝑿</m:t>
                    </m:r>
                    <m:r>
                      <a:rPr lang="en-US" altLang="zh-CN" sz="2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,</m:t>
                    </m:r>
                    <m:r>
                      <a:rPr lang="en-US" altLang="zh-CN" sz="2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𝒀</m:t>
                    </m:r>
                    <m:r>
                      <a:rPr lang="en-US" altLang="zh-CN" sz="2600" b="1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 </m:t>
                    </m:r>
                  </m:oMath>
                </a14:m>
                <a:r>
                  <a:rPr kumimoji="0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，两个边缘分布函数</a:t>
                </a:r>
                <a:endParaRPr kumimoji="0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 marL="471487" lvl="0" indent="0" defTabSz="914400" fontAlgn="base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FCF01"/>
                  </a:buClr>
                  <a:defRPr/>
                </a:pPr>
                <a:r>
                  <a:rPr kumimoji="0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分别为</a:t>
                </a: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𝑭</m:t>
                    </m:r>
                    <m:r>
                      <a:rPr kumimoji="0" lang="en-US" altLang="zh-CN" sz="26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𝑿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𝒙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r>
                  <a:rPr kumimoji="0" lang="en-US" altLang="zh-CN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,</a:t>
                </a: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𝑭</m:t>
                    </m:r>
                    <m:r>
                      <a:rPr kumimoji="0" lang="en-US" altLang="zh-CN" sz="2600" b="1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𝒀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𝒚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r>
                  <a:rPr kumimoji="0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，如果对于</a:t>
                </a:r>
                <a:r>
                  <a:rPr kumimoji="0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任意的</a:t>
                </a: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𝒙</m:t>
                    </m:r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,</m:t>
                    </m:r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𝒚</m:t>
                    </m:r>
                  </m:oMath>
                </a14:m>
                <a:r>
                  <a:rPr kumimoji="0" lang="en-US" altLang="zh-CN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,</a:t>
                </a:r>
                <a:r>
                  <a:rPr kumimoji="0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都有</a:t>
                </a:r>
                <a:r>
                  <a:rPr kumimoji="0" lang="en-US" altLang="zh-CN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:</a:t>
                </a:r>
              </a:p>
              <a:p>
                <a:pPr marL="471487" lvl="0" indent="0" algn="ctr" defTabSz="914400" fontAlgn="base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FCF01"/>
                  </a:buClr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𝑭</m:t>
                    </m:r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kumimoji="0" lang="en-US" altLang="zh-CN" sz="2600" b="1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𝒙</m:t>
                    </m:r>
                    <m:r>
                      <a:rPr kumimoji="0" lang="en-US" altLang="zh-CN" sz="2600" b="1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,</m:t>
                    </m:r>
                    <m:r>
                      <a:rPr kumimoji="0" lang="en-US" altLang="zh-CN" sz="2600" b="1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𝒚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)= </m:t>
                    </m:r>
                    <m:sSub>
                      <m:sSubPr>
                        <m:ctrlPr>
                          <a:rPr kumimoji="0" lang="en-US" altLang="zh-CN" sz="26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sSubPr>
                      <m:e>
                        <m:r>
                          <a:rPr kumimoji="0" lang="en-US" altLang="zh-CN" sz="26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𝑭</m:t>
                        </m:r>
                      </m:e>
                      <m:sub>
                        <m:r>
                          <a:rPr kumimoji="0" lang="en-US" altLang="zh-CN" sz="26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𝑿</m:t>
                        </m:r>
                      </m:sub>
                    </m:sSub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 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𝒙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  <m:sSub>
                      <m:sSubPr>
                        <m:ctrlPr>
                          <a:rPr lang="en-US" altLang="zh-CN" sz="2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𝑭</m:t>
                        </m:r>
                      </m:e>
                      <m:sub>
                        <m:r>
                          <a:rPr lang="en-US" altLang="zh-CN" sz="26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</a:rPr>
                          <m:t>𝒀</m:t>
                        </m:r>
                      </m:sub>
                    </m:sSub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𝒚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r>
                  <a:rPr kumimoji="0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</a:rPr>
                  <a:t>，</a:t>
                </a:r>
                <a:endParaRPr kumimoji="0" lang="en-US" altLang="zh-CN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  <a:p>
                <a:pPr marL="471487" lvl="0" indent="0" defTabSz="914400" fontAlgn="base">
                  <a:lnSpc>
                    <a:spcPct val="90000"/>
                  </a:lnSpc>
                  <a:spcBef>
                    <a:spcPct val="50000"/>
                  </a:spcBef>
                  <a:spcAft>
                    <a:spcPct val="0"/>
                  </a:spcAft>
                  <a:buClr>
                    <a:srgbClr val="FFCF01"/>
                  </a:buClr>
                  <a:defRPr/>
                </a:pPr>
                <a:r>
                  <a:rPr kumimoji="0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</a:rPr>
                  <a:t>则称随机变量</a:t>
                </a: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𝑿</m:t>
                    </m:r>
                    <m:r>
                      <a:rPr kumimoji="0" lang="zh-CN" altLang="en-US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，</m:t>
                    </m:r>
                    <m:r>
                      <a:rPr kumimoji="0" lang="en-US" altLang="zh-CN" sz="2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𝒀</m:t>
                    </m:r>
                  </m:oMath>
                </a14:m>
                <a:r>
                  <a:rPr kumimoji="0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</a:rPr>
                  <a:t>相互独立</a:t>
                </a:r>
                <a:endParaRPr kumimoji="0" lang="zh-CN" altLang="en-US" sz="2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5849" name="Rectangle 9">
                <a:extLst>
                  <a:ext uri="{FF2B5EF4-FFF2-40B4-BE49-F238E27FC236}">
                    <a16:creationId xmlns:a16="http://schemas.microsoft.com/office/drawing/2014/main" id="{E6AD1FD6-F203-E4B7-930B-758EC1445D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281208" y="1274131"/>
                <a:ext cx="9446474" cy="2135073"/>
              </a:xfrm>
              <a:prstGeom prst="rect">
                <a:avLst/>
              </a:prstGeom>
              <a:blipFill>
                <a:blip r:embed="rId4"/>
                <a:stretch>
                  <a:fillRect t="-4734" r="-805" b="-532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5851" name="Object 11">
            <a:extLst>
              <a:ext uri="{FF2B5EF4-FFF2-40B4-BE49-F238E27FC236}">
                <a16:creationId xmlns:a16="http://schemas.microsoft.com/office/drawing/2014/main" id="{347B7CBD-38FE-CF3A-592F-642405DD367E}"/>
              </a:ext>
            </a:extLst>
          </p:cNvPr>
          <p:cNvGraphicFramePr>
            <a:graphicFrameLocks noGrp="1" noChangeAspect="1"/>
          </p:cNvGraphicFramePr>
          <p:nvPr>
            <p:ph sz="quarter" idx="3"/>
            <p:extLst>
              <p:ext uri="{D42A27DB-BD31-4B8C-83A1-F6EECF244321}">
                <p14:modId xmlns:p14="http://schemas.microsoft.com/office/powerpoint/2010/main" val="3550419206"/>
              </p:ext>
            </p:extLst>
          </p:nvPr>
        </p:nvGraphicFramePr>
        <p:xfrm>
          <a:off x="1979613" y="4868837"/>
          <a:ext cx="2252145" cy="634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9596100" imgH="5562600" progId="Equation.DSMT4">
                  <p:embed/>
                </p:oleObj>
              </mc:Choice>
              <mc:Fallback>
                <p:oleObj name="Equation" r:id="rId5" imgW="19596100" imgH="5562600" progId="Equation.DSMT4">
                  <p:embed/>
                  <p:pic>
                    <p:nvPicPr>
                      <p:cNvPr id="35851" name="Object 11">
                        <a:extLst>
                          <a:ext uri="{FF2B5EF4-FFF2-40B4-BE49-F238E27FC236}">
                            <a16:creationId xmlns:a16="http://schemas.microsoft.com/office/drawing/2014/main" id="{347B7CBD-38FE-CF3A-592F-642405DD367E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868837"/>
                        <a:ext cx="2252145" cy="634047"/>
                      </a:xfrm>
                      <a:prstGeom prst="rect">
                        <a:avLst/>
                      </a:prstGeom>
                      <a:noFill/>
                      <a:ln w="9525" cap="rnd">
                        <a:solidFill>
                          <a:schemeClr val="tx1"/>
                        </a:solidFill>
                        <a:prstDash val="sysDot"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5854" name="Text Box 14">
                <a:extLst>
                  <a:ext uri="{FF2B5EF4-FFF2-40B4-BE49-F238E27FC236}">
                    <a16:creationId xmlns:a16="http://schemas.microsoft.com/office/drawing/2014/main" id="{762968AD-B0B6-C4C9-8C4E-57ADAFA247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72737" y="4882805"/>
                <a:ext cx="1801840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对任意</a:t>
                </a: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𝒊</m:t>
                    </m:r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,</m:t>
                    </m:r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𝒋</m:t>
                    </m:r>
                  </m:oMath>
                </a14:m>
                <a:r>
                  <a:rPr kumimoji="0" lang="en-US" altLang="zh-CN" sz="2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   </a:t>
                </a:r>
              </a:p>
            </p:txBody>
          </p:sp>
        </mc:Choice>
        <mc:Fallback xmlns="">
          <p:sp>
            <p:nvSpPr>
              <p:cNvPr id="35854" name="Text Box 14">
                <a:extLst>
                  <a:ext uri="{FF2B5EF4-FFF2-40B4-BE49-F238E27FC236}">
                    <a16:creationId xmlns:a16="http://schemas.microsoft.com/office/drawing/2014/main" id="{762968AD-B0B6-C4C9-8C4E-57ADAFA24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172737" y="4882805"/>
                <a:ext cx="1801840" cy="492443"/>
              </a:xfrm>
              <a:prstGeom prst="rect">
                <a:avLst/>
              </a:prstGeom>
              <a:blipFill>
                <a:blip r:embed="rId7"/>
                <a:stretch>
                  <a:fillRect l="-6294" t="-15000" b="-225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855" name="Text Box 15">
                <a:extLst>
                  <a:ext uri="{FF2B5EF4-FFF2-40B4-BE49-F238E27FC236}">
                    <a16:creationId xmlns:a16="http://schemas.microsoft.com/office/drawing/2014/main" id="{9C81D109-26A9-EB4E-CE4B-2B7A483D70B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26176" y="5934723"/>
                <a:ext cx="1939185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对任意</a:t>
                </a:r>
                <a14:m>
                  <m:oMath xmlns:m="http://schemas.openxmlformats.org/officeDocument/2006/math"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𝒙</m:t>
                    </m:r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,</m:t>
                    </m:r>
                    <m:r>
                      <a:rPr kumimoji="0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𝒚</m:t>
                    </m:r>
                  </m:oMath>
                </a14:m>
                <a:r>
                  <a:rPr kumimoji="0" lang="en-US" altLang="zh-CN" sz="260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   </a:t>
                </a:r>
              </a:p>
            </p:txBody>
          </p:sp>
        </mc:Choice>
        <mc:Fallback xmlns="">
          <p:sp>
            <p:nvSpPr>
              <p:cNvPr id="35855" name="Text Box 15">
                <a:extLst>
                  <a:ext uri="{FF2B5EF4-FFF2-40B4-BE49-F238E27FC236}">
                    <a16:creationId xmlns:a16="http://schemas.microsoft.com/office/drawing/2014/main" id="{9C81D109-26A9-EB4E-CE4B-2B7A483D70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26176" y="5934723"/>
                <a:ext cx="1939185" cy="492443"/>
              </a:xfrm>
              <a:prstGeom prst="rect">
                <a:avLst/>
              </a:prstGeom>
              <a:blipFill>
                <a:blip r:embed="rId8"/>
                <a:stretch>
                  <a:fillRect l="-5882" t="-17949" b="-2564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FBA7EC59-5E44-B1E0-78B2-61EA791278D8}"/>
              </a:ext>
            </a:extLst>
          </p:cNvPr>
          <p:cNvCxnSpPr/>
          <p:nvPr/>
        </p:nvCxnSpPr>
        <p:spPr>
          <a:xfrm>
            <a:off x="0" y="931863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7397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4" grpId="0"/>
      <p:bldP spid="35849" grpId="0"/>
      <p:bldP spid="35854" grpId="0"/>
      <p:bldP spid="3585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7890" name="Text Box 2">
                <a:extLst>
                  <a:ext uri="{FF2B5EF4-FFF2-40B4-BE49-F238E27FC236}">
                    <a16:creationId xmlns:a16="http://schemas.microsoft.com/office/drawing/2014/main" id="{6134CE1C-55B5-CB35-557F-C5DE3238B2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37839" y="1201896"/>
                <a:ext cx="3683765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设</a:t>
                </a:r>
                <a14:m>
                  <m:oMath xmlns:m="http://schemas.openxmlformats.org/officeDocument/2006/math">
                    <m:r>
                      <a:rPr kumimoji="1" lang="en-US" altLang="zh-CN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kumimoji="1" lang="en-US" altLang="zh-CN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  <m:r>
                      <a:rPr kumimoji="1" lang="en-US" altLang="zh-CN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,</m:t>
                    </m:r>
                    <m:r>
                      <a:rPr kumimoji="1" lang="en-US" altLang="zh-CN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𝑌</m:t>
                    </m:r>
                    <m:r>
                      <a:rPr kumimoji="1" lang="en-US" altLang="zh-CN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kumimoji="1" lang="zh-CN" altLang="en-US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的概率分布律为</a:t>
                </a:r>
              </a:p>
            </p:txBody>
          </p:sp>
        </mc:Choice>
        <mc:Fallback xmlns="">
          <p:sp>
            <p:nvSpPr>
              <p:cNvPr id="37890" name="Text Box 2">
                <a:extLst>
                  <a:ext uri="{FF2B5EF4-FFF2-40B4-BE49-F238E27FC236}">
                    <a16:creationId xmlns:a16="http://schemas.microsoft.com/office/drawing/2014/main" id="{6134CE1C-55B5-CB35-557F-C5DE3238B2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37839" y="1201896"/>
                <a:ext cx="3683765" cy="492443"/>
              </a:xfrm>
              <a:prstGeom prst="rect">
                <a:avLst/>
              </a:prstGeom>
              <a:blipFill>
                <a:blip r:embed="rId2"/>
                <a:stretch>
                  <a:fillRect l="-2749" t="-12500" r="-2062" b="-25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932" name="Text Box 44">
                <a:extLst>
                  <a:ext uri="{FF2B5EF4-FFF2-40B4-BE49-F238E27FC236}">
                    <a16:creationId xmlns:a16="http://schemas.microsoft.com/office/drawing/2014/main" id="{9135D4B4-A005-2B95-3A76-E1DF3F5B522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0562" y="4527783"/>
                <a:ext cx="3616952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证明：</a:t>
                </a:r>
                <a14:m>
                  <m:oMath xmlns:m="http://schemas.openxmlformats.org/officeDocument/2006/math">
                    <m:r>
                      <a:rPr kumimoji="1" lang="en-US" altLang="zh-CN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kumimoji="1" lang="zh-CN" altLang="en-US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、</a:t>
                </a:r>
                <a14:m>
                  <m:oMath xmlns:m="http://schemas.openxmlformats.org/officeDocument/2006/math">
                    <m:r>
                      <a:rPr kumimoji="1" lang="en-US" altLang="zh-CN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kumimoji="1" lang="zh-CN" altLang="en-US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相互独立。</a:t>
                </a:r>
              </a:p>
            </p:txBody>
          </p:sp>
        </mc:Choice>
        <mc:Fallback xmlns="">
          <p:sp>
            <p:nvSpPr>
              <p:cNvPr id="37932" name="Text Box 44">
                <a:extLst>
                  <a:ext uri="{FF2B5EF4-FFF2-40B4-BE49-F238E27FC236}">
                    <a16:creationId xmlns:a16="http://schemas.microsoft.com/office/drawing/2014/main" id="{9135D4B4-A005-2B95-3A76-E1DF3F5B5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40562" y="4527783"/>
                <a:ext cx="3616952" cy="492443"/>
              </a:xfrm>
              <a:prstGeom prst="rect">
                <a:avLst/>
              </a:prstGeom>
              <a:blipFill>
                <a:blip r:embed="rId3"/>
                <a:stretch>
                  <a:fillRect l="-2797" t="-12500" r="-2098" b="-275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7934" name="Object 46">
            <a:extLst>
              <a:ext uri="{FF2B5EF4-FFF2-40B4-BE49-F238E27FC236}">
                <a16:creationId xmlns:a16="http://schemas.microsoft.com/office/drawing/2014/main" id="{F8CFAAA5-DADE-1669-0F71-1372F444CEF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1391805"/>
              </p:ext>
            </p:extLst>
          </p:nvPr>
        </p:nvGraphicFramePr>
        <p:xfrm>
          <a:off x="3800076" y="5513624"/>
          <a:ext cx="2700402" cy="6751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596100" imgH="5562600" progId="Equation.DSMT4">
                  <p:embed/>
                </p:oleObj>
              </mc:Choice>
              <mc:Fallback>
                <p:oleObj name="Equation" r:id="rId4" imgW="19596100" imgH="5562600" progId="Equation.DSMT4">
                  <p:embed/>
                  <p:pic>
                    <p:nvPicPr>
                      <p:cNvPr id="37934" name="Object 46">
                        <a:extLst>
                          <a:ext uri="{FF2B5EF4-FFF2-40B4-BE49-F238E27FC236}">
                            <a16:creationId xmlns:a16="http://schemas.microsoft.com/office/drawing/2014/main" id="{F8CFAAA5-DADE-1669-0F71-1372F444CEF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0076" y="5513624"/>
                        <a:ext cx="2700402" cy="675101"/>
                      </a:xfrm>
                      <a:prstGeom prst="rect">
                        <a:avLst/>
                      </a:prstGeom>
                      <a:noFill/>
                      <a:ln w="9525" cap="rnd">
                        <a:solidFill>
                          <a:schemeClr val="tx1"/>
                        </a:solidFill>
                        <a:prstDash val="sysDot"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956" name="Group 68">
            <a:extLst>
              <a:ext uri="{FF2B5EF4-FFF2-40B4-BE49-F238E27FC236}">
                <a16:creationId xmlns:a16="http://schemas.microsoft.com/office/drawing/2014/main" id="{75C47820-9959-0F2D-7C04-8C60E2ECD512}"/>
              </a:ext>
            </a:extLst>
          </p:cNvPr>
          <p:cNvGrpSpPr>
            <a:grpSpLocks/>
          </p:cNvGrpSpPr>
          <p:nvPr/>
        </p:nvGrpSpPr>
        <p:grpSpPr bwMode="auto">
          <a:xfrm>
            <a:off x="1783521" y="2008516"/>
            <a:ext cx="5286612" cy="2342670"/>
            <a:chOff x="973" y="749"/>
            <a:chExt cx="3849" cy="1806"/>
          </a:xfrm>
        </p:grpSpPr>
        <p:sp>
          <p:nvSpPr>
            <p:cNvPr id="29703" name="Rectangle 4">
              <a:extLst>
                <a:ext uri="{FF2B5EF4-FFF2-40B4-BE49-F238E27FC236}">
                  <a16:creationId xmlns:a16="http://schemas.microsoft.com/office/drawing/2014/main" id="{604D7614-D7B4-935C-079E-2E55D40AA5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4" y="2248"/>
              <a:ext cx="768" cy="30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0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1</a:t>
              </a:r>
              <a:endParaRPr kumimoji="0" lang="zh-CN" altLang="zh-CN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04" name="Rectangle 5">
              <a:extLst>
                <a:ext uri="{FF2B5EF4-FFF2-40B4-BE49-F238E27FC236}">
                  <a16:creationId xmlns:a16="http://schemas.microsoft.com/office/drawing/2014/main" id="{8F4BC553-3051-A2B6-0ECC-F3EDA3B378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6" y="2248"/>
              <a:ext cx="768" cy="30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0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  2/5</a:t>
              </a:r>
            </a:p>
          </p:txBody>
        </p:sp>
        <p:sp>
          <p:nvSpPr>
            <p:cNvPr id="29705" name="Rectangle 6">
              <a:extLst>
                <a:ext uri="{FF2B5EF4-FFF2-40B4-BE49-F238E27FC236}">
                  <a16:creationId xmlns:a16="http://schemas.microsoft.com/office/drawing/2014/main" id="{CBFBD49B-7CAF-1614-3388-A30D96EFEB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8" y="2248"/>
              <a:ext cx="768" cy="30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0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   1/5</a:t>
              </a:r>
            </a:p>
          </p:txBody>
        </p:sp>
        <p:sp>
          <p:nvSpPr>
            <p:cNvPr id="29706" name="Rectangle 7">
              <a:extLst>
                <a:ext uri="{FF2B5EF4-FFF2-40B4-BE49-F238E27FC236}">
                  <a16:creationId xmlns:a16="http://schemas.microsoft.com/office/drawing/2014/main" id="{D9941E69-F513-2089-B835-0C1D877192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0" y="2248"/>
              <a:ext cx="768" cy="30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0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  2/5</a:t>
              </a:r>
            </a:p>
          </p:txBody>
        </p:sp>
        <p:sp>
          <p:nvSpPr>
            <p:cNvPr id="29707" name="Rectangle 8">
              <a:extLst>
                <a:ext uri="{FF2B5EF4-FFF2-40B4-BE49-F238E27FC236}">
                  <a16:creationId xmlns:a16="http://schemas.microsoft.com/office/drawing/2014/main" id="{3A58D67A-5468-E968-D10E-1993F4AD51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" y="2248"/>
              <a:ext cx="768" cy="307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0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 p</a:t>
              </a:r>
              <a:r>
                <a:rPr kumimoji="0" lang="en-US" altLang="zh-CN" sz="200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 .j</a:t>
              </a:r>
              <a:endParaRPr kumimoji="0" lang="en-US" altLang="zh-CN" sz="200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08" name="Rectangle 9">
              <a:extLst>
                <a:ext uri="{FF2B5EF4-FFF2-40B4-BE49-F238E27FC236}">
                  <a16:creationId xmlns:a16="http://schemas.microsoft.com/office/drawing/2014/main" id="{2B1EF23E-AAF0-569C-05C3-5501EA90E6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4" y="1912"/>
              <a:ext cx="768" cy="3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0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  2/4</a:t>
              </a:r>
            </a:p>
          </p:txBody>
        </p:sp>
        <p:sp>
          <p:nvSpPr>
            <p:cNvPr id="29709" name="Rectangle 10">
              <a:extLst>
                <a:ext uri="{FF2B5EF4-FFF2-40B4-BE49-F238E27FC236}">
                  <a16:creationId xmlns:a16="http://schemas.microsoft.com/office/drawing/2014/main" id="{7EE129E3-7028-D863-3291-4910B44A6F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6" y="1912"/>
              <a:ext cx="768" cy="3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0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  4/20</a:t>
              </a:r>
            </a:p>
          </p:txBody>
        </p:sp>
        <p:sp>
          <p:nvSpPr>
            <p:cNvPr id="29710" name="Rectangle 11">
              <a:extLst>
                <a:ext uri="{FF2B5EF4-FFF2-40B4-BE49-F238E27FC236}">
                  <a16:creationId xmlns:a16="http://schemas.microsoft.com/office/drawing/2014/main" id="{1D506B02-573C-7D7B-60FF-DF6EB9FC66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8" y="1912"/>
              <a:ext cx="768" cy="3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0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  2/20</a:t>
              </a:r>
            </a:p>
          </p:txBody>
        </p:sp>
        <p:sp>
          <p:nvSpPr>
            <p:cNvPr id="29711" name="Rectangle 12">
              <a:extLst>
                <a:ext uri="{FF2B5EF4-FFF2-40B4-BE49-F238E27FC236}">
                  <a16:creationId xmlns:a16="http://schemas.microsoft.com/office/drawing/2014/main" id="{A0A40AFF-DDA1-0422-83DE-632E536FC2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0" y="1912"/>
              <a:ext cx="768" cy="3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0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  4/20</a:t>
              </a:r>
            </a:p>
          </p:txBody>
        </p:sp>
        <p:sp>
          <p:nvSpPr>
            <p:cNvPr id="29712" name="Rectangle 13">
              <a:extLst>
                <a:ext uri="{FF2B5EF4-FFF2-40B4-BE49-F238E27FC236}">
                  <a16:creationId xmlns:a16="http://schemas.microsoft.com/office/drawing/2014/main" id="{36C8C08C-2416-113C-ED8D-5A172BC0F6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" y="1912"/>
              <a:ext cx="768" cy="33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0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    2</a:t>
              </a:r>
            </a:p>
          </p:txBody>
        </p:sp>
        <p:sp>
          <p:nvSpPr>
            <p:cNvPr id="29713" name="Rectangle 14">
              <a:extLst>
                <a:ext uri="{FF2B5EF4-FFF2-40B4-BE49-F238E27FC236}">
                  <a16:creationId xmlns:a16="http://schemas.microsoft.com/office/drawing/2014/main" id="{5FD336BF-6161-DB68-C421-1DFFAB175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4" y="1508"/>
              <a:ext cx="768" cy="4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0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 1/4</a:t>
              </a:r>
            </a:p>
          </p:txBody>
        </p:sp>
        <p:sp>
          <p:nvSpPr>
            <p:cNvPr id="29714" name="Rectangle 15">
              <a:extLst>
                <a:ext uri="{FF2B5EF4-FFF2-40B4-BE49-F238E27FC236}">
                  <a16:creationId xmlns:a16="http://schemas.microsoft.com/office/drawing/2014/main" id="{EE9860B5-A0A8-974D-1F4F-6B8B9E02E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6" y="1508"/>
              <a:ext cx="768" cy="4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0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  2/20</a:t>
              </a:r>
            </a:p>
          </p:txBody>
        </p:sp>
        <p:sp>
          <p:nvSpPr>
            <p:cNvPr id="29715" name="Rectangle 16">
              <a:extLst>
                <a:ext uri="{FF2B5EF4-FFF2-40B4-BE49-F238E27FC236}">
                  <a16:creationId xmlns:a16="http://schemas.microsoft.com/office/drawing/2014/main" id="{85A333D6-3C82-BFAB-9A5B-44127D3D36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8" y="1508"/>
              <a:ext cx="768" cy="4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0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  1/20</a:t>
              </a:r>
            </a:p>
          </p:txBody>
        </p:sp>
        <p:sp>
          <p:nvSpPr>
            <p:cNvPr id="29716" name="Rectangle 17">
              <a:extLst>
                <a:ext uri="{FF2B5EF4-FFF2-40B4-BE49-F238E27FC236}">
                  <a16:creationId xmlns:a16="http://schemas.microsoft.com/office/drawing/2014/main" id="{5ED4B4CA-AB12-293D-B289-C41AB6D05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0" y="1508"/>
              <a:ext cx="768" cy="4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0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  2/20</a:t>
              </a:r>
            </a:p>
          </p:txBody>
        </p:sp>
        <p:sp>
          <p:nvSpPr>
            <p:cNvPr id="29717" name="Rectangle 18">
              <a:extLst>
                <a:ext uri="{FF2B5EF4-FFF2-40B4-BE49-F238E27FC236}">
                  <a16:creationId xmlns:a16="http://schemas.microsoft.com/office/drawing/2014/main" id="{032627B9-FE80-15DE-868E-158E0FAEDF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" y="1508"/>
              <a:ext cx="768" cy="40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0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    1</a:t>
              </a:r>
            </a:p>
          </p:txBody>
        </p:sp>
        <p:sp>
          <p:nvSpPr>
            <p:cNvPr id="29718" name="Rectangle 19">
              <a:extLst>
                <a:ext uri="{FF2B5EF4-FFF2-40B4-BE49-F238E27FC236}">
                  <a16:creationId xmlns:a16="http://schemas.microsoft.com/office/drawing/2014/main" id="{F7023579-9160-570D-BC44-4B48DB3B05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4" y="1162"/>
              <a:ext cx="768" cy="34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0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 1/4</a:t>
              </a:r>
            </a:p>
          </p:txBody>
        </p:sp>
        <p:sp>
          <p:nvSpPr>
            <p:cNvPr id="29719" name="Rectangle 20">
              <a:extLst>
                <a:ext uri="{FF2B5EF4-FFF2-40B4-BE49-F238E27FC236}">
                  <a16:creationId xmlns:a16="http://schemas.microsoft.com/office/drawing/2014/main" id="{5C1FB754-53FF-4DF8-25D3-0374189F44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6" y="1162"/>
              <a:ext cx="768" cy="34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0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  2/20</a:t>
              </a:r>
            </a:p>
          </p:txBody>
        </p:sp>
        <p:sp>
          <p:nvSpPr>
            <p:cNvPr id="29720" name="Rectangle 21">
              <a:extLst>
                <a:ext uri="{FF2B5EF4-FFF2-40B4-BE49-F238E27FC236}">
                  <a16:creationId xmlns:a16="http://schemas.microsoft.com/office/drawing/2014/main" id="{1EB8507F-BDFC-CD0D-B9F1-8137F625D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8" y="1162"/>
              <a:ext cx="768" cy="34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0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  1/20</a:t>
              </a:r>
            </a:p>
          </p:txBody>
        </p:sp>
        <p:sp>
          <p:nvSpPr>
            <p:cNvPr id="29721" name="Rectangle 22">
              <a:extLst>
                <a:ext uri="{FF2B5EF4-FFF2-40B4-BE49-F238E27FC236}">
                  <a16:creationId xmlns:a16="http://schemas.microsoft.com/office/drawing/2014/main" id="{6962D005-72B3-EA10-EDE6-A7A4055F2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50" y="1162"/>
              <a:ext cx="768" cy="34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0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  2/20</a:t>
              </a:r>
            </a:p>
          </p:txBody>
        </p:sp>
        <p:sp>
          <p:nvSpPr>
            <p:cNvPr id="29722" name="Rectangle 23">
              <a:extLst>
                <a:ext uri="{FF2B5EF4-FFF2-40B4-BE49-F238E27FC236}">
                  <a16:creationId xmlns:a16="http://schemas.microsoft.com/office/drawing/2014/main" id="{59FF7A01-B863-0D02-6E12-FD0CDFB8B3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82" y="1162"/>
              <a:ext cx="768" cy="346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0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   1/2</a:t>
              </a:r>
            </a:p>
          </p:txBody>
        </p:sp>
        <p:sp>
          <p:nvSpPr>
            <p:cNvPr id="29723" name="Rectangle 24">
              <a:extLst>
                <a:ext uri="{FF2B5EF4-FFF2-40B4-BE49-F238E27FC236}">
                  <a16:creationId xmlns:a16="http://schemas.microsoft.com/office/drawing/2014/main" id="{527CFB36-6934-1068-A0EF-E41031D2D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4" y="754"/>
              <a:ext cx="768" cy="4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0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  p</a:t>
              </a:r>
              <a:r>
                <a:rPr kumimoji="0" lang="en-US" altLang="zh-CN" sz="2000" u="none" strike="noStrike" kern="120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i</a:t>
              </a:r>
              <a:r>
                <a:rPr kumimoji="0" lang="en-US" altLang="zh-CN" sz="20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.</a:t>
              </a:r>
              <a:endParaRPr kumimoji="0" lang="en-US" altLang="zh-CN" sz="200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24" name="Rectangle 25">
              <a:extLst>
                <a:ext uri="{FF2B5EF4-FFF2-40B4-BE49-F238E27FC236}">
                  <a16:creationId xmlns:a16="http://schemas.microsoft.com/office/drawing/2014/main" id="{DDB1830D-5995-15E9-1986-B354708C30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6" y="754"/>
              <a:ext cx="768" cy="4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0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    2</a:t>
              </a:r>
            </a:p>
          </p:txBody>
        </p:sp>
        <p:sp>
          <p:nvSpPr>
            <p:cNvPr id="29725" name="Rectangle 26">
              <a:extLst>
                <a:ext uri="{FF2B5EF4-FFF2-40B4-BE49-F238E27FC236}">
                  <a16:creationId xmlns:a16="http://schemas.microsoft.com/office/drawing/2014/main" id="{E01A7FC0-40B1-A483-EBEA-135E6FC7F1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8" y="754"/>
              <a:ext cx="768" cy="40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60000"/>
                <a:buFont typeface="Wingdings" pitchFamily="2" charset="2"/>
                <a:buNone/>
                <a:tabLst/>
                <a:defRPr/>
              </a:pPr>
              <a:r>
                <a:rPr kumimoji="0" lang="en-US" altLang="zh-CN" sz="20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Times New Roman" panose="02020603050405020304" pitchFamily="18" charset="0"/>
                </a:rPr>
                <a:t>    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726" name="Rectangle 27">
                  <a:extLst>
                    <a:ext uri="{FF2B5EF4-FFF2-40B4-BE49-F238E27FC236}">
                      <a16:creationId xmlns:a16="http://schemas.microsoft.com/office/drawing/2014/main" id="{9C9BE1B8-D97A-2369-E482-809456FA29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50" y="754"/>
                  <a:ext cx="768" cy="408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anchor="ctr"/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60000"/>
                    <a:buFont typeface="Wingdings" pitchFamily="2" charset="2"/>
                    <a:buNone/>
                    <a:tabLst/>
                    <a:defRPr/>
                  </a:pPr>
                  <a:r>
                    <a:rPr kumimoji="0" lang="en-US" altLang="zh-CN" sz="200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KaiTi" panose="02010609060101010101" pitchFamily="49" charset="-122"/>
                      <a:cs typeface="Times New Roman" panose="02020603050405020304" pitchFamily="18" charset="0"/>
                    </a:rPr>
                    <a:t>    </a:t>
                  </a:r>
                  <a14:m>
                    <m:oMath xmlns:m="http://schemas.openxmlformats.org/officeDocument/2006/math">
                      <m:r>
                        <a:rPr kumimoji="0" lang="en-US" altLang="zh-CN" sz="2000" i="1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KaiTi" panose="02010609060101010101" pitchFamily="49" charset="-122"/>
                          <a:cs typeface="Times New Roman" panose="02020603050405020304" pitchFamily="18" charset="0"/>
                        </a:rPr>
                        <m:t>−1</m:t>
                      </m:r>
                    </m:oMath>
                  </a14:m>
                  <a:endParaRPr kumimoji="0" lang="en-US" altLang="zh-CN" sz="200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726" name="Rectangle 27">
                  <a:extLst>
                    <a:ext uri="{FF2B5EF4-FFF2-40B4-BE49-F238E27FC236}">
                      <a16:creationId xmlns:a16="http://schemas.microsoft.com/office/drawing/2014/main" id="{9C9BE1B8-D97A-2369-E482-809456FA29E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50" y="754"/>
                  <a:ext cx="768" cy="40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727" name="Line 29">
              <a:extLst>
                <a:ext uri="{FF2B5EF4-FFF2-40B4-BE49-F238E27FC236}">
                  <a16:creationId xmlns:a16="http://schemas.microsoft.com/office/drawing/2014/main" id="{22A15403-3588-7652-0EA6-733AAA078D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2" y="1162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28" name="Line 30">
              <a:extLst>
                <a:ext uri="{FF2B5EF4-FFF2-40B4-BE49-F238E27FC236}">
                  <a16:creationId xmlns:a16="http://schemas.microsoft.com/office/drawing/2014/main" id="{D7BDD2EB-7900-2869-8B2A-2F38CD179F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2" y="1508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29" name="Line 31">
              <a:extLst>
                <a:ext uri="{FF2B5EF4-FFF2-40B4-BE49-F238E27FC236}">
                  <a16:creationId xmlns:a16="http://schemas.microsoft.com/office/drawing/2014/main" id="{FB476C4C-5337-A447-70C6-8E0F171C11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2" y="1912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30" name="Line 32">
              <a:extLst>
                <a:ext uri="{FF2B5EF4-FFF2-40B4-BE49-F238E27FC236}">
                  <a16:creationId xmlns:a16="http://schemas.microsoft.com/office/drawing/2014/main" id="{7A297EEE-C581-83E4-1975-9E2B3C2000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2" y="2248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31" name="Line 34">
              <a:extLst>
                <a:ext uri="{FF2B5EF4-FFF2-40B4-BE49-F238E27FC236}">
                  <a16:creationId xmlns:a16="http://schemas.microsoft.com/office/drawing/2014/main" id="{C42C0EAB-5879-5A7B-9054-9E6B22BEBB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50" y="754"/>
              <a:ext cx="0" cy="18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32" name="Line 35">
              <a:extLst>
                <a:ext uri="{FF2B5EF4-FFF2-40B4-BE49-F238E27FC236}">
                  <a16:creationId xmlns:a16="http://schemas.microsoft.com/office/drawing/2014/main" id="{B6A65CCB-71E8-C396-DC68-056E633CC9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18" y="754"/>
              <a:ext cx="0" cy="18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33" name="Line 36">
              <a:extLst>
                <a:ext uri="{FF2B5EF4-FFF2-40B4-BE49-F238E27FC236}">
                  <a16:creationId xmlns:a16="http://schemas.microsoft.com/office/drawing/2014/main" id="{4514638A-CC60-9C7C-60D3-4E36F15401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6" y="754"/>
              <a:ext cx="0" cy="18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34" name="Line 37">
              <a:extLst>
                <a:ext uri="{FF2B5EF4-FFF2-40B4-BE49-F238E27FC236}">
                  <a16:creationId xmlns:a16="http://schemas.microsoft.com/office/drawing/2014/main" id="{6C8EE2A5-DD10-0CE8-6B66-605A37A38A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4" y="754"/>
              <a:ext cx="0" cy="18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35" name="Line 38">
              <a:extLst>
                <a:ext uri="{FF2B5EF4-FFF2-40B4-BE49-F238E27FC236}">
                  <a16:creationId xmlns:a16="http://schemas.microsoft.com/office/drawing/2014/main" id="{B5088F29-A957-AD50-9B19-C51E236618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22" y="754"/>
              <a:ext cx="0" cy="1801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36" name="Line 39">
              <a:extLst>
                <a:ext uri="{FF2B5EF4-FFF2-40B4-BE49-F238E27FC236}">
                  <a16:creationId xmlns:a16="http://schemas.microsoft.com/office/drawing/2014/main" id="{19ABEEC2-8CD9-B5F3-FAC3-79CC711070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2" y="2555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37" name="Line 40">
              <a:extLst>
                <a:ext uri="{FF2B5EF4-FFF2-40B4-BE49-F238E27FC236}">
                  <a16:creationId xmlns:a16="http://schemas.microsoft.com/office/drawing/2014/main" id="{9F57C173-5257-6264-D40A-78DEA38046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2" y="754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38" name="Text Box 43">
              <a:extLst>
                <a:ext uri="{FF2B5EF4-FFF2-40B4-BE49-F238E27FC236}">
                  <a16:creationId xmlns:a16="http://schemas.microsoft.com/office/drawing/2014/main" id="{BB8EFDD8-92FC-1F65-DBDE-4C781E13B5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3" y="844"/>
              <a:ext cx="134" cy="30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zh-CN" sz="20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39" name="Line 64">
              <a:extLst>
                <a:ext uri="{FF2B5EF4-FFF2-40B4-BE49-F238E27FC236}">
                  <a16:creationId xmlns:a16="http://schemas.microsoft.com/office/drawing/2014/main" id="{A074C247-3ACA-7347-6CF8-7987F3301C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754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740" name="Line 65">
              <a:extLst>
                <a:ext uri="{FF2B5EF4-FFF2-40B4-BE49-F238E27FC236}">
                  <a16:creationId xmlns:a16="http://schemas.microsoft.com/office/drawing/2014/main" id="{F2D8C113-97C9-A831-5F97-2FF13384FA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75" y="754"/>
              <a:ext cx="771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00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741" name="Text Box 66">
                  <a:extLst>
                    <a:ext uri="{FF2B5EF4-FFF2-40B4-BE49-F238E27FC236}">
                      <a16:creationId xmlns:a16="http://schemas.microsoft.com/office/drawing/2014/main" id="{3B378B94-F079-8724-C243-A5B5CDB74F6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32" y="749"/>
                  <a:ext cx="298" cy="3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zh-CN" sz="20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𝑌</m:t>
                        </m:r>
                      </m:oMath>
                    </m:oMathPara>
                  </a14:m>
                  <a:endParaRPr kumimoji="0" lang="en-US" altLang="zh-CN" sz="20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741" name="Text Box 66">
                  <a:extLst>
                    <a:ext uri="{FF2B5EF4-FFF2-40B4-BE49-F238E27FC236}">
                      <a16:creationId xmlns:a16="http://schemas.microsoft.com/office/drawing/2014/main" id="{3B378B94-F079-8724-C243-A5B5CDB74F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32" y="749"/>
                  <a:ext cx="298" cy="30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742" name="Text Box 67">
                  <a:extLst>
                    <a:ext uri="{FF2B5EF4-FFF2-40B4-BE49-F238E27FC236}">
                      <a16:creationId xmlns:a16="http://schemas.microsoft.com/office/drawing/2014/main" id="{A6BECFB1-CF3B-0379-378C-2CE10D0DF10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48" y="824"/>
                  <a:ext cx="306" cy="30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800" b="1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KaiTi" panose="02010609060101010101" pitchFamily="49" charset="-122"/>
                            <a:cs typeface="Times New Roman" panose="02020603050405020304" pitchFamily="18" charset="0"/>
                          </a:rPr>
                          <m:t>𝑋</m:t>
                        </m:r>
                      </m:oMath>
                    </m:oMathPara>
                  </a14:m>
                  <a:endParaRPr kumimoji="0" lang="en-US" altLang="zh-CN" sz="20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742" name="Text Box 67">
                  <a:extLst>
                    <a:ext uri="{FF2B5EF4-FFF2-40B4-BE49-F238E27FC236}">
                      <a16:creationId xmlns:a16="http://schemas.microsoft.com/office/drawing/2014/main" id="{A6BECFB1-CF3B-0379-378C-2CE10D0DF1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48" y="824"/>
                  <a:ext cx="306" cy="308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7957" name="Text Box 69">
            <a:extLst>
              <a:ext uri="{FF2B5EF4-FFF2-40B4-BE49-F238E27FC236}">
                <a16:creationId xmlns:a16="http://schemas.microsoft.com/office/drawing/2014/main" id="{8FFE3F68-F2B9-BFF8-14CD-674DF18B08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7567" y="5591825"/>
            <a:ext cx="2685351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逐个验证等式   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532C7CF-921E-625A-9D13-9498718933A6}"/>
              </a:ext>
            </a:extLst>
          </p:cNvPr>
          <p:cNvSpPr txBox="1">
            <a:spLocks noChangeArrowheads="1"/>
          </p:cNvSpPr>
          <p:nvPr/>
        </p:nvSpPr>
        <p:spPr>
          <a:xfrm>
            <a:off x="1367632" y="242888"/>
            <a:ext cx="6408737" cy="593725"/>
          </a:xfrm>
          <a:prstGeom prst="rect">
            <a:avLst/>
          </a:prstGeom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0" i="0" kern="1200">
                <a:solidFill>
                  <a:schemeClr val="tx2"/>
                </a:solidFill>
                <a:latin typeface="+mj-lt"/>
                <a:ea typeface="KaiTi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hangingPunct="1">
              <a:defRPr/>
            </a:pPr>
            <a:r>
              <a:rPr lang="en-US" altLang="zh-CN" sz="4000" b="1" dirty="0">
                <a:solidFill>
                  <a:srgbClr val="FF0000"/>
                </a:solidFill>
                <a:ea typeface="华文新魏" panose="02010800040101010101" pitchFamily="2" charset="-122"/>
              </a:rPr>
              <a:t>Practice #1</a:t>
            </a:r>
            <a:endParaRPr lang="zh-CN" altLang="en-US" sz="4000" dirty="0">
              <a:solidFill>
                <a:srgbClr val="FF0000"/>
              </a:solidFill>
              <a:ea typeface="华文新魏" panose="02010800040101010101" pitchFamily="2" charset="-122"/>
            </a:endParaRPr>
          </a:p>
        </p:txBody>
      </p:sp>
      <p:cxnSp>
        <p:nvCxnSpPr>
          <p:cNvPr id="3" name="直线连接符 48">
            <a:extLst>
              <a:ext uri="{FF2B5EF4-FFF2-40B4-BE49-F238E27FC236}">
                <a16:creationId xmlns:a16="http://schemas.microsoft.com/office/drawing/2014/main" id="{ED813948-02B9-FA3F-28D0-FDFFDA66B50E}"/>
              </a:ext>
            </a:extLst>
          </p:cNvPr>
          <p:cNvCxnSpPr/>
          <p:nvPr/>
        </p:nvCxnSpPr>
        <p:spPr>
          <a:xfrm>
            <a:off x="0" y="931863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AC24BA93-5B52-587C-2F41-3F3ABA1C5360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5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EB2E5BC-6EC4-E28D-8B58-96633113E9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8165" y="3824915"/>
                <a:ext cx="8768443" cy="211870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sz="24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2400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b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4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 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&lt;∞.</m:t>
                    </m:r>
                  </m:oMath>
                </a14:m>
                <a:endParaRPr lang="en-US" altLang="zh-CN" sz="2400" b="0" dirty="0"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2400" dirty="0"/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zh-CN" altLang="en-US" sz="2400" b="0" i="1" smtClean="0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  <m:sup>
                                    <m: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sup>
                                </m:sSub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zh-CN" altLang="en-US" sz="2400" b="0" i="1" smtClean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,−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∞&lt;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&lt;∞.</m:t>
                    </m:r>
                  </m:oMath>
                </a14:m>
                <a:endParaRPr lang="en-US" altLang="zh-CN" sz="2400" b="0" dirty="0"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DEB2E5BC-6EC4-E28D-8B58-96633113E9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8165" y="3824915"/>
                <a:ext cx="8768443" cy="2118701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Object 8">
            <a:extLst>
              <a:ext uri="{FF2B5EF4-FFF2-40B4-BE49-F238E27FC236}">
                <a16:creationId xmlns:a16="http://schemas.microsoft.com/office/drawing/2014/main" id="{13BE87CE-0321-C6E8-B5DA-127DBE17F4A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5021002"/>
              </p:ext>
            </p:extLst>
          </p:nvPr>
        </p:nvGraphicFramePr>
        <p:xfrm>
          <a:off x="799538" y="1496482"/>
          <a:ext cx="6925230" cy="18847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87769700" imgH="22237700" progId="Equation.DSMT4">
                  <p:embed/>
                </p:oleObj>
              </mc:Choice>
              <mc:Fallback>
                <p:oleObj name="Equation" r:id="rId4" imgW="87769700" imgH="22237700" progId="Equation.DSMT4">
                  <p:embed/>
                  <p:pic>
                    <p:nvPicPr>
                      <p:cNvPr id="5" name="Object 8">
                        <a:extLst>
                          <a:ext uri="{FF2B5EF4-FFF2-40B4-BE49-F238E27FC236}">
                            <a16:creationId xmlns:a16="http://schemas.microsoft.com/office/drawing/2014/main" id="{13BE87CE-0321-C6E8-B5DA-127DBE17F4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9538" y="1496482"/>
                        <a:ext cx="6925230" cy="18847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5">
            <a:extLst>
              <a:ext uri="{FF2B5EF4-FFF2-40B4-BE49-F238E27FC236}">
                <a16:creationId xmlns:a16="http://schemas.microsoft.com/office/drawing/2014/main" id="{50FF0D4D-839A-C6D3-A2F0-A260977D59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9141279"/>
              </p:ext>
            </p:extLst>
          </p:nvPr>
        </p:nvGraphicFramePr>
        <p:xfrm>
          <a:off x="4125673" y="1550053"/>
          <a:ext cx="3268662" cy="639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8719800" imgH="3644900" progId="Equation.DSMT4">
                  <p:embed/>
                </p:oleObj>
              </mc:Choice>
              <mc:Fallback>
                <p:oleObj name="Equation" r:id="rId6" imgW="18719800" imgH="3644900" progId="Equation.DSMT4">
                  <p:embed/>
                  <p:pic>
                    <p:nvPicPr>
                      <p:cNvPr id="6" name="Object 25">
                        <a:extLst>
                          <a:ext uri="{FF2B5EF4-FFF2-40B4-BE49-F238E27FC236}">
                            <a16:creationId xmlns:a16="http://schemas.microsoft.com/office/drawing/2014/main" id="{50FF0D4D-839A-C6D3-A2F0-A260977D59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5673" y="1550053"/>
                        <a:ext cx="3268662" cy="639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直线连接符 48">
            <a:extLst>
              <a:ext uri="{FF2B5EF4-FFF2-40B4-BE49-F238E27FC236}">
                <a16:creationId xmlns:a16="http://schemas.microsoft.com/office/drawing/2014/main" id="{A84D0C87-9A00-DFEC-FA6C-034E26C96501}"/>
              </a:ext>
            </a:extLst>
          </p:cNvPr>
          <p:cNvCxnSpPr/>
          <p:nvPr/>
        </p:nvCxnSpPr>
        <p:spPr>
          <a:xfrm>
            <a:off x="0" y="931863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8DFCEE29-714C-40B0-7C3A-375B3A551DFF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B050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EBFA0E84-1C55-0432-8E17-3DEEEB8A5E67}"/>
              </a:ext>
            </a:extLst>
          </p:cNvPr>
          <p:cNvSpPr txBox="1">
            <a:spLocks noChangeArrowheads="1"/>
          </p:cNvSpPr>
          <p:nvPr/>
        </p:nvSpPr>
        <p:spPr>
          <a:xfrm>
            <a:off x="1367632" y="242888"/>
            <a:ext cx="6408737" cy="593725"/>
          </a:xfrm>
          <a:prstGeom prst="rect">
            <a:avLst/>
          </a:prstGeom>
          <a:effectLst>
            <a:prstShdw prst="shdw17" dist="17961" dir="2700000">
              <a:srgbClr val="00E4A8">
                <a:gamma/>
                <a:shade val="60000"/>
                <a:invGamma/>
              </a:srgbClr>
            </a:prstShdw>
          </a:effectLst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0" i="0" kern="1200">
                <a:solidFill>
                  <a:schemeClr val="tx2"/>
                </a:solidFill>
                <a:latin typeface="+mj-lt"/>
                <a:ea typeface="KaiTi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华文新魏" panose="02010800040101010101" pitchFamily="2" charset="-122"/>
                <a:cs typeface="+mj-cs"/>
              </a:rPr>
              <a:t>Practice #2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华文新魏" panose="02010800040101010101" pitchFamily="2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9480626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53E01F52-5E9C-99DF-CDF2-D272A70A5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620713"/>
            <a:ext cx="2438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CF01"/>
              </a:solidFill>
              <a:effectLst/>
              <a:uLnTx/>
              <a:uFillTx/>
              <a:latin typeface="Times New Roman" panose="02020603050405020304" pitchFamily="18" charset="0"/>
              <a:ea typeface="KaiTi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867" name="Rectangle 3">
                <a:extLst>
                  <a:ext uri="{FF2B5EF4-FFF2-40B4-BE49-F238E27FC236}">
                    <a16:creationId xmlns:a16="http://schemas.microsoft.com/office/drawing/2014/main" id="{067D74C4-FBBD-DC58-2841-0438F9698C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187" y="1567097"/>
                <a:ext cx="7921625" cy="19431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just" defTabSz="914400" rtl="0" eaLnBrk="0" fontAlgn="base" latinLnBrk="0" hangingPunct="0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    </a:t>
                </a:r>
                <a:r>
                  <a:rPr kumimoji="1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在实际问题或应用中，当</a:t>
                </a:r>
                <a14:m>
                  <m:oMath xmlns:m="http://schemas.openxmlformats.org/officeDocument/2006/math">
                    <m:r>
                      <a:rPr kumimoji="1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𝑿</m:t>
                    </m:r>
                  </m:oMath>
                </a14:m>
                <a:r>
                  <a:rPr kumimoji="1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的取值与</a:t>
                </a:r>
                <a14:m>
                  <m:oMath xmlns:m="http://schemas.openxmlformats.org/officeDocument/2006/math">
                    <m:r>
                      <a:rPr kumimoji="1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𝒀</m:t>
                    </m:r>
                  </m:oMath>
                </a14:m>
                <a:r>
                  <a:rPr kumimoji="1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的取值互不影响时，</a:t>
                </a:r>
                <a:r>
                  <a:rPr kumimoji="1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  <a:sym typeface="Symbol" pitchFamily="2" charset="2"/>
                  </a:rPr>
                  <a:t>我们就认为</a:t>
                </a:r>
                <a14:m>
                  <m:oMath xmlns:m="http://schemas.openxmlformats.org/officeDocument/2006/math">
                    <m:r>
                      <a:rPr kumimoji="1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  <a:sym typeface="Symbol" pitchFamily="2" charset="2"/>
                      </a:rPr>
                      <m:t>𝑿</m:t>
                    </m:r>
                  </m:oMath>
                </a14:m>
                <a:r>
                  <a:rPr kumimoji="1" lang="zh-CN" altLang="zh-CN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  <a:sym typeface="Symbol" pitchFamily="2" charset="2"/>
                  </a:rPr>
                  <a:t>与</a:t>
                </a:r>
                <a14:m>
                  <m:oMath xmlns:m="http://schemas.openxmlformats.org/officeDocument/2006/math">
                    <m:r>
                      <a:rPr kumimoji="1" lang="en-US" altLang="zh-CN" sz="26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  <a:sym typeface="Symbol" pitchFamily="2" charset="2"/>
                      </a:rPr>
                      <m:t>𝒀</m:t>
                    </m:r>
                  </m:oMath>
                </a14:m>
                <a:r>
                  <a:rPr kumimoji="1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  <a:sym typeface="Symbol" pitchFamily="2" charset="2"/>
                  </a:rPr>
                  <a:t>是</a:t>
                </a:r>
                <a:r>
                  <a:rPr kumimoji="1" lang="zh-CN" altLang="zh-CN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  <a:sym typeface="Symbol" pitchFamily="2" charset="2"/>
                  </a:rPr>
                  <a:t>相互独立的，进而把上述定义式当公式运用</a:t>
                </a:r>
                <a:r>
                  <a:rPr kumimoji="1" lang="zh-CN" altLang="en-US" sz="2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  <a:sym typeface="Symbol" pitchFamily="2" charset="2"/>
                  </a:rPr>
                  <a:t>。</a:t>
                </a:r>
                <a:endParaRPr kumimoji="1" lang="en-US" altLang="zh-CN" sz="2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36867" name="Rectangle 3">
                <a:extLst>
                  <a:ext uri="{FF2B5EF4-FFF2-40B4-BE49-F238E27FC236}">
                    <a16:creationId xmlns:a16="http://schemas.microsoft.com/office/drawing/2014/main" id="{067D74C4-FBBD-DC58-2841-0438F9698C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187" y="1567097"/>
                <a:ext cx="7921625" cy="1943100"/>
              </a:xfrm>
              <a:prstGeom prst="rect">
                <a:avLst/>
              </a:prstGeom>
              <a:blipFill>
                <a:blip r:embed="rId2"/>
                <a:stretch>
                  <a:fillRect l="-1442" t="-1948" r="-144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675" name="Rectangle 4">
            <a:extLst>
              <a:ext uri="{FF2B5EF4-FFF2-40B4-BE49-F238E27FC236}">
                <a16:creationId xmlns:a16="http://schemas.microsoft.com/office/drawing/2014/main" id="{A7C205B3-8B5F-130C-2A90-EC05C49A0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1550" y="2636838"/>
            <a:ext cx="2438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CF01"/>
              </a:solidFill>
              <a:effectLst/>
              <a:uLnTx/>
              <a:uFillTx/>
              <a:latin typeface="Times New Roman" panose="02020603050405020304" pitchFamily="18" charset="0"/>
              <a:ea typeface="KaiTi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869" name="Rectangle 5">
                <a:extLst>
                  <a:ext uri="{FF2B5EF4-FFF2-40B4-BE49-F238E27FC236}">
                    <a16:creationId xmlns:a16="http://schemas.microsoft.com/office/drawing/2014/main" id="{4DEEB7EF-98DE-9747-4F6C-ACBB8B453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187" y="4645865"/>
                <a:ext cx="8081709" cy="9541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0" indent="457200" algn="just" defTabSz="9144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在</a:t>
                </a:r>
                <a14:m>
                  <m:oMath xmlns:m="http://schemas.openxmlformats.org/officeDocument/2006/math">
                    <m:r>
                      <a:rPr kumimoji="1" lang="en-US" altLang="zh-CN" sz="28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  <a:sym typeface="Symbol" pitchFamily="2" charset="2"/>
                      </a:rPr>
                      <m:t>𝑿</m:t>
                    </m:r>
                  </m:oMath>
                </a14:m>
                <a:r>
                  <a:rPr kumimoji="1" lang="zh-CN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  <a:sym typeface="Symbol" pitchFamily="2" charset="2"/>
                  </a:rPr>
                  <a:t>与</a:t>
                </a:r>
                <a14:m>
                  <m:oMath xmlns:m="http://schemas.openxmlformats.org/officeDocument/2006/math">
                    <m:r>
                      <a:rPr kumimoji="1" lang="en-US" altLang="zh-CN" sz="28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  <a:sym typeface="Symbol" pitchFamily="2" charset="2"/>
                      </a:rPr>
                      <m:t>𝒀</m:t>
                    </m:r>
                  </m:oMath>
                </a14:m>
                <a:r>
                  <a:rPr kumimoji="1" lang="zh-CN" altLang="en-US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  <a:sym typeface="Symbol" pitchFamily="2" charset="2"/>
                  </a:rPr>
                  <a:t>是</a:t>
                </a:r>
                <a:r>
                  <a:rPr kumimoji="1" lang="zh-CN" altLang="zh-CN" sz="2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  <a:sym typeface="Symbol" pitchFamily="2" charset="2"/>
                  </a:rPr>
                  <a:t>相互独立的前提下</a:t>
                </a:r>
                <a:r>
                  <a:rPr kumimoji="1" lang="zh-CN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  <a:sym typeface="Symbol" pitchFamily="2" charset="2"/>
                  </a:rPr>
                  <a:t>，</a:t>
                </a:r>
                <a:r>
                  <a:rPr kumimoji="1" lang="zh-CN" altLang="en-US" dirty="0">
                    <a:solidFill>
                      <a:srgbClr val="000000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边缘分布可确定联合分布！</a:t>
                </a:r>
              </a:p>
            </p:txBody>
          </p:sp>
        </mc:Choice>
        <mc:Fallback xmlns="">
          <p:sp>
            <p:nvSpPr>
              <p:cNvPr id="36869" name="Rectangle 5">
                <a:extLst>
                  <a:ext uri="{FF2B5EF4-FFF2-40B4-BE49-F238E27FC236}">
                    <a16:creationId xmlns:a16="http://schemas.microsoft.com/office/drawing/2014/main" id="{4DEEB7EF-98DE-9747-4F6C-ACBB8B4539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1187" y="4645865"/>
                <a:ext cx="8081709" cy="954107"/>
              </a:xfrm>
              <a:prstGeom prst="rect">
                <a:avLst/>
              </a:prstGeom>
              <a:blipFill>
                <a:blip r:embed="rId3"/>
                <a:stretch>
                  <a:fillRect l="-1727" t="-7792" r="-1570" b="-1558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6874" name="Object 10">
            <a:extLst>
              <a:ext uri="{FF2B5EF4-FFF2-40B4-BE49-F238E27FC236}">
                <a16:creationId xmlns:a16="http://schemas.microsoft.com/office/drawing/2014/main" id="{B3D94EB7-24DA-83CC-E8DE-227421A904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9712542"/>
              </p:ext>
            </p:extLst>
          </p:nvPr>
        </p:nvGraphicFramePr>
        <p:xfrm>
          <a:off x="2430461" y="3462021"/>
          <a:ext cx="4283075" cy="676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350200" imgH="5270500" progId="Equation.DSMT4">
                  <p:embed/>
                </p:oleObj>
              </mc:Choice>
              <mc:Fallback>
                <p:oleObj name="Equation" r:id="rId4" imgW="33350200" imgH="5270500" progId="Equation.DSMT4">
                  <p:embed/>
                  <p:pic>
                    <p:nvPicPr>
                      <p:cNvPr id="36874" name="Object 10">
                        <a:extLst>
                          <a:ext uri="{FF2B5EF4-FFF2-40B4-BE49-F238E27FC236}">
                            <a16:creationId xmlns:a16="http://schemas.microsoft.com/office/drawing/2014/main" id="{B3D94EB7-24DA-83CC-E8DE-227421A9049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0461" y="3462021"/>
                        <a:ext cx="4283075" cy="676275"/>
                      </a:xfrm>
                      <a:prstGeom prst="rect">
                        <a:avLst/>
                      </a:prstGeom>
                      <a:noFill/>
                      <a:ln w="9525" cap="rnd">
                        <a:solidFill>
                          <a:schemeClr val="tx1"/>
                        </a:solidFill>
                        <a:prstDash val="sysDot"/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76ECEF39-B13D-ED9E-7123-3B7393870808}"/>
              </a:ext>
            </a:extLst>
          </p:cNvPr>
          <p:cNvCxnSpPr/>
          <p:nvPr/>
        </p:nvCxnSpPr>
        <p:spPr>
          <a:xfrm>
            <a:off x="0" y="931863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B61AA926-E024-06A0-28FA-E3953A8EE023}"/>
              </a:ext>
            </a:extLst>
          </p:cNvPr>
          <p:cNvSpPr txBox="1">
            <a:spLocks noChangeArrowheads="1"/>
          </p:cNvSpPr>
          <p:nvPr/>
        </p:nvSpPr>
        <p:spPr>
          <a:xfrm>
            <a:off x="1367632" y="242888"/>
            <a:ext cx="6408737" cy="593725"/>
          </a:xfrm>
          <a:prstGeom prst="rect">
            <a:avLst/>
          </a:prstGeom>
          <a:effectLst>
            <a:prstShdw prst="shdw17" dist="17961" dir="2700000">
              <a:srgbClr val="00E4A8">
                <a:gamma/>
                <a:shade val="60000"/>
                <a:invGamma/>
              </a:srgbClr>
            </a:prstShdw>
          </a:effectLst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0" i="0" kern="1200">
                <a:solidFill>
                  <a:schemeClr val="tx2"/>
                </a:solidFill>
                <a:latin typeface="+mj-lt"/>
                <a:ea typeface="KaiTi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华文新魏" panose="02010800040101010101" pitchFamily="2" charset="-122"/>
                <a:cs typeface="+mj-cs"/>
              </a:rPr>
              <a:t>随机变量的相互独立性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华文新魏" panose="02010800040101010101" pitchFamily="2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535102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6CB7EA-DC65-CFB3-E678-9CA17E133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558" y="1411628"/>
            <a:ext cx="8341052" cy="1904596"/>
          </a:xfrm>
        </p:spPr>
        <p:txBody>
          <a:bodyPr/>
          <a:lstStyle/>
          <a:p>
            <a:pPr marL="0" indent="0" algn="just">
              <a:lnSpc>
                <a:spcPct val="120000"/>
              </a:lnSpc>
              <a:buNone/>
            </a:pPr>
            <a:r>
              <a:rPr lang="zh-CN" altLang="en-US" sz="2400" dirty="0"/>
              <a:t>一负责人到达办公室的时间均匀分布在</a:t>
            </a:r>
            <a:r>
              <a:rPr lang="en-US" altLang="zh-CN" sz="2400" dirty="0"/>
              <a:t>8~12</a:t>
            </a:r>
            <a:r>
              <a:rPr lang="zh-CN" altLang="en-US" sz="2400" dirty="0"/>
              <a:t>时，他的秘书到达办公室的时间均匀分布在</a:t>
            </a:r>
            <a:r>
              <a:rPr lang="en-US" altLang="zh-CN" sz="2400" dirty="0"/>
              <a:t>7~9</a:t>
            </a:r>
            <a:r>
              <a:rPr lang="zh-CN" altLang="en-US" sz="2400" dirty="0"/>
              <a:t>时，设他们两人到达的时间相互独立，求他们到达办公室的时间相差不超过</a:t>
            </a:r>
            <a:r>
              <a:rPr lang="en-US" altLang="zh-CN" sz="2400" dirty="0"/>
              <a:t>5min</a:t>
            </a:r>
            <a:r>
              <a:rPr lang="zh-CN" altLang="en-US" sz="2400" dirty="0"/>
              <a:t>（</a:t>
            </a:r>
            <a:r>
              <a:rPr lang="en-US" altLang="zh-CN" sz="2400" dirty="0"/>
              <a:t>1/12h</a:t>
            </a:r>
            <a:r>
              <a:rPr lang="zh-CN" altLang="en-US" sz="2400" dirty="0"/>
              <a:t>）的概率</a:t>
            </a:r>
            <a:r>
              <a:rPr lang="en-US" altLang="zh-CN" sz="2400" dirty="0"/>
              <a:t>.</a:t>
            </a:r>
          </a:p>
        </p:txBody>
      </p:sp>
      <p:cxnSp>
        <p:nvCxnSpPr>
          <p:cNvPr id="6" name="直线连接符 48">
            <a:extLst>
              <a:ext uri="{FF2B5EF4-FFF2-40B4-BE49-F238E27FC236}">
                <a16:creationId xmlns:a16="http://schemas.microsoft.com/office/drawing/2014/main" id="{404E772E-AB02-30B5-261C-77F7D75AB864}"/>
              </a:ext>
            </a:extLst>
          </p:cNvPr>
          <p:cNvCxnSpPr/>
          <p:nvPr/>
        </p:nvCxnSpPr>
        <p:spPr>
          <a:xfrm>
            <a:off x="0" y="931863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E1A0F67D-A85F-CF2E-17B4-41BA23443E90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AD3C565-D2D7-CCF7-8435-1FE1752CFD6C}"/>
              </a:ext>
            </a:extLst>
          </p:cNvPr>
          <p:cNvSpPr txBox="1">
            <a:spLocks noChangeArrowheads="1"/>
          </p:cNvSpPr>
          <p:nvPr/>
        </p:nvSpPr>
        <p:spPr>
          <a:xfrm>
            <a:off x="1367632" y="242888"/>
            <a:ext cx="6408737" cy="593725"/>
          </a:xfrm>
          <a:prstGeom prst="rect">
            <a:avLst/>
          </a:prstGeom>
          <a:effectLst>
            <a:prstShdw prst="shdw17" dist="17961" dir="2700000">
              <a:srgbClr val="00E4A8">
                <a:gamma/>
                <a:shade val="60000"/>
                <a:invGamma/>
              </a:srgbClr>
            </a:prstShdw>
          </a:effectLst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0" i="0" kern="1200">
                <a:solidFill>
                  <a:schemeClr val="tx2"/>
                </a:solidFill>
                <a:latin typeface="+mj-lt"/>
                <a:ea typeface="KaiTi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华文新魏" panose="02010800040101010101" pitchFamily="2" charset="-122"/>
                <a:cs typeface="+mj-cs"/>
              </a:rPr>
              <a:t>Practice #3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华文新魏" panose="020108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C5F7DE7-630F-0196-225E-5A637A28E23D}"/>
                  </a:ext>
                </a:extLst>
              </p:cNvPr>
              <p:cNvSpPr txBox="1"/>
              <p:nvPr/>
            </p:nvSpPr>
            <p:spPr>
              <a:xfrm>
                <a:off x="531558" y="3520611"/>
                <a:ext cx="7936992" cy="30945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algn="just" defTabSz="9144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</a:pPr>
                <a:r>
                  <a:rPr lang="zh-CN" altLang="en-US" sz="2400" dirty="0">
                    <a:solidFill>
                      <a:srgbClr val="000000"/>
                    </a:solidFill>
                    <a:ea typeface="楷体" panose="02010609060101010101" pitchFamily="49" charset="-122"/>
                  </a:rPr>
                  <a:t>解：设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ea typeface="楷体" panose="02010609060101010101" pitchFamily="49" charset="-122"/>
                  </a:rPr>
                  <a:t>分别是负责人和他的秘书到达办公室的时间，由假设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ea typeface="楷体" panose="02010609060101010101" pitchFamily="49" charset="-122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ea typeface="楷体" panose="02010609060101010101" pitchFamily="49" charset="-122"/>
                  </a:rPr>
                  <a:t>的概率密度分别为：</a:t>
                </a:r>
                <a:endParaRPr lang="en-US" altLang="zh-CN" sz="2400" dirty="0">
                  <a:solidFill>
                    <a:srgbClr val="000000"/>
                  </a:solidFill>
                  <a:ea typeface="楷体" panose="02010609060101010101" pitchFamily="49" charset="-122"/>
                </a:endParaRPr>
              </a:p>
              <a:p>
                <a:pPr lvl="0" algn="just" defTabSz="9144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    8&lt;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&lt;12,</m:t>
                              </m:r>
                            </m:e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0,  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其他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, 7&lt;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&lt;9,</m:t>
                              </m:r>
                            </m:e>
                            <m:e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0,  </m:t>
                              </m:r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其他</m:t>
                              </m:r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400" dirty="0">
                  <a:solidFill>
                    <a:srgbClr val="000000"/>
                  </a:solidFill>
                  <a:ea typeface="楷体" panose="02010609060101010101" pitchFamily="49" charset="-122"/>
                </a:endParaRPr>
              </a:p>
              <a:p>
                <a:pPr lvl="0" algn="just" defTabSz="914400" eaLnBrk="0" fontAlgn="base" hangingPunct="0">
                  <a:lnSpc>
                    <a:spcPct val="12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</a:pPr>
                <a:r>
                  <a:rPr lang="zh-CN" altLang="en-US" sz="2400" dirty="0">
                    <a:solidFill>
                      <a:srgbClr val="000000"/>
                    </a:solidFill>
                    <a:ea typeface="楷体" panose="02010609060101010101" pitchFamily="49" charset="-122"/>
                  </a:rPr>
                  <a:t>因为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𝑌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ea typeface="楷体" panose="02010609060101010101" pitchFamily="49" charset="-122"/>
                  </a:rPr>
                  <a:t>相互独立，故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𝑌</m:t>
                    </m:r>
                    <m:r>
                      <a:rPr lang="en-US" altLang="zh-CN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ea typeface="楷体" panose="02010609060101010101" pitchFamily="49" charset="-122"/>
                  </a:rPr>
                  <a:t>的概率密度为</a:t>
                </a:r>
                <a:endParaRPr lang="en-US" altLang="zh-CN" sz="2400" dirty="0">
                  <a:solidFill>
                    <a:srgbClr val="000000"/>
                  </a:solidFill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2C5F7DE7-630F-0196-225E-5A637A28E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558" y="3520611"/>
                <a:ext cx="7936992" cy="3094501"/>
              </a:xfrm>
              <a:prstGeom prst="rect">
                <a:avLst/>
              </a:prstGeom>
              <a:blipFill>
                <a:blip r:embed="rId2"/>
                <a:stretch>
                  <a:fillRect l="-14537" t="-65574" r="-3994" b="-1307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58613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D6CB7EA-DC65-CFB3-E678-9CA17E1333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3654" y="815215"/>
                <a:ext cx="8854841" cy="3939665"/>
              </a:xfrm>
            </p:spPr>
            <p:txBody>
              <a:bodyPr/>
              <a:lstStyle/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,    8&lt;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&lt;12,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0,  </m:t>
                              </m:r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其他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 , 7&lt;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&lt;9,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0,  </m:t>
                              </m:r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其他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2400" b="0" dirty="0"/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zh-CN" altLang="en-US" sz="2400" dirty="0"/>
                  <a:t>因为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zh-CN" altLang="en-US" sz="2400" dirty="0"/>
                  <a:t>相互独立，故</a:t>
                </a:r>
                <a14:m>
                  <m:oMath xmlns:m="http://schemas.openxmlformats.org/officeDocument/2006/math">
                    <m:r>
                      <a:rPr lang="zh-CN" altLang="en-US" sz="2400" i="1" dirty="0" smtClean="0">
                        <a:latin typeface="Cambria Math" panose="02040503050406030204" pitchFamily="18" charset="0"/>
                      </a:rPr>
                      <m:t>（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）</m:t>
                    </m:r>
                  </m:oMath>
                </a14:m>
                <a:r>
                  <a:rPr lang="zh-CN" altLang="en-US" sz="2400" dirty="0"/>
                  <a:t>的概率密度为</a:t>
                </a:r>
                <a:endParaRPr lang="en-US" altLang="zh-CN" sz="2400" dirty="0"/>
              </a:p>
              <a:p>
                <a:pPr marL="0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den>
                              </m:f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,  8&lt;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&lt;12,7&lt;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&lt;9,</m:t>
                              </m:r>
                            </m:e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0,    </m:t>
                              </m:r>
                              <m:r>
                                <a:rPr lang="zh-CN" altLang="en-US" sz="2400" i="1">
                                  <a:latin typeface="Cambria Math" panose="02040503050406030204" pitchFamily="18" charset="0"/>
                                </a:rPr>
                                <m:t>其他</m:t>
                              </m:r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D6CB7EA-DC65-CFB3-E678-9CA17E1333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3654" y="815215"/>
                <a:ext cx="8854841" cy="3939665"/>
              </a:xfrm>
              <a:blipFill>
                <a:blip r:embed="rId2"/>
                <a:stretch>
                  <a:fillRect l="-8034" t="-73633" b="-1131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1C88C9D2-946F-0205-26F1-767D105E7763}"/>
              </a:ext>
            </a:extLst>
          </p:cNvPr>
          <p:cNvCxnSpPr/>
          <p:nvPr/>
        </p:nvCxnSpPr>
        <p:spPr>
          <a:xfrm>
            <a:off x="0" y="931863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E1BBB982-0150-97E8-FF68-4AB79B0F0E7D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575BCEE-0FC0-C888-7A72-8820806E537D}"/>
              </a:ext>
            </a:extLst>
          </p:cNvPr>
          <p:cNvSpPr txBox="1">
            <a:spLocks noChangeArrowheads="1"/>
          </p:cNvSpPr>
          <p:nvPr/>
        </p:nvSpPr>
        <p:spPr>
          <a:xfrm>
            <a:off x="1367632" y="242888"/>
            <a:ext cx="6408737" cy="593725"/>
          </a:xfrm>
          <a:prstGeom prst="rect">
            <a:avLst/>
          </a:prstGeom>
          <a:effectLst>
            <a:prstShdw prst="shdw17" dist="17961" dir="2700000">
              <a:srgbClr val="00E4A8">
                <a:gamma/>
                <a:shade val="60000"/>
                <a:invGamma/>
              </a:srgbClr>
            </a:prstShdw>
          </a:effectLst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0" i="0" kern="1200">
                <a:solidFill>
                  <a:schemeClr val="tx2"/>
                </a:solidFill>
                <a:latin typeface="+mj-lt"/>
                <a:ea typeface="KaiTi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华文新魏" panose="02010800040101010101" pitchFamily="2" charset="-122"/>
                <a:cs typeface="+mj-cs"/>
              </a:rPr>
              <a:t>Practice #3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华文新魏" panose="020108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4662661-61E9-4EAD-A70D-61002BA2E56B}"/>
                  </a:ext>
                </a:extLst>
              </p:cNvPr>
              <p:cNvSpPr txBox="1"/>
              <p:nvPr/>
            </p:nvSpPr>
            <p:spPr>
              <a:xfrm>
                <a:off x="303654" y="4654049"/>
                <a:ext cx="8755842" cy="22382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按题意需要求概率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楷体"/>
                        <a:cs typeface="+mn-cs"/>
                      </a:rPr>
                      <m:t>𝑃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楷体"/>
                        <a:cs typeface="+mn-cs"/>
                      </a:rPr>
                      <m:t>{|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楷体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楷体"/>
                        <a:cs typeface="+mn-cs"/>
                      </a:rPr>
                      <m:t>−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楷体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楷体"/>
                        <a:cs typeface="+mn-cs"/>
                      </a:rPr>
                      <m:t>|≤1/12}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，画出区域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楷体"/>
                        <a:cs typeface="+mn-cs"/>
                        <a:sym typeface="Wingdings" panose="05000000000000000000" pitchFamily="2" charset="2"/>
                      </a:rPr>
                      <m:t>|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楷体"/>
                        <a:cs typeface="+mn-cs"/>
                        <a:sym typeface="Wingdings" panose="05000000000000000000" pitchFamily="2" charset="2"/>
                      </a:rPr>
                      <m:t>𝑥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楷体"/>
                        <a:cs typeface="+mn-cs"/>
                        <a:sym typeface="Wingdings" panose="05000000000000000000" pitchFamily="2" charset="2"/>
                      </a:rPr>
                      <m:t>−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楷体"/>
                        <a:cs typeface="+mn-cs"/>
                        <a:sym typeface="Wingdings" panose="05000000000000000000" pitchFamily="2" charset="2"/>
                      </a:rPr>
                      <m:t>𝑦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楷体"/>
                        <a:cs typeface="+mn-cs"/>
                        <a:sym typeface="Wingdings" panose="05000000000000000000" pitchFamily="2" charset="2"/>
                      </a:rPr>
                      <m:t>|≤1/12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  <a:sym typeface="Wingdings" panose="05000000000000000000" pitchFamily="2" charset="2"/>
                  </a:rPr>
                  <a:t>，以及长方形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楷体"/>
                            <a:cs typeface="+mn-cs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楷体"/>
                            <a:cs typeface="+mn-cs"/>
                            <a:sym typeface="Wingdings" panose="05000000000000000000" pitchFamily="2" charset="2"/>
                          </a:rPr>
                          <m:t>8&lt;</m:t>
                        </m:r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楷体"/>
                            <a:cs typeface="+mn-cs"/>
                            <a:sym typeface="Wingdings" panose="05000000000000000000" pitchFamily="2" charset="2"/>
                          </a:rPr>
                          <m:t>𝑥</m:t>
                        </m:r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楷体"/>
                            <a:cs typeface="+mn-cs"/>
                            <a:sym typeface="Wingdings" panose="05000000000000000000" pitchFamily="2" charset="2"/>
                          </a:rPr>
                          <m:t>&lt;12;7&lt;</m:t>
                        </m:r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楷体"/>
                            <a:cs typeface="+mn-cs"/>
                            <a:sym typeface="Wingdings" panose="05000000000000000000" pitchFamily="2" charset="2"/>
                          </a:rPr>
                          <m:t>𝑦</m:t>
                        </m:r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楷体"/>
                            <a:cs typeface="+mn-cs"/>
                            <a:sym typeface="Wingdings" panose="05000000000000000000" pitchFamily="2" charset="2"/>
                          </a:rPr>
                          <m:t>&lt;9</m:t>
                        </m:r>
                      </m:e>
                    </m:d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  <a:sym typeface="Wingdings" panose="05000000000000000000" pitchFamily="2" charset="2"/>
                  </a:rPr>
                  <a:t>。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  <a:sym typeface="Wingdings" panose="05000000000000000000" pitchFamily="2" charset="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  <a:sym typeface="Wingdings" panose="05000000000000000000" pitchFamily="2" charset="2"/>
                  </a:rPr>
                  <a:t>它们的公共部分是四边形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  <a:sym typeface="Wingdings" panose="05000000000000000000" pitchFamily="2" charset="2"/>
                  </a:rPr>
                  <a:t>BCC’B’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  <a:sym typeface="Wingdings" panose="05000000000000000000" pitchFamily="2" charset="2"/>
                  </a:rPr>
                  <a:t>，记为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楷体"/>
                        <a:cs typeface="+mn-cs"/>
                        <a:sym typeface="Wingdings" panose="05000000000000000000" pitchFamily="2" charset="2"/>
                      </a:rPr>
                      <m:t>𝐺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  <a:sym typeface="Wingdings" panose="05000000000000000000" pitchFamily="2" charset="2"/>
                  </a:rPr>
                  <a:t>（如图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  <a:sym typeface="Wingdings" panose="05000000000000000000" pitchFamily="2" charset="2"/>
                  </a:rPr>
                  <a:t>3-8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  <a:sym typeface="Wingdings" panose="05000000000000000000" pitchFamily="2" charset="2"/>
                  </a:rPr>
                  <a:t>）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  <a:sym typeface="Wingdings" panose="05000000000000000000" pitchFamily="2" charset="2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  <a:sym typeface="Wingdings" panose="05000000000000000000" pitchFamily="2" charset="2"/>
                  </a:rPr>
                  <a:t>仅当</a:t>
                </a:r>
                <a14:m>
                  <m:oMath xmlns:m="http://schemas.openxmlformats.org/officeDocument/2006/math">
                    <m:r>
                      <a:rPr kumimoji="0" lang="zh-CN" altLang="en-US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楷体"/>
                        <a:cs typeface="+mn-cs"/>
                        <a:sym typeface="Wingdings" panose="05000000000000000000" pitchFamily="2" charset="2"/>
                      </a:rPr>
                      <m:t>（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楷体"/>
                        <a:cs typeface="+mn-cs"/>
                        <a:sym typeface="Wingdings" panose="05000000000000000000" pitchFamily="2" charset="2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楷体"/>
                        <a:cs typeface="+mn-cs"/>
                        <a:sym typeface="Wingdings" panose="05000000000000000000" pitchFamily="2" charset="2"/>
                      </a:rPr>
                      <m:t>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楷体"/>
                        <a:cs typeface="+mn-cs"/>
                        <a:sym typeface="Wingdings" panose="05000000000000000000" pitchFamily="2" charset="2"/>
                      </a:rPr>
                      <m:t>𝑌</m:t>
                    </m:r>
                    <m:r>
                      <a:rPr kumimoji="0" lang="zh-CN" alt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楷体"/>
                        <a:cs typeface="+mn-cs"/>
                        <a:sym typeface="Wingdings" panose="05000000000000000000" pitchFamily="2" charset="2"/>
                      </a:rPr>
                      <m:t>）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  <a:sym typeface="Wingdings" panose="05000000000000000000" pitchFamily="2" charset="2"/>
                  </a:rPr>
                  <a:t>取值于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楷体"/>
                        <a:cs typeface="+mn-cs"/>
                        <a:sym typeface="Wingdings" panose="05000000000000000000" pitchFamily="2" charset="2"/>
                      </a:rPr>
                      <m:t>𝐺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  <a:sym typeface="Wingdings" panose="05000000000000000000" pitchFamily="2" charset="2"/>
                  </a:rPr>
                  <a:t>内，两人到达时间相差不超过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  <a:sym typeface="Wingdings" panose="05000000000000000000" pitchFamily="2" charset="2"/>
                  </a:rPr>
                  <a:t>1/12h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  <a:sym typeface="Wingdings" panose="05000000000000000000" pitchFamily="2" charset="2"/>
                  </a:rPr>
                  <a:t>。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4662661-61E9-4EAD-A70D-61002BA2E5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654" y="4654049"/>
                <a:ext cx="8755842" cy="2238241"/>
              </a:xfrm>
              <a:prstGeom prst="rect">
                <a:avLst/>
              </a:prstGeom>
              <a:blipFill>
                <a:blip r:embed="rId3"/>
                <a:stretch>
                  <a:fillRect l="-1159" b="-56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86879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EEA5205-4981-C66B-D10E-2B591C04D0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51292" y="1681851"/>
                <a:ext cx="8670472" cy="4874079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𝑃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{|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𝑋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𝑌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|≤</m:t>
                    </m:r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n-ea"/>
                          </a:rPr>
                          <m:t>12</m:t>
                        </m:r>
                      </m:den>
                    </m:f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+mn-ea"/>
                        <a:cs typeface="Times New Roman" panose="02020603050405020304" pitchFamily="18" charset="0"/>
                      </a:rPr>
                      <m:t>}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nary>
                      <m:naryPr>
                        <m:chr m:val="∬"/>
                        <m:ctrlPr>
                          <a:rPr lang="en-US" altLang="zh-CN" sz="2400" b="0" i="1" dirty="0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400" b="0" i="1" dirty="0" smtClean="0">
                            <a:latin typeface="Cambria Math" panose="02040503050406030204" pitchFamily="18" charset="0"/>
                            <a:ea typeface="+mn-ea"/>
                          </a:rPr>
                          <m:t>𝐺</m:t>
                        </m:r>
                      </m:sub>
                      <m:sup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+mn-ea"/>
                          </a:rPr>
                          <m:t> </m:t>
                        </m:r>
                      </m:sup>
                      <m:e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+mn-ea"/>
                          </a:rPr>
                          <m:t>𝑓</m:t>
                        </m:r>
                        <m:d>
                          <m:d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+mn-ea"/>
                              </a:rPr>
                              <m:t>𝑥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+mn-ea"/>
                              </a:rPr>
                              <m:t>,</m:t>
                            </m:r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+mn-ea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+mn-ea"/>
                          </a:rPr>
                          <m:t>𝑑𝑥𝑑𝑦</m:t>
                        </m:r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+mn-ea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fPr>
                          <m:num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+mn-ea"/>
                              </a:rPr>
                              <m:t>8</m:t>
                            </m:r>
                          </m:den>
                        </m:f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+mn-ea"/>
                          </a:rPr>
                          <m:t>×</m:t>
                        </m:r>
                        <m:d>
                          <m:dPr>
                            <m:ctrlP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lang="en-US" altLang="zh-CN" sz="2400" b="0" i="1" dirty="0" smtClean="0">
                                <a:latin typeface="Cambria Math" panose="02040503050406030204" pitchFamily="18" charset="0"/>
                                <a:ea typeface="+mn-ea"/>
                              </a:rPr>
                              <m:t>𝐺</m:t>
                            </m:r>
                            <m:r>
                              <a:rPr lang="zh-CN" altLang="en-US" sz="2400" i="1" dirty="0">
                                <a:latin typeface="Cambria Math" panose="02040503050406030204" pitchFamily="18" charset="0"/>
                                <a:ea typeface="+mn-ea"/>
                              </a:rPr>
                              <m:t>的</m:t>
                            </m:r>
                            <m:r>
                              <a:rPr lang="zh-CN" altLang="en-US" sz="2400" i="1" dirty="0" smtClean="0">
                                <a:latin typeface="Cambria Math" panose="02040503050406030204" pitchFamily="18" charset="0"/>
                                <a:ea typeface="+mn-ea"/>
                              </a:rPr>
                              <m:t>面积</m:t>
                            </m:r>
                          </m:e>
                        </m:d>
                        <m:r>
                          <a:rPr lang="en-US" altLang="zh-CN" sz="2400" b="0" i="1" dirty="0" smtClean="0">
                            <a:latin typeface="Cambria Math" panose="02040503050406030204" pitchFamily="18" charset="0"/>
                            <a:ea typeface="+mn-ea"/>
                          </a:rPr>
                          <m:t>. </m:t>
                        </m:r>
                      </m:e>
                    </m:nary>
                  </m:oMath>
                </a14:m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 </a:t>
                </a:r>
                <a:endParaRPr lang="en-US" altLang="zh-CN" sz="24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而 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G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的面积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=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三角形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ABC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的面积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-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三角形</a:t>
                </a:r>
                <a:r>
                  <a:rPr lang="en-US" altLang="zh-CN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AB’C’</a:t>
                </a:r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的面积</a:t>
                </a:r>
                <a:endParaRPr lang="en-US" altLang="zh-CN" sz="24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4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num>
                      <m:den>
                        <m: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n-ea"/>
                          </a:rPr>
                          <m:t>(</m:t>
                        </m:r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  <m:t>13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  <m:t>12</m:t>
                            </m:r>
                          </m:den>
                        </m:f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n-ea"/>
                          </a:rPr>
                          <m:t>)</m:t>
                        </m:r>
                      </m:e>
                      <m:sup>
                        <m:r>
                          <a:rPr lang="en-US" altLang="zh-CN" sz="2400" i="1"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+mn-ea"/>
                      </a:rPr>
                      <m:t>−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  <m:t>11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  <m:t>12</m:t>
                            </m:r>
                          </m:den>
                        </m:f>
                      </m:e>
                      <m:sup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n-ea"/>
                          </a:rPr>
                          <m:t>2</m:t>
                        </m:r>
                      </m:sup>
                    </m:sSup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n-ea"/>
                          </a:rPr>
                          <m:t>6</m:t>
                        </m:r>
                      </m:den>
                    </m:f>
                    <m:r>
                      <a:rPr lang="en-US" altLang="zh-CN" sz="2400" i="1">
                        <a:latin typeface="Cambria Math" panose="02040503050406030204" pitchFamily="18" charset="0"/>
                        <a:ea typeface="+mn-ea"/>
                      </a:rPr>
                      <m:t>.</m:t>
                    </m:r>
                  </m:oMath>
                </a14:m>
                <a:endParaRPr lang="en-US" altLang="zh-CN" sz="2400" dirty="0"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400" dirty="0"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于是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+mn-ea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  <m:t>𝑋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  <m:t>−</m:t>
                            </m:r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  <m:t>𝑌</m:t>
                            </m:r>
                          </m:e>
                        </m:d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n-ea"/>
                          </a:rPr>
                          <m:t>≤</m:t>
                        </m:r>
                        <m:f>
                          <m:f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+mn-ea"/>
                              </a:rPr>
                              <m:t>12</m:t>
                            </m:r>
                          </m:den>
                        </m:f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+mn-ea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n-ea"/>
                          </a:rPr>
                          <m:t>1</m:t>
                        </m:r>
                      </m:num>
                      <m:den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+mn-ea"/>
                          </a:rPr>
                          <m:t>48</m:t>
                        </m:r>
                      </m:den>
                    </m:f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+mn-ea"/>
                      </a:rPr>
                      <m:t>.   </m:t>
                    </m:r>
                  </m:oMath>
                </a14:m>
                <a:endParaRPr lang="en-US" altLang="zh-CN" sz="2400" b="0" dirty="0">
                  <a:latin typeface="Times New Roman" panose="02020603050405020304" pitchFamily="18" charset="0"/>
                  <a:ea typeface="+mn-ea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400" b="0" dirty="0">
                  <a:latin typeface="Times New Roman" panose="02020603050405020304" pitchFamily="18" charset="0"/>
                  <a:ea typeface="+mn-ea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EEA5205-4981-C66B-D10E-2B591C04D0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51292" y="1681851"/>
                <a:ext cx="8670472" cy="4874079"/>
              </a:xfrm>
              <a:blipFill>
                <a:blip r:embed="rId2"/>
                <a:stretch>
                  <a:fillRect l="-1171" t="-96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>
            <a:extLst>
              <a:ext uri="{FF2B5EF4-FFF2-40B4-BE49-F238E27FC236}">
                <a16:creationId xmlns:a16="http://schemas.microsoft.com/office/drawing/2014/main" id="{016C779A-6599-B7FA-7CB4-2261FCA2CBF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9188" t="27951" r="17788" b="34982"/>
          <a:stretch/>
        </p:blipFill>
        <p:spPr>
          <a:xfrm>
            <a:off x="5190753" y="3197352"/>
            <a:ext cx="3026654" cy="2374392"/>
          </a:xfrm>
          <a:prstGeom prst="rect">
            <a:avLst/>
          </a:prstGeom>
        </p:spPr>
      </p:pic>
      <p:cxnSp>
        <p:nvCxnSpPr>
          <p:cNvPr id="4" name="直线连接符 48">
            <a:extLst>
              <a:ext uri="{FF2B5EF4-FFF2-40B4-BE49-F238E27FC236}">
                <a16:creationId xmlns:a16="http://schemas.microsoft.com/office/drawing/2014/main" id="{3C562DD8-2A6A-112C-2789-85C5EAB10E2C}"/>
              </a:ext>
            </a:extLst>
          </p:cNvPr>
          <p:cNvCxnSpPr/>
          <p:nvPr/>
        </p:nvCxnSpPr>
        <p:spPr>
          <a:xfrm>
            <a:off x="0" y="931863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BA8CA339-979C-2253-1197-C64205B9E7A8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5679442-4527-A8A2-8538-7ABEDAF672AB}"/>
              </a:ext>
            </a:extLst>
          </p:cNvPr>
          <p:cNvSpPr txBox="1">
            <a:spLocks noChangeArrowheads="1"/>
          </p:cNvSpPr>
          <p:nvPr/>
        </p:nvSpPr>
        <p:spPr>
          <a:xfrm>
            <a:off x="1367632" y="242888"/>
            <a:ext cx="6408737" cy="593725"/>
          </a:xfrm>
          <a:prstGeom prst="rect">
            <a:avLst/>
          </a:prstGeom>
          <a:effectLst>
            <a:prstShdw prst="shdw17" dist="17961" dir="2700000">
              <a:srgbClr val="00E4A8">
                <a:gamma/>
                <a:shade val="60000"/>
                <a:invGamma/>
              </a:srgbClr>
            </a:prstShdw>
          </a:effectLst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0" i="0" kern="1200">
                <a:solidFill>
                  <a:schemeClr val="tx2"/>
                </a:solidFill>
                <a:latin typeface="+mj-lt"/>
                <a:ea typeface="KaiTi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华文新魏" panose="02010800040101010101" pitchFamily="2" charset="-122"/>
                <a:cs typeface="+mj-cs"/>
              </a:rPr>
              <a:t>Practice #3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华文新魏" panose="02010800040101010101" pitchFamily="2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02889421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938" name="Text Box 2">
                <a:extLst>
                  <a:ext uri="{FF2B5EF4-FFF2-40B4-BE49-F238E27FC236}">
                    <a16:creationId xmlns:a16="http://schemas.microsoft.com/office/drawing/2014/main" id="{664B0986-01D5-0A9F-5C1E-5EE19EA5CF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1000" y="231775"/>
                <a:ext cx="4017190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例</a:t>
                </a:r>
                <a:r>
                  <a:rPr kumimoji="1" lang="en-US" altLang="zh-CN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  </a:t>
                </a:r>
                <a:r>
                  <a:rPr kumimoji="1" lang="zh-CN" altLang="en-US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设</a:t>
                </a:r>
                <a14:m>
                  <m:oMath xmlns:m="http://schemas.openxmlformats.org/officeDocument/2006/math">
                    <m:r>
                      <a:rPr kumimoji="1" lang="en-US" altLang="zh-CN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(</m:t>
                    </m:r>
                    <m:r>
                      <a:rPr kumimoji="1" lang="en-US" altLang="zh-CN" sz="2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𝑋</m:t>
                    </m:r>
                    <m:r>
                      <a:rPr kumimoji="1" lang="en-US" altLang="zh-CN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,</m:t>
                    </m:r>
                    <m:r>
                      <a:rPr kumimoji="1" lang="en-US" altLang="zh-CN" sz="2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𝑌</m:t>
                    </m:r>
                    <m:r>
                      <a:rPr kumimoji="1" lang="en-US" altLang="zh-CN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)</m:t>
                    </m:r>
                  </m:oMath>
                </a14:m>
                <a:r>
                  <a:rPr kumimoji="1" lang="zh-CN" altLang="en-US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的概率密度为</a:t>
                </a:r>
              </a:p>
            </p:txBody>
          </p:sp>
        </mc:Choice>
        <mc:Fallback xmlns="">
          <p:sp>
            <p:nvSpPr>
              <p:cNvPr id="39938" name="Text Box 2">
                <a:extLst>
                  <a:ext uri="{FF2B5EF4-FFF2-40B4-BE49-F238E27FC236}">
                    <a16:creationId xmlns:a16="http://schemas.microsoft.com/office/drawing/2014/main" id="{664B0986-01D5-0A9F-5C1E-5EE19EA5C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231775"/>
                <a:ext cx="4017190" cy="492443"/>
              </a:xfrm>
              <a:prstGeom prst="rect">
                <a:avLst/>
              </a:prstGeom>
              <a:blipFill>
                <a:blip r:embed="rId2"/>
                <a:stretch>
                  <a:fillRect l="-2839" t="-15000" r="-1577" b="-25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9939" name="Object 3">
            <a:extLst>
              <a:ext uri="{FF2B5EF4-FFF2-40B4-BE49-F238E27FC236}">
                <a16:creationId xmlns:a16="http://schemas.microsoft.com/office/drawing/2014/main" id="{A4F8579D-7EA8-B93B-F7A4-AADB07B38F1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0401829"/>
              </p:ext>
            </p:extLst>
          </p:nvPr>
        </p:nvGraphicFramePr>
        <p:xfrm>
          <a:off x="1389316" y="840846"/>
          <a:ext cx="4492384" cy="1112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7688500" imgH="11112500" progId="Equation.DSMT4">
                  <p:embed/>
                </p:oleObj>
              </mc:Choice>
              <mc:Fallback>
                <p:oleObj name="Equation" r:id="rId3" imgW="47688500" imgH="11112500" progId="Equation.DSMT4">
                  <p:embed/>
                  <p:pic>
                    <p:nvPicPr>
                      <p:cNvPr id="39939" name="Object 3">
                        <a:extLst>
                          <a:ext uri="{FF2B5EF4-FFF2-40B4-BE49-F238E27FC236}">
                            <a16:creationId xmlns:a16="http://schemas.microsoft.com/office/drawing/2014/main" id="{A4F8579D-7EA8-B93B-F7A4-AADB07B38F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9316" y="840846"/>
                        <a:ext cx="4492384" cy="11127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9940" name="Text Box 4">
                <a:extLst>
                  <a:ext uri="{FF2B5EF4-FFF2-40B4-BE49-F238E27FC236}">
                    <a16:creationId xmlns:a16="http://schemas.microsoft.com/office/drawing/2014/main" id="{1E823E37-37F1-0781-57FE-28D8366DB0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1000" y="2070221"/>
                <a:ext cx="8178800" cy="148361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求 </a:t>
                </a:r>
                <a:r>
                  <a:rPr kumimoji="1" lang="en-US" altLang="zh-CN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 </a:t>
                </a:r>
                <a:r>
                  <a:rPr kumimoji="1" lang="en-US" altLang="zh-CN" sz="2600" b="0" dirty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1.</a:t>
                </a:r>
                <a:r>
                  <a:rPr kumimoji="1" lang="en-US" altLang="zh-CN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𝑃</m:t>
                    </m:r>
                    <m:r>
                      <a:rPr kumimoji="1" lang="en-US" altLang="zh-CN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(0≤</m:t>
                    </m:r>
                    <m:r>
                      <a:rPr kumimoji="1" lang="en-US" altLang="zh-CN" sz="2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  <m:r>
                      <a:rPr kumimoji="1" lang="en-US" altLang="zh-CN" sz="2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≤1 </m:t>
                    </m:r>
                    <m:r>
                      <a:rPr kumimoji="1" lang="zh-CN" altLang="en-US" sz="2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，</m:t>
                    </m:r>
                    <m:r>
                      <a:rPr kumimoji="1" lang="en-US" altLang="zh-CN" sz="2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0≤</m:t>
                    </m:r>
                    <m:r>
                      <a:rPr kumimoji="1" lang="en-US" altLang="zh-CN" sz="2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𝑌</m:t>
                    </m:r>
                    <m:r>
                      <a:rPr kumimoji="1" lang="en-US" altLang="zh-CN" sz="2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≤1)</m:t>
                    </m:r>
                  </m:oMath>
                </a14:m>
                <a:endParaRPr kumimoji="1" lang="zh-CN" altLang="en-US" sz="2600" b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   </a:t>
                </a:r>
                <a:r>
                  <a:rPr kumimoji="1" lang="en-US" altLang="zh-CN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 </a:t>
                </a:r>
                <a:r>
                  <a:rPr kumimoji="1" lang="en-US" altLang="zh-CN" sz="2600" b="0" dirty="0">
                    <a:solidFill>
                      <a:srgbClr val="000000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2.</a:t>
                </a:r>
                <a:r>
                  <a:rPr kumimoji="1" lang="en-US" altLang="zh-CN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kumimoji="1" lang="en-US" altLang="zh-CN" sz="2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  <m:r>
                      <a:rPr kumimoji="1" lang="en-US" altLang="zh-CN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,</m:t>
                    </m:r>
                    <m:r>
                      <a:rPr kumimoji="1" lang="en-US" altLang="zh-CN" sz="2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𝑌</m:t>
                    </m:r>
                    <m:r>
                      <a:rPr kumimoji="1" lang="en-US" altLang="zh-CN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的边缘概率密度， 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  </a:t>
                </a:r>
                <a:r>
                  <a:rPr kumimoji="1" lang="en-US" altLang="zh-CN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  </a:t>
                </a:r>
                <a:r>
                  <a:rPr kumimoji="1" lang="en-US" altLang="zh-CN" sz="2600" b="0" dirty="0">
                    <a:solidFill>
                      <a:srgbClr val="000000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3. </a:t>
                </a:r>
                <a:r>
                  <a:rPr kumimoji="1" lang="zh-CN" altLang="en-US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判断</a:t>
                </a:r>
                <a14:m>
                  <m:oMath xmlns:m="http://schemas.openxmlformats.org/officeDocument/2006/math">
                    <m:r>
                      <a:rPr kumimoji="1" lang="en-US" altLang="zh-CN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  <m:r>
                      <a:rPr kumimoji="1" lang="zh-CN" altLang="en-US" sz="2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、</m:t>
                    </m:r>
                    <m:r>
                      <a:rPr kumimoji="1" lang="en-US" altLang="zh-CN" sz="2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𝑌</m:t>
                    </m:r>
                  </m:oMath>
                </a14:m>
                <a:r>
                  <a:rPr kumimoji="1" lang="zh-CN" altLang="en-US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是否独立。</a:t>
                </a:r>
              </a:p>
            </p:txBody>
          </p:sp>
        </mc:Choice>
        <mc:Fallback xmlns="">
          <p:sp>
            <p:nvSpPr>
              <p:cNvPr id="39940" name="Text Box 4">
                <a:extLst>
                  <a:ext uri="{FF2B5EF4-FFF2-40B4-BE49-F238E27FC236}">
                    <a16:creationId xmlns:a16="http://schemas.microsoft.com/office/drawing/2014/main" id="{1E823E37-37F1-0781-57FE-28D8366DB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2070221"/>
                <a:ext cx="8178800" cy="1483611"/>
              </a:xfrm>
              <a:prstGeom prst="rect">
                <a:avLst/>
              </a:prstGeom>
              <a:blipFill>
                <a:blip r:embed="rId5"/>
                <a:stretch>
                  <a:fillRect l="-1398" t="-3419" b="-854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941" name="Text Box 5">
                <a:extLst>
                  <a:ext uri="{FF2B5EF4-FFF2-40B4-BE49-F238E27FC236}">
                    <a16:creationId xmlns:a16="http://schemas.microsoft.com/office/drawing/2014/main" id="{362B9AB2-32CF-3EF8-DD46-6B5C22D87F7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1000" y="3971872"/>
                <a:ext cx="8604250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解</a:t>
                </a:r>
                <a:r>
                  <a:rPr kumimoji="1" lang="zh-CN" altLang="en-US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  </a:t>
                </a:r>
                <a:r>
                  <a:rPr kumimoji="1" lang="en-US" altLang="zh-CN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1.</a:t>
                </a:r>
                <a:r>
                  <a:rPr kumimoji="1" lang="zh-CN" altLang="en-US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 设</a:t>
                </a:r>
                <a14:m>
                  <m:oMath xmlns:m="http://schemas.openxmlformats.org/officeDocument/2006/math">
                    <m:r>
                      <a:rPr kumimoji="1" lang="en-US" altLang="zh-CN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𝐴</m:t>
                    </m:r>
                    <m:r>
                      <a:rPr kumimoji="1" lang="en-US" altLang="zh-CN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={(</m:t>
                    </m:r>
                    <m:r>
                      <a:rPr kumimoji="1" lang="en-US" altLang="zh-CN" sz="2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𝑥</m:t>
                    </m:r>
                    <m:r>
                      <a:rPr kumimoji="1" lang="zh-CN" altLang="en-US" sz="2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，</m:t>
                    </m:r>
                    <m:r>
                      <a:rPr kumimoji="1" lang="en-US" altLang="zh-CN" sz="2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𝑦</m:t>
                    </m:r>
                    <m:r>
                      <a:rPr kumimoji="1" lang="en-US" altLang="zh-CN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)</m:t>
                    </m:r>
                    <m:r>
                      <a:rPr kumimoji="1" lang="zh-CN" altLang="en-US" sz="2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：</m:t>
                    </m:r>
                    <m:r>
                      <a:rPr kumimoji="1" lang="en-US" altLang="zh-CN" sz="2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0≤</m:t>
                    </m:r>
                    <m:r>
                      <a:rPr kumimoji="1" lang="en-US" altLang="zh-CN" sz="2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𝑥</m:t>
                    </m:r>
                    <m:r>
                      <a:rPr kumimoji="1" lang="en-US" altLang="zh-CN" sz="2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≤1, 0≤</m:t>
                    </m:r>
                    <m:r>
                      <a:rPr kumimoji="1" lang="en-US" altLang="zh-CN" sz="2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𝑦</m:t>
                    </m:r>
                    <m:r>
                      <a:rPr kumimoji="1" lang="en-US" altLang="zh-CN" sz="2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≤1}</m:t>
                    </m:r>
                  </m:oMath>
                </a14:m>
                <a:endParaRPr kumimoji="1" lang="en-US" altLang="zh-CN" sz="2600" b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39941" name="Text Box 5">
                <a:extLst>
                  <a:ext uri="{FF2B5EF4-FFF2-40B4-BE49-F238E27FC236}">
                    <a16:creationId xmlns:a16="http://schemas.microsoft.com/office/drawing/2014/main" id="{362B9AB2-32CF-3EF8-DD46-6B5C22D87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3971872"/>
                <a:ext cx="8604250" cy="492443"/>
              </a:xfrm>
              <a:prstGeom prst="rect">
                <a:avLst/>
              </a:prstGeom>
              <a:blipFill>
                <a:blip r:embed="rId6"/>
                <a:stretch>
                  <a:fillRect l="-1327" t="-12500" b="-25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9943" name="Object 7">
            <a:extLst>
              <a:ext uri="{FF2B5EF4-FFF2-40B4-BE49-F238E27FC236}">
                <a16:creationId xmlns:a16="http://schemas.microsoft.com/office/drawing/2014/main" id="{9D5097A6-A150-FC11-5D61-28851BCDD1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7084694"/>
              </p:ext>
            </p:extLst>
          </p:nvPr>
        </p:nvGraphicFramePr>
        <p:xfrm>
          <a:off x="1581149" y="4894784"/>
          <a:ext cx="5501513" cy="878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8801000" imgH="9067800" progId="Equation.DSMT4">
                  <p:embed/>
                </p:oleObj>
              </mc:Choice>
              <mc:Fallback>
                <p:oleObj name="Equation" r:id="rId7" imgW="58801000" imgH="9067800" progId="Equation.DSMT4">
                  <p:embed/>
                  <p:pic>
                    <p:nvPicPr>
                      <p:cNvPr id="39943" name="Object 7">
                        <a:extLst>
                          <a:ext uri="{FF2B5EF4-FFF2-40B4-BE49-F238E27FC236}">
                            <a16:creationId xmlns:a16="http://schemas.microsoft.com/office/drawing/2014/main" id="{9D5097A6-A150-FC11-5D61-28851BCDD1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1149" y="4894784"/>
                        <a:ext cx="5501513" cy="8782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944" name="Object 8">
            <a:extLst>
              <a:ext uri="{FF2B5EF4-FFF2-40B4-BE49-F238E27FC236}">
                <a16:creationId xmlns:a16="http://schemas.microsoft.com/office/drawing/2014/main" id="{68BB386D-DB41-F789-E2C4-2443BAC85E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3550826"/>
              </p:ext>
            </p:extLst>
          </p:nvPr>
        </p:nvGraphicFramePr>
        <p:xfrm>
          <a:off x="1581149" y="5649497"/>
          <a:ext cx="5195188" cy="7353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52082700" imgH="7607300" progId="Equation.DSMT4">
                  <p:embed/>
                </p:oleObj>
              </mc:Choice>
              <mc:Fallback>
                <p:oleObj name="Equation" r:id="rId9" imgW="52082700" imgH="7607300" progId="Equation.DSMT4">
                  <p:embed/>
                  <p:pic>
                    <p:nvPicPr>
                      <p:cNvPr id="39944" name="Object 8">
                        <a:extLst>
                          <a:ext uri="{FF2B5EF4-FFF2-40B4-BE49-F238E27FC236}">
                            <a16:creationId xmlns:a16="http://schemas.microsoft.com/office/drawing/2014/main" id="{68BB386D-DB41-F789-E2C4-2443BAC85E1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1149" y="5649497"/>
                        <a:ext cx="5195188" cy="73531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9953" name="Group 17">
            <a:extLst>
              <a:ext uri="{FF2B5EF4-FFF2-40B4-BE49-F238E27FC236}">
                <a16:creationId xmlns:a16="http://schemas.microsoft.com/office/drawing/2014/main" id="{65931CAB-E375-19B7-0649-694102EF616E}"/>
              </a:ext>
            </a:extLst>
          </p:cNvPr>
          <p:cNvGrpSpPr>
            <a:grpSpLocks/>
          </p:cNvGrpSpPr>
          <p:nvPr/>
        </p:nvGrpSpPr>
        <p:grpSpPr bwMode="auto">
          <a:xfrm>
            <a:off x="7164388" y="1773238"/>
            <a:ext cx="1727200" cy="1684338"/>
            <a:chOff x="4332" y="1071"/>
            <a:chExt cx="1088" cy="1061"/>
          </a:xfrm>
        </p:grpSpPr>
        <p:grpSp>
          <p:nvGrpSpPr>
            <p:cNvPr id="31752" name="Group 14">
              <a:extLst>
                <a:ext uri="{FF2B5EF4-FFF2-40B4-BE49-F238E27FC236}">
                  <a16:creationId xmlns:a16="http://schemas.microsoft.com/office/drawing/2014/main" id="{330573A7-6EDA-3458-BCE5-5C3121FCC6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32" y="1071"/>
              <a:ext cx="1088" cy="998"/>
              <a:chOff x="4332" y="1071"/>
              <a:chExt cx="1088" cy="998"/>
            </a:xfrm>
          </p:grpSpPr>
          <p:sp>
            <p:nvSpPr>
              <p:cNvPr id="31755" name="Line 9">
                <a:extLst>
                  <a:ext uri="{FF2B5EF4-FFF2-40B4-BE49-F238E27FC236}">
                    <a16:creationId xmlns:a16="http://schemas.microsoft.com/office/drawing/2014/main" id="{BB83A58C-E349-DA64-5766-55703B35D0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2" y="1842"/>
                <a:ext cx="1088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6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+mn-cs"/>
                </a:endParaRPr>
              </a:p>
            </p:txBody>
          </p:sp>
          <p:sp>
            <p:nvSpPr>
              <p:cNvPr id="31756" name="Line 10">
                <a:extLst>
                  <a:ext uri="{FF2B5EF4-FFF2-40B4-BE49-F238E27FC236}">
                    <a16:creationId xmlns:a16="http://schemas.microsoft.com/office/drawing/2014/main" id="{52F5A5A5-EA6A-2A48-8CD6-7E45B0CB72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04" y="1071"/>
                <a:ext cx="0" cy="99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60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+mn-cs"/>
                </a:endParaRPr>
              </a:p>
            </p:txBody>
          </p:sp>
          <p:sp>
            <p:nvSpPr>
              <p:cNvPr id="31757" name="Rectangle 13">
                <a:extLst>
                  <a:ext uri="{FF2B5EF4-FFF2-40B4-BE49-F238E27FC236}">
                    <a16:creationId xmlns:a16="http://schemas.microsoft.com/office/drawing/2014/main" id="{05B1B4B3-48CF-ACA5-321A-A0C82AFED9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4" y="1480"/>
                <a:ext cx="363" cy="363"/>
              </a:xfrm>
              <a:prstGeom prst="rect">
                <a:avLst/>
              </a:prstGeom>
              <a:solidFill>
                <a:srgbClr val="00FF00"/>
              </a:solidFill>
              <a:ln w="2857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600" b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31753" name="Text Box 15">
              <a:extLst>
                <a:ext uri="{FF2B5EF4-FFF2-40B4-BE49-F238E27FC236}">
                  <a16:creationId xmlns:a16="http://schemas.microsoft.com/office/drawing/2014/main" id="{B574CF7D-8DEE-2A61-5E90-06B3B08DAF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3" y="1822"/>
              <a:ext cx="221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600" b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+mn-cs"/>
                </a:rPr>
                <a:t>1</a:t>
              </a:r>
            </a:p>
          </p:txBody>
        </p:sp>
        <p:sp>
          <p:nvSpPr>
            <p:cNvPr id="31754" name="Text Box 16">
              <a:extLst>
                <a:ext uri="{FF2B5EF4-FFF2-40B4-BE49-F238E27FC236}">
                  <a16:creationId xmlns:a16="http://schemas.microsoft.com/office/drawing/2014/main" id="{B60597EA-F04D-48DE-5F65-70A0FC327F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3" y="1344"/>
              <a:ext cx="221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600" b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+mn-cs"/>
                </a:rPr>
                <a:t>1</a:t>
              </a:r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A568F77A-7320-860B-2A62-C97B97627B97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4725FC8-B9AF-6E38-C4B8-2FCEF4B362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0753" y="2102927"/>
            <a:ext cx="6445019" cy="47705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9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962" name="Object 2">
            <a:extLst>
              <a:ext uri="{FF2B5EF4-FFF2-40B4-BE49-F238E27FC236}">
                <a16:creationId xmlns:a16="http://schemas.microsoft.com/office/drawing/2014/main" id="{A4353DE0-17FF-A4C6-DBC8-BD7CC8A26A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6183401"/>
              </p:ext>
            </p:extLst>
          </p:nvPr>
        </p:nvGraphicFramePr>
        <p:xfrm>
          <a:off x="1072610" y="2979304"/>
          <a:ext cx="2962941" cy="772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1889700" imgH="7607300" progId="Equation.DSMT4">
                  <p:embed/>
                </p:oleObj>
              </mc:Choice>
              <mc:Fallback>
                <p:oleObj name="Equation" r:id="rId2" imgW="31889700" imgH="7607300" progId="Equation.DSMT4">
                  <p:embed/>
                  <p:pic>
                    <p:nvPicPr>
                      <p:cNvPr id="40962" name="Object 2">
                        <a:extLst>
                          <a:ext uri="{FF2B5EF4-FFF2-40B4-BE49-F238E27FC236}">
                            <a16:creationId xmlns:a16="http://schemas.microsoft.com/office/drawing/2014/main" id="{A4353DE0-17FF-A4C6-DBC8-BD7CC8A26A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2610" y="2979304"/>
                        <a:ext cx="2962941" cy="7720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63" name="Object 3">
            <a:extLst>
              <a:ext uri="{FF2B5EF4-FFF2-40B4-BE49-F238E27FC236}">
                <a16:creationId xmlns:a16="http://schemas.microsoft.com/office/drawing/2014/main" id="{F9157EDD-0844-E811-2AB9-379D006734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7517433"/>
              </p:ext>
            </p:extLst>
          </p:nvPr>
        </p:nvGraphicFramePr>
        <p:xfrm>
          <a:off x="2125378" y="5462016"/>
          <a:ext cx="2962941" cy="9887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394900" imgH="11112500" progId="Equation.DSMT4">
                  <p:embed/>
                </p:oleObj>
              </mc:Choice>
              <mc:Fallback>
                <p:oleObj name="Equation" r:id="rId4" imgW="35394900" imgH="11112500" progId="Equation.DSMT4">
                  <p:embed/>
                  <p:pic>
                    <p:nvPicPr>
                      <p:cNvPr id="40963" name="Object 3">
                        <a:extLst>
                          <a:ext uri="{FF2B5EF4-FFF2-40B4-BE49-F238E27FC236}">
                            <a16:creationId xmlns:a16="http://schemas.microsoft.com/office/drawing/2014/main" id="{F9157EDD-0844-E811-2AB9-379D0067349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5378" y="5462016"/>
                        <a:ext cx="2962941" cy="9887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967" name="Group 7">
            <a:extLst>
              <a:ext uri="{FF2B5EF4-FFF2-40B4-BE49-F238E27FC236}">
                <a16:creationId xmlns:a16="http://schemas.microsoft.com/office/drawing/2014/main" id="{0C139A49-428B-011D-3F63-AD5A378F96A3}"/>
              </a:ext>
            </a:extLst>
          </p:cNvPr>
          <p:cNvGrpSpPr>
            <a:grpSpLocks/>
          </p:cNvGrpSpPr>
          <p:nvPr/>
        </p:nvGrpSpPr>
        <p:grpSpPr bwMode="auto">
          <a:xfrm>
            <a:off x="980315" y="3912734"/>
            <a:ext cx="1851356" cy="492734"/>
            <a:chOff x="554" y="1550"/>
            <a:chExt cx="1365" cy="312"/>
          </a:xfrm>
        </p:grpSpPr>
        <p:sp>
          <p:nvSpPr>
            <p:cNvPr id="32782" name="Text Box 5">
              <a:extLst>
                <a:ext uri="{FF2B5EF4-FFF2-40B4-BE49-F238E27FC236}">
                  <a16:creationId xmlns:a16="http://schemas.microsoft.com/office/drawing/2014/main" id="{7DFC97DB-3ADC-C613-D960-3B7659A5C0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" y="1550"/>
              <a:ext cx="1365" cy="3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+mn-cs"/>
                </a:rPr>
                <a:t>当            时</a:t>
              </a:r>
            </a:p>
          </p:txBody>
        </p:sp>
        <p:graphicFrame>
          <p:nvGraphicFramePr>
            <p:cNvPr id="32783" name="Object 6">
              <a:extLst>
                <a:ext uri="{FF2B5EF4-FFF2-40B4-BE49-F238E27FC236}">
                  <a16:creationId xmlns:a16="http://schemas.microsoft.com/office/drawing/2014/main" id="{8B7BE81D-73F7-EFDC-A110-DF535D78713C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3687077"/>
                </p:ext>
              </p:extLst>
            </p:nvPr>
          </p:nvGraphicFramePr>
          <p:xfrm>
            <a:off x="930" y="1557"/>
            <a:ext cx="623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8191500" imgH="4102100" progId="Equation.DSMT4">
                    <p:embed/>
                  </p:oleObj>
                </mc:Choice>
                <mc:Fallback>
                  <p:oleObj name="Equation" r:id="rId6" imgW="8191500" imgH="4102100" progId="Equation.DSMT4">
                    <p:embed/>
                    <p:pic>
                      <p:nvPicPr>
                        <p:cNvPr id="32783" name="Object 6">
                          <a:extLst>
                            <a:ext uri="{FF2B5EF4-FFF2-40B4-BE49-F238E27FC236}">
                              <a16:creationId xmlns:a16="http://schemas.microsoft.com/office/drawing/2014/main" id="{8B7BE81D-73F7-EFDC-A110-DF535D78713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" y="1557"/>
                          <a:ext cx="623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968" name="Object 8">
            <a:extLst>
              <a:ext uri="{FF2B5EF4-FFF2-40B4-BE49-F238E27FC236}">
                <a16:creationId xmlns:a16="http://schemas.microsoft.com/office/drawing/2014/main" id="{861857D8-2349-FE31-BFD5-87089F670E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0563490"/>
              </p:ext>
            </p:extLst>
          </p:nvPr>
        </p:nvGraphicFramePr>
        <p:xfrm>
          <a:off x="3174334" y="3742539"/>
          <a:ext cx="4011750" cy="7720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2125900" imgH="7607300" progId="Equation.DSMT4">
                  <p:embed/>
                </p:oleObj>
              </mc:Choice>
              <mc:Fallback>
                <p:oleObj name="Equation" r:id="rId8" imgW="42125900" imgH="7607300" progId="Equation.DSMT4">
                  <p:embed/>
                  <p:pic>
                    <p:nvPicPr>
                      <p:cNvPr id="40968" name="Object 8">
                        <a:extLst>
                          <a:ext uri="{FF2B5EF4-FFF2-40B4-BE49-F238E27FC236}">
                            <a16:creationId xmlns:a16="http://schemas.microsoft.com/office/drawing/2014/main" id="{861857D8-2349-FE31-BFD5-87089F670E1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74334" y="3742539"/>
                        <a:ext cx="4011750" cy="77206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0969" name="Group 9">
            <a:extLst>
              <a:ext uri="{FF2B5EF4-FFF2-40B4-BE49-F238E27FC236}">
                <a16:creationId xmlns:a16="http://schemas.microsoft.com/office/drawing/2014/main" id="{49117DB1-CCDD-20EC-4DC2-F2ACC31757A2}"/>
              </a:ext>
            </a:extLst>
          </p:cNvPr>
          <p:cNvGrpSpPr>
            <a:grpSpLocks/>
          </p:cNvGrpSpPr>
          <p:nvPr/>
        </p:nvGrpSpPr>
        <p:grpSpPr bwMode="auto">
          <a:xfrm>
            <a:off x="980315" y="4665669"/>
            <a:ext cx="1851916" cy="491763"/>
            <a:chOff x="554" y="1550"/>
            <a:chExt cx="1442" cy="334"/>
          </a:xfrm>
        </p:grpSpPr>
        <p:sp>
          <p:nvSpPr>
            <p:cNvPr id="32780" name="Text Box 10">
              <a:extLst>
                <a:ext uri="{FF2B5EF4-FFF2-40B4-BE49-F238E27FC236}">
                  <a16:creationId xmlns:a16="http://schemas.microsoft.com/office/drawing/2014/main" id="{4FD19FFC-0DC7-73C2-0D1F-85DEC14660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4" y="1550"/>
              <a:ext cx="1442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+mn-cs"/>
                </a:rPr>
                <a:t>当            时</a:t>
              </a:r>
            </a:p>
          </p:txBody>
        </p:sp>
        <p:graphicFrame>
          <p:nvGraphicFramePr>
            <p:cNvPr id="32781" name="Object 11">
              <a:extLst>
                <a:ext uri="{FF2B5EF4-FFF2-40B4-BE49-F238E27FC236}">
                  <a16:creationId xmlns:a16="http://schemas.microsoft.com/office/drawing/2014/main" id="{02BC50E8-3196-E63A-4547-A4E8034A642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32308301"/>
                </p:ext>
              </p:extLst>
            </p:nvPr>
          </p:nvGraphicFramePr>
          <p:xfrm>
            <a:off x="930" y="1550"/>
            <a:ext cx="667" cy="3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8191500" imgH="4102100" progId="Equation.DSMT4">
                    <p:embed/>
                  </p:oleObj>
                </mc:Choice>
                <mc:Fallback>
                  <p:oleObj name="Equation" r:id="rId10" imgW="8191500" imgH="4102100" progId="Equation.DSMT4">
                    <p:embed/>
                    <p:pic>
                      <p:nvPicPr>
                        <p:cNvPr id="32781" name="Object 11">
                          <a:extLst>
                            <a:ext uri="{FF2B5EF4-FFF2-40B4-BE49-F238E27FC236}">
                              <a16:creationId xmlns:a16="http://schemas.microsoft.com/office/drawing/2014/main" id="{02BC50E8-3196-E63A-4547-A4E8034A642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30" y="1550"/>
                          <a:ext cx="667" cy="3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972" name="Object 12">
            <a:extLst>
              <a:ext uri="{FF2B5EF4-FFF2-40B4-BE49-F238E27FC236}">
                <a16:creationId xmlns:a16="http://schemas.microsoft.com/office/drawing/2014/main" id="{202A609A-FBE5-003B-EBB4-C3A308E4D0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6032733"/>
              </p:ext>
            </p:extLst>
          </p:nvPr>
        </p:nvGraphicFramePr>
        <p:xfrm>
          <a:off x="3166396" y="4628861"/>
          <a:ext cx="1404623" cy="517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4630400" imgH="5270500" progId="Equation.DSMT4">
                  <p:embed/>
                </p:oleObj>
              </mc:Choice>
              <mc:Fallback>
                <p:oleObj name="Equation" r:id="rId12" imgW="14630400" imgH="5270500" progId="Equation.DSMT4">
                  <p:embed/>
                  <p:pic>
                    <p:nvPicPr>
                      <p:cNvPr id="40972" name="Object 12">
                        <a:extLst>
                          <a:ext uri="{FF2B5EF4-FFF2-40B4-BE49-F238E27FC236}">
                            <a16:creationId xmlns:a16="http://schemas.microsoft.com/office/drawing/2014/main" id="{202A609A-FBE5-003B-EBB4-C3A308E4D0F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6396" y="4628861"/>
                        <a:ext cx="1404623" cy="5175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73" name="Text Box 13">
            <a:extLst>
              <a:ext uri="{FF2B5EF4-FFF2-40B4-BE49-F238E27FC236}">
                <a16:creationId xmlns:a16="http://schemas.microsoft.com/office/drawing/2014/main" id="{569796D7-E08C-9B00-8A1B-B9805C5E8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6884" y="5721537"/>
            <a:ext cx="1351652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600" b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KaiTi" panose="02010609060101010101" pitchFamily="49" charset="-122"/>
                <a:cs typeface="+mn-cs"/>
              </a:rPr>
              <a:t>所以，  </a:t>
            </a:r>
          </a:p>
        </p:txBody>
      </p:sp>
      <p:graphicFrame>
        <p:nvGraphicFramePr>
          <p:cNvPr id="40975" name="Object 15">
            <a:extLst>
              <a:ext uri="{FF2B5EF4-FFF2-40B4-BE49-F238E27FC236}">
                <a16:creationId xmlns:a16="http://schemas.microsoft.com/office/drawing/2014/main" id="{B091F1DE-7BDC-3E7C-0BA4-AC07E287D6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8889452"/>
              </p:ext>
            </p:extLst>
          </p:nvPr>
        </p:nvGraphicFramePr>
        <p:xfrm>
          <a:off x="5397214" y="5462016"/>
          <a:ext cx="2888391" cy="9887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5394900" imgH="11112500" progId="Equation.DSMT4">
                  <p:embed/>
                </p:oleObj>
              </mc:Choice>
              <mc:Fallback>
                <p:oleObj name="Equation" r:id="rId14" imgW="35394900" imgH="11112500" progId="Equation.DSMT4">
                  <p:embed/>
                  <p:pic>
                    <p:nvPicPr>
                      <p:cNvPr id="40975" name="Object 15">
                        <a:extLst>
                          <a:ext uri="{FF2B5EF4-FFF2-40B4-BE49-F238E27FC236}">
                            <a16:creationId xmlns:a16="http://schemas.microsoft.com/office/drawing/2014/main" id="{B091F1DE-7BDC-3E7C-0BA4-AC07E287D69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214" y="5462016"/>
                        <a:ext cx="2888391" cy="98878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E7FE6656-5925-F3AB-D693-7C2A29EF606F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2">
                <a:extLst>
                  <a:ext uri="{FF2B5EF4-FFF2-40B4-BE49-F238E27FC236}">
                    <a16:creationId xmlns:a16="http://schemas.microsoft.com/office/drawing/2014/main" id="{ACDD5CDF-EAAB-1CD3-3520-2ED07086A6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1000" y="231775"/>
                <a:ext cx="4017190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例</a:t>
                </a:r>
                <a:r>
                  <a:rPr kumimoji="1" lang="en-US" altLang="zh-CN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  </a:t>
                </a:r>
                <a:r>
                  <a:rPr kumimoji="1" lang="zh-CN" altLang="en-US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设</a:t>
                </a:r>
                <a14:m>
                  <m:oMath xmlns:m="http://schemas.openxmlformats.org/officeDocument/2006/math">
                    <m:r>
                      <a:rPr kumimoji="1" lang="en-US" altLang="zh-CN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(</m:t>
                    </m:r>
                    <m:r>
                      <a:rPr kumimoji="1" lang="en-US" altLang="zh-CN" sz="2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𝑋</m:t>
                    </m:r>
                    <m:r>
                      <a:rPr kumimoji="1" lang="en-US" altLang="zh-CN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,</m:t>
                    </m:r>
                    <m:r>
                      <a:rPr kumimoji="1" lang="en-US" altLang="zh-CN" sz="2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𝑌</m:t>
                    </m:r>
                    <m:r>
                      <a:rPr kumimoji="1" lang="en-US" altLang="zh-CN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)</m:t>
                    </m:r>
                  </m:oMath>
                </a14:m>
                <a:r>
                  <a:rPr kumimoji="1" lang="zh-CN" altLang="en-US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的概率密度为</a:t>
                </a:r>
              </a:p>
            </p:txBody>
          </p:sp>
        </mc:Choice>
        <mc:Fallback xmlns="">
          <p:sp>
            <p:nvSpPr>
              <p:cNvPr id="3" name="Text Box 2">
                <a:extLst>
                  <a:ext uri="{FF2B5EF4-FFF2-40B4-BE49-F238E27FC236}">
                    <a16:creationId xmlns:a16="http://schemas.microsoft.com/office/drawing/2014/main" id="{ACDD5CDF-EAAB-1CD3-3520-2ED07086A6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231775"/>
                <a:ext cx="4017190" cy="492443"/>
              </a:xfrm>
              <a:prstGeom prst="rect">
                <a:avLst/>
              </a:prstGeom>
              <a:blipFill>
                <a:blip r:embed="rId16"/>
                <a:stretch>
                  <a:fillRect l="-2839" t="-15000" r="-1577" b="-25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BA04ECFF-21FB-124A-91BD-4A0648344A6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7752420"/>
              </p:ext>
            </p:extLst>
          </p:nvPr>
        </p:nvGraphicFramePr>
        <p:xfrm>
          <a:off x="1389316" y="840846"/>
          <a:ext cx="4492384" cy="1112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47688500" imgH="11112500" progId="Equation.DSMT4">
                  <p:embed/>
                </p:oleObj>
              </mc:Choice>
              <mc:Fallback>
                <p:oleObj name="Equation" r:id="rId17" imgW="47688500" imgH="111125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BA04ECFF-21FB-124A-91BD-4A0648344A6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9316" y="840846"/>
                        <a:ext cx="4492384" cy="11127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">
                <a:extLst>
                  <a:ext uri="{FF2B5EF4-FFF2-40B4-BE49-F238E27FC236}">
                    <a16:creationId xmlns:a16="http://schemas.microsoft.com/office/drawing/2014/main" id="{A3DC8AB9-9C11-7097-D5BA-08597DDB8C0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1000" y="2070221"/>
                <a:ext cx="8178800" cy="1003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求</a:t>
                </a:r>
                <a:r>
                  <a:rPr kumimoji="1" lang="en-US" altLang="zh-CN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 </a:t>
                </a:r>
                <a:r>
                  <a:rPr kumimoji="1" lang="zh-CN" altLang="en-US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 </a:t>
                </a:r>
                <a:r>
                  <a:rPr kumimoji="1" lang="en-US" altLang="zh-CN" sz="2600" b="0" dirty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2.</a:t>
                </a:r>
                <a:r>
                  <a:rPr kumimoji="1" lang="en-US" altLang="zh-CN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kumimoji="1" lang="en-US" altLang="zh-CN" sz="2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  <m:r>
                      <a:rPr kumimoji="1" lang="en-US" altLang="zh-CN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,</m:t>
                    </m:r>
                    <m:r>
                      <a:rPr kumimoji="1" lang="en-US" altLang="zh-CN" sz="2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𝑌</m:t>
                    </m:r>
                    <m:r>
                      <a:rPr kumimoji="1" lang="en-US" altLang="zh-CN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r>
                  <a:rPr kumimoji="1" lang="zh-CN" altLang="en-US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的边缘概率密度 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  </a:t>
                </a:r>
                <a:r>
                  <a:rPr kumimoji="1" lang="en-US" altLang="zh-CN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  </a:t>
                </a:r>
                <a:endParaRPr kumimoji="1" lang="zh-CN" altLang="en-US" sz="2600" b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Text Box 4">
                <a:extLst>
                  <a:ext uri="{FF2B5EF4-FFF2-40B4-BE49-F238E27FC236}">
                    <a16:creationId xmlns:a16="http://schemas.microsoft.com/office/drawing/2014/main" id="{A3DC8AB9-9C11-7097-D5BA-08597DDB8C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2070221"/>
                <a:ext cx="8178800" cy="1003480"/>
              </a:xfrm>
              <a:prstGeom prst="rect">
                <a:avLst/>
              </a:prstGeom>
              <a:blipFill>
                <a:blip r:embed="rId19"/>
                <a:stretch>
                  <a:fillRect l="-1398" t="-506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本框 6">
            <a:extLst>
              <a:ext uri="{FF2B5EF4-FFF2-40B4-BE49-F238E27FC236}">
                <a16:creationId xmlns:a16="http://schemas.microsoft.com/office/drawing/2014/main" id="{F225194E-A74A-9007-2BA1-D7D8ECFE90B9}"/>
              </a:ext>
            </a:extLst>
          </p:cNvPr>
          <p:cNvSpPr txBox="1"/>
          <p:nvPr/>
        </p:nvSpPr>
        <p:spPr>
          <a:xfrm>
            <a:off x="381000" y="3168542"/>
            <a:ext cx="47739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解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87" name="Object 3">
            <a:extLst>
              <a:ext uri="{FF2B5EF4-FFF2-40B4-BE49-F238E27FC236}">
                <a16:creationId xmlns:a16="http://schemas.microsoft.com/office/drawing/2014/main" id="{DD722D46-4451-E46B-C8FC-B9C2FB7204F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3073894"/>
              </p:ext>
            </p:extLst>
          </p:nvPr>
        </p:nvGraphicFramePr>
        <p:xfrm>
          <a:off x="1320481" y="3025178"/>
          <a:ext cx="5934202" cy="1006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049900" imgH="11112500" progId="Equation.DSMT4">
                  <p:embed/>
                </p:oleObj>
              </mc:Choice>
              <mc:Fallback>
                <p:oleObj name="Equation" r:id="rId2" imgW="69049900" imgH="11112500" progId="Equation.DSMT4">
                  <p:embed/>
                  <p:pic>
                    <p:nvPicPr>
                      <p:cNvPr id="41987" name="Object 3">
                        <a:extLst>
                          <a:ext uri="{FF2B5EF4-FFF2-40B4-BE49-F238E27FC236}">
                            <a16:creationId xmlns:a16="http://schemas.microsoft.com/office/drawing/2014/main" id="{DD722D46-4451-E46B-C8FC-B9C2FB7204F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481" y="3025178"/>
                        <a:ext cx="5934202" cy="10069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0" name="Object 6">
            <a:extLst>
              <a:ext uri="{FF2B5EF4-FFF2-40B4-BE49-F238E27FC236}">
                <a16:creationId xmlns:a16="http://schemas.microsoft.com/office/drawing/2014/main" id="{54E8A341-2494-2F94-A648-581918DD4E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0086155"/>
              </p:ext>
            </p:extLst>
          </p:nvPr>
        </p:nvGraphicFramePr>
        <p:xfrm>
          <a:off x="1320481" y="4542282"/>
          <a:ext cx="5519231" cy="1006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8216800" imgH="11112500" progId="Equation.DSMT4">
                  <p:embed/>
                </p:oleObj>
              </mc:Choice>
              <mc:Fallback>
                <p:oleObj name="Equation" r:id="rId4" imgW="58216800" imgH="11112500" progId="Equation.DSMT4">
                  <p:embed/>
                  <p:pic>
                    <p:nvPicPr>
                      <p:cNvPr id="41990" name="Object 6">
                        <a:extLst>
                          <a:ext uri="{FF2B5EF4-FFF2-40B4-BE49-F238E27FC236}">
                            <a16:creationId xmlns:a16="http://schemas.microsoft.com/office/drawing/2014/main" id="{54E8A341-2494-2F94-A648-581918DD4E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481" y="4542282"/>
                        <a:ext cx="5519231" cy="100694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41991" name="Text Box 7">
                <a:extLst>
                  <a:ext uri="{FF2B5EF4-FFF2-40B4-BE49-F238E27FC236}">
                    <a16:creationId xmlns:a16="http://schemas.microsoft.com/office/drawing/2014/main" id="{E88F3F1D-191F-A6CD-8823-91BEA5FA39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43330" y="5985891"/>
                <a:ext cx="4968875" cy="51911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8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所以</a:t>
                </a:r>
                <a14:m>
                  <m:oMath xmlns:m="http://schemas.openxmlformats.org/officeDocument/2006/math">
                    <m:r>
                      <a:rPr kumimoji="1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𝑋</m:t>
                    </m:r>
                  </m:oMath>
                </a14:m>
                <a:r>
                  <a:rPr kumimoji="1" lang="zh-CN" altLang="en-US" sz="28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与</a:t>
                </a:r>
                <a14:m>
                  <m:oMath xmlns:m="http://schemas.openxmlformats.org/officeDocument/2006/math">
                    <m:r>
                      <a:rPr kumimoji="1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𝑌</m:t>
                    </m:r>
                  </m:oMath>
                </a14:m>
                <a:r>
                  <a:rPr kumimoji="1" lang="zh-CN" altLang="en-US" sz="28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相互独立。</a:t>
                </a:r>
              </a:p>
            </p:txBody>
          </p:sp>
        </mc:Choice>
        <mc:Fallback xmlns="">
          <p:sp>
            <p:nvSpPr>
              <p:cNvPr id="41991" name="Text Box 7">
                <a:extLst>
                  <a:ext uri="{FF2B5EF4-FFF2-40B4-BE49-F238E27FC236}">
                    <a16:creationId xmlns:a16="http://schemas.microsoft.com/office/drawing/2014/main" id="{E88F3F1D-191F-A6CD-8823-91BEA5FA39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43330" y="5985891"/>
                <a:ext cx="4968875" cy="519113"/>
              </a:xfrm>
              <a:prstGeom prst="rect">
                <a:avLst/>
              </a:prstGeom>
              <a:blipFill>
                <a:blip r:embed="rId6"/>
                <a:stretch>
                  <a:fillRect l="-2545" t="-14286" b="-3095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A391ADE2-69CB-F664-BDA6-CD81E8D5A634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B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Box 2">
                <a:extLst>
                  <a:ext uri="{FF2B5EF4-FFF2-40B4-BE49-F238E27FC236}">
                    <a16:creationId xmlns:a16="http://schemas.microsoft.com/office/drawing/2014/main" id="{BB8DD620-1973-49EC-F97B-7110F1B73BB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1000" y="231775"/>
                <a:ext cx="4017190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例</a:t>
                </a:r>
                <a:r>
                  <a:rPr kumimoji="1" lang="en-US" altLang="zh-CN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  </a:t>
                </a:r>
                <a:r>
                  <a:rPr kumimoji="1" lang="zh-CN" altLang="en-US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设</a:t>
                </a:r>
                <a14:m>
                  <m:oMath xmlns:m="http://schemas.openxmlformats.org/officeDocument/2006/math">
                    <m:r>
                      <a:rPr kumimoji="1" lang="en-US" altLang="zh-CN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(</m:t>
                    </m:r>
                    <m:r>
                      <a:rPr kumimoji="1" lang="en-US" altLang="zh-CN" sz="2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𝑋</m:t>
                    </m:r>
                    <m:r>
                      <a:rPr kumimoji="1" lang="en-US" altLang="zh-CN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,</m:t>
                    </m:r>
                    <m:r>
                      <a:rPr kumimoji="1" lang="en-US" altLang="zh-CN" sz="26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𝑌</m:t>
                    </m:r>
                    <m:r>
                      <a:rPr kumimoji="1" lang="en-US" altLang="zh-CN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)</m:t>
                    </m:r>
                  </m:oMath>
                </a14:m>
                <a:r>
                  <a:rPr kumimoji="1" lang="zh-CN" altLang="en-US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  <a:cs typeface="+mn-cs"/>
                  </a:rPr>
                  <a:t>的概率密度为</a:t>
                </a:r>
              </a:p>
            </p:txBody>
          </p:sp>
        </mc:Choice>
        <mc:Fallback xmlns="">
          <p:sp>
            <p:nvSpPr>
              <p:cNvPr id="3" name="Text Box 2">
                <a:extLst>
                  <a:ext uri="{FF2B5EF4-FFF2-40B4-BE49-F238E27FC236}">
                    <a16:creationId xmlns:a16="http://schemas.microsoft.com/office/drawing/2014/main" id="{BB8DD620-1973-49EC-F97B-7110F1B73B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231775"/>
                <a:ext cx="4017190" cy="492443"/>
              </a:xfrm>
              <a:prstGeom prst="rect">
                <a:avLst/>
              </a:prstGeom>
              <a:blipFill>
                <a:blip r:embed="rId7"/>
                <a:stretch>
                  <a:fillRect l="-2839" t="-15000" r="-1577" b="-25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1F7DE695-BC22-BA7A-199A-61521B55E9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9706233"/>
              </p:ext>
            </p:extLst>
          </p:nvPr>
        </p:nvGraphicFramePr>
        <p:xfrm>
          <a:off x="1389316" y="840846"/>
          <a:ext cx="4492384" cy="1112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7688500" imgH="11112500" progId="Equation.DSMT4">
                  <p:embed/>
                </p:oleObj>
              </mc:Choice>
              <mc:Fallback>
                <p:oleObj name="Equation" r:id="rId8" imgW="47688500" imgH="11112500" progId="Equation.DSMT4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1F7DE695-BC22-BA7A-199A-61521B55E9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9316" y="840846"/>
                        <a:ext cx="4492384" cy="11127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Box 4">
                <a:extLst>
                  <a:ext uri="{FF2B5EF4-FFF2-40B4-BE49-F238E27FC236}">
                    <a16:creationId xmlns:a16="http://schemas.microsoft.com/office/drawing/2014/main" id="{4D78EFE3-5D1C-B4F1-B560-D9ED596803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1000" y="2070221"/>
                <a:ext cx="8178800" cy="100348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0" defTabSz="914400" fontAlgn="base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求</a:t>
                </a:r>
                <a:r>
                  <a:rPr kumimoji="1" lang="en-US" altLang="zh-CN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 </a:t>
                </a:r>
                <a:r>
                  <a:rPr kumimoji="1" lang="en-US" altLang="zh-CN" sz="2600" b="0" dirty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3. </a:t>
                </a:r>
                <a:r>
                  <a:rPr kumimoji="1" lang="zh-CN" altLang="en-US" sz="2600" b="0" dirty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判断</a:t>
                </a:r>
                <a14:m>
                  <m:oMath xmlns:m="http://schemas.openxmlformats.org/officeDocument/2006/math">
                    <m:r>
                      <a:rPr kumimoji="1" lang="en-US" altLang="zh-CN" sz="2600" b="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  <m:r>
                      <a:rPr kumimoji="1" lang="zh-CN" altLang="en-US" sz="2600" b="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、</m:t>
                    </m:r>
                    <m:r>
                      <a:rPr kumimoji="1" lang="en-US" altLang="zh-CN" sz="2600" b="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𝑌</m:t>
                    </m:r>
                  </m:oMath>
                </a14:m>
                <a:r>
                  <a:rPr kumimoji="1" lang="zh-CN" altLang="en-US" sz="2600" b="0" dirty="0">
                    <a:solidFill>
                      <a:srgbClr val="FF0000"/>
                    </a:solidFill>
                    <a:latin typeface="KaiTi" panose="02010609060101010101" pitchFamily="49" charset="-122"/>
                    <a:ea typeface="KaiTi" panose="02010609060101010101" pitchFamily="49" charset="-122"/>
                  </a:rPr>
                  <a:t>是否独立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2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  </a:t>
                </a:r>
                <a:r>
                  <a:rPr kumimoji="1" lang="en-US" altLang="zh-CN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KaiTi" panose="02010609060101010101" pitchFamily="49" charset="-122"/>
                    <a:ea typeface="KaiTi" panose="02010609060101010101" pitchFamily="49" charset="-122"/>
                  </a:rPr>
                  <a:t>  </a:t>
                </a:r>
                <a:endParaRPr kumimoji="1" lang="zh-CN" altLang="en-US" sz="2600" b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KaiTi" panose="02010609060101010101" pitchFamily="49" charset="-122"/>
                  <a:ea typeface="KaiTi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Text Box 4">
                <a:extLst>
                  <a:ext uri="{FF2B5EF4-FFF2-40B4-BE49-F238E27FC236}">
                    <a16:creationId xmlns:a16="http://schemas.microsoft.com/office/drawing/2014/main" id="{4D78EFE3-5D1C-B4F1-B560-D9ED596803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" y="2070221"/>
                <a:ext cx="8178800" cy="1003480"/>
              </a:xfrm>
              <a:prstGeom prst="rect">
                <a:avLst/>
              </a:prstGeom>
              <a:blipFill>
                <a:blip r:embed="rId10"/>
                <a:stretch>
                  <a:fillRect l="-1398" t="-506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599EFEC2-D0B1-2A09-54FA-52D8415A3A6F}"/>
              </a:ext>
            </a:extLst>
          </p:cNvPr>
          <p:cNvSpPr txBox="1"/>
          <p:nvPr/>
        </p:nvSpPr>
        <p:spPr>
          <a:xfrm>
            <a:off x="381000" y="3168542"/>
            <a:ext cx="477395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+mn-cs"/>
              </a:rPr>
              <a:t>解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6277" name="Object 21">
            <a:extLst>
              <a:ext uri="{FF2B5EF4-FFF2-40B4-BE49-F238E27FC236}">
                <a16:creationId xmlns:a16="http://schemas.microsoft.com/office/drawing/2014/main" id="{D0C190E7-0CD5-8C5E-60DC-C4E5987E93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99188" y="1654175"/>
          <a:ext cx="2476500" cy="263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位图图像" r:id="rId2" imgW="1651000" imgH="1758950" progId="Paint.Picture">
                  <p:embed/>
                </p:oleObj>
              </mc:Choice>
              <mc:Fallback>
                <p:oleObj name="位图图像" r:id="rId2" imgW="1651000" imgH="1758950" progId="Paint.Picture">
                  <p:embed/>
                  <p:pic>
                    <p:nvPicPr>
                      <p:cNvPr id="96277" name="Object 21">
                        <a:extLst>
                          <a:ext uri="{FF2B5EF4-FFF2-40B4-BE49-F238E27FC236}">
                            <a16:creationId xmlns:a16="http://schemas.microsoft.com/office/drawing/2014/main" id="{D0C190E7-0CD5-8C5E-60DC-C4E5987E93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9188" y="1654175"/>
                        <a:ext cx="2476500" cy="2638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6259" name="Text Box 3">
                <a:extLst>
                  <a:ext uri="{FF2B5EF4-FFF2-40B4-BE49-F238E27FC236}">
                    <a16:creationId xmlns:a16="http://schemas.microsoft.com/office/drawing/2014/main" id="{2F4F1CD9-4060-C9C9-C0B5-D50EFA2865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0219" y="139192"/>
                <a:ext cx="8425469" cy="168424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例</a:t>
                </a:r>
                <a:r>
                  <a:rPr kumimoji="0" lang="en-US" altLang="zh-CN" sz="24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  </a:t>
                </a:r>
                <a:r>
                  <a:rPr kumimoji="0" lang="zh-CN" altLang="en-US" sz="24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已知二维随机变量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𝑋</m:t>
                    </m:r>
                    <m:r>
                      <a:rPr lang="en-US" altLang="zh-CN" sz="2400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,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24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服从区域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𝐷</m:t>
                    </m:r>
                  </m:oMath>
                </a14:m>
                <a:r>
                  <a:rPr kumimoji="0" lang="zh-CN" altLang="en-US" sz="24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上的均匀分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       布，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𝐷</m:t>
                    </m:r>
                  </m:oMath>
                </a14:m>
                <a:r>
                  <a:rPr kumimoji="0" lang="zh-CN" altLang="en-US" sz="24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为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𝑥</m:t>
                    </m:r>
                  </m:oMath>
                </a14:m>
                <a:r>
                  <a:rPr kumimoji="0" lang="zh-CN" altLang="en-US" sz="24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轴，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𝑦</m:t>
                    </m:r>
                  </m:oMath>
                </a14:m>
                <a:r>
                  <a:rPr kumimoji="0" lang="zh-CN" altLang="en-US" sz="24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轴及直线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𝑦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=2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𝑥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+1</m:t>
                    </m:r>
                  </m:oMath>
                </a14:m>
                <a:r>
                  <a:rPr kumimoji="0" lang="zh-CN" altLang="en-US" sz="24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所围成的三角形区</a:t>
                </a:r>
              </a:p>
              <a:p>
                <a:pPr marL="0" marR="0" lvl="0" indent="0" algn="l" defTabSz="914400" rtl="0" eaLnBrk="1" fontAlgn="base" latinLnBrk="0" hangingPunct="1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       域。判断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𝑋</m:t>
                    </m:r>
                    <m:r>
                      <a:rPr kumimoji="0" lang="zh-CN" altLang="en-US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，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𝑌</m:t>
                    </m:r>
                  </m:oMath>
                </a14:m>
                <a:r>
                  <a:rPr kumimoji="0" lang="zh-CN" altLang="en-US" sz="24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是否独立。  </a:t>
                </a:r>
              </a:p>
            </p:txBody>
          </p:sp>
        </mc:Choice>
        <mc:Fallback xmlns="">
          <p:sp>
            <p:nvSpPr>
              <p:cNvPr id="96259" name="Text Box 3">
                <a:extLst>
                  <a:ext uri="{FF2B5EF4-FFF2-40B4-BE49-F238E27FC236}">
                    <a16:creationId xmlns:a16="http://schemas.microsoft.com/office/drawing/2014/main" id="{2F4F1CD9-4060-C9C9-C0B5-D50EFA286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0219" y="139192"/>
                <a:ext cx="8425469" cy="1684244"/>
              </a:xfrm>
              <a:prstGeom prst="rect">
                <a:avLst/>
              </a:prstGeom>
              <a:blipFill>
                <a:blip r:embed="rId4"/>
                <a:stretch>
                  <a:fillRect l="-1053" b="-676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261" name="Text Box 5">
                <a:extLst>
                  <a:ext uri="{FF2B5EF4-FFF2-40B4-BE49-F238E27FC236}">
                    <a16:creationId xmlns:a16="http://schemas.microsoft.com/office/drawing/2014/main" id="{E8B7E758-C8A5-6C87-9EFA-D8E4D30440E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365" y="2967335"/>
                <a:ext cx="3416897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0" defTabSz="9144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0" lang="zh-CN" altLang="en-US" sz="24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解 </a:t>
                </a:r>
                <a14:m>
                  <m:oMath xmlns:m="http://schemas.openxmlformats.org/officeDocument/2006/math">
                    <m:r>
                      <a:rPr lang="en-US" altLang="zh-CN" sz="2400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(</m:t>
                    </m:r>
                    <m:r>
                      <a:rPr lang="en-US" altLang="zh-CN" sz="2400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𝑋</m:t>
                    </m:r>
                    <m:r>
                      <a:rPr lang="en-US" altLang="zh-CN" sz="2400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,</m:t>
                    </m:r>
                    <m:r>
                      <a:rPr lang="en-US" altLang="zh-CN" sz="2400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𝑌</m:t>
                    </m:r>
                    <m:r>
                      <a:rPr lang="en-US" altLang="zh-CN" sz="2400" b="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KaiTi" panose="02010609060101010101" pitchFamily="49" charset="-122"/>
                      </a:rPr>
                      <m:t>)</m:t>
                    </m:r>
                  </m:oMath>
                </a14:m>
                <a:r>
                  <a:rPr kumimoji="0" lang="zh-CN" altLang="en-US" sz="24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的</a:t>
                </a:r>
                <a:r>
                  <a:rPr lang="zh-CN" altLang="en-US" sz="2400" b="0" noProof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概率</a:t>
                </a:r>
                <a:r>
                  <a:rPr kumimoji="0" lang="zh-CN" altLang="en-US" sz="24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密度为   </a:t>
                </a:r>
              </a:p>
            </p:txBody>
          </p:sp>
        </mc:Choice>
        <mc:Fallback xmlns="">
          <p:sp>
            <p:nvSpPr>
              <p:cNvPr id="96261" name="Text Box 5">
                <a:extLst>
                  <a:ext uri="{FF2B5EF4-FFF2-40B4-BE49-F238E27FC236}">
                    <a16:creationId xmlns:a16="http://schemas.microsoft.com/office/drawing/2014/main" id="{E8B7E758-C8A5-6C87-9EFA-D8E4D30440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6365" y="2967335"/>
                <a:ext cx="3416897" cy="461665"/>
              </a:xfrm>
              <a:prstGeom prst="rect">
                <a:avLst/>
              </a:prstGeom>
              <a:blipFill>
                <a:blip r:embed="rId5"/>
                <a:stretch>
                  <a:fillRect l="-2593" t="-15789" b="-2105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6276" name="Object 20">
            <a:extLst>
              <a:ext uri="{FF2B5EF4-FFF2-40B4-BE49-F238E27FC236}">
                <a16:creationId xmlns:a16="http://schemas.microsoft.com/office/drawing/2014/main" id="{31D02648-DFE5-3132-CA4F-005AF0020A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6981963"/>
              </p:ext>
            </p:extLst>
          </p:nvPr>
        </p:nvGraphicFramePr>
        <p:xfrm>
          <a:off x="684213" y="4511298"/>
          <a:ext cx="5643435" cy="14386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9690000" imgH="15214600" progId="Equation.DSMT4">
                  <p:embed/>
                </p:oleObj>
              </mc:Choice>
              <mc:Fallback>
                <p:oleObj name="Equation" r:id="rId6" imgW="59690000" imgH="15214600" progId="Equation.DSMT4">
                  <p:embed/>
                  <p:pic>
                    <p:nvPicPr>
                      <p:cNvPr id="96276" name="Object 20">
                        <a:extLst>
                          <a:ext uri="{FF2B5EF4-FFF2-40B4-BE49-F238E27FC236}">
                            <a16:creationId xmlns:a16="http://schemas.microsoft.com/office/drawing/2014/main" id="{31D02648-DFE5-3132-CA4F-005AF0020A4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511298"/>
                        <a:ext cx="5643435" cy="14386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1D753614-B3B4-B2DF-D216-073EB8D76CFB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70C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104461D-45DE-0867-E344-138756C231A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87032" y="1405713"/>
            <a:ext cx="6437768" cy="48615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26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306" name="Picture 26">
            <a:extLst>
              <a:ext uri="{FF2B5EF4-FFF2-40B4-BE49-F238E27FC236}">
                <a16:creationId xmlns:a16="http://schemas.microsoft.com/office/drawing/2014/main" id="{5D5A73B1-5E30-A625-8916-921ECC19E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9550" y="2276475"/>
            <a:ext cx="2476500" cy="263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7319" name="Group 39">
            <a:extLst>
              <a:ext uri="{FF2B5EF4-FFF2-40B4-BE49-F238E27FC236}">
                <a16:creationId xmlns:a16="http://schemas.microsoft.com/office/drawing/2014/main" id="{7FA6F765-43A7-D2F9-1EA3-873DEEAFCBC4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141539"/>
            <a:ext cx="2686050" cy="796925"/>
            <a:chOff x="204" y="1712"/>
            <a:chExt cx="1692" cy="502"/>
          </a:xfrm>
        </p:grpSpPr>
        <p:sp>
          <p:nvSpPr>
            <p:cNvPr id="35855" name="Text Box 11">
              <a:extLst>
                <a:ext uri="{FF2B5EF4-FFF2-40B4-BE49-F238E27FC236}">
                  <a16:creationId xmlns:a16="http://schemas.microsoft.com/office/drawing/2014/main" id="{77E468FD-3BDD-439B-0D5F-4B51B786F8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1788"/>
              <a:ext cx="1692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+mn-cs"/>
                </a:rPr>
                <a:t>当                  时，</a:t>
              </a:r>
            </a:p>
          </p:txBody>
        </p:sp>
        <p:graphicFrame>
          <p:nvGraphicFramePr>
            <p:cNvPr id="35856" name="Object 12">
              <a:extLst>
                <a:ext uri="{FF2B5EF4-FFF2-40B4-BE49-F238E27FC236}">
                  <a16:creationId xmlns:a16="http://schemas.microsoft.com/office/drawing/2014/main" id="{49E51CBE-9850-CED5-AF40-19BD1103B12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75227495"/>
                </p:ext>
              </p:extLst>
            </p:nvPr>
          </p:nvGraphicFramePr>
          <p:xfrm>
            <a:off x="513" y="1712"/>
            <a:ext cx="890" cy="5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6090900" imgH="9067800" progId="Equation.DSMT4">
                    <p:embed/>
                  </p:oleObj>
                </mc:Choice>
                <mc:Fallback>
                  <p:oleObj name="Equation" r:id="rId3" imgW="16090900" imgH="9067800" progId="Equation.DSMT4">
                    <p:embed/>
                    <p:pic>
                      <p:nvPicPr>
                        <p:cNvPr id="35856" name="Object 12">
                          <a:extLst>
                            <a:ext uri="{FF2B5EF4-FFF2-40B4-BE49-F238E27FC236}">
                              <a16:creationId xmlns:a16="http://schemas.microsoft.com/office/drawing/2014/main" id="{49E51CBE-9850-CED5-AF40-19BD1103B12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3" y="1712"/>
                          <a:ext cx="890" cy="5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7307" name="Object 27">
            <a:extLst>
              <a:ext uri="{FF2B5EF4-FFF2-40B4-BE49-F238E27FC236}">
                <a16:creationId xmlns:a16="http://schemas.microsoft.com/office/drawing/2014/main" id="{31833592-4946-E099-B975-76C4292B87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5356227"/>
              </p:ext>
            </p:extLst>
          </p:nvPr>
        </p:nvGraphicFramePr>
        <p:xfrm>
          <a:off x="3031080" y="2168525"/>
          <a:ext cx="2332609" cy="7219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4574500" imgH="7607300" progId="Equation.DSMT4">
                  <p:embed/>
                </p:oleObj>
              </mc:Choice>
              <mc:Fallback>
                <p:oleObj name="Equation" r:id="rId5" imgW="24574500" imgH="7607300" progId="Equation.DSMT4">
                  <p:embed/>
                  <p:pic>
                    <p:nvPicPr>
                      <p:cNvPr id="97307" name="Object 27">
                        <a:extLst>
                          <a:ext uri="{FF2B5EF4-FFF2-40B4-BE49-F238E27FC236}">
                            <a16:creationId xmlns:a16="http://schemas.microsoft.com/office/drawing/2014/main" id="{31833592-4946-E099-B975-76C4292B87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1080" y="2168525"/>
                        <a:ext cx="2332609" cy="72197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308" name="Object 28">
            <a:extLst>
              <a:ext uri="{FF2B5EF4-FFF2-40B4-BE49-F238E27FC236}">
                <a16:creationId xmlns:a16="http://schemas.microsoft.com/office/drawing/2014/main" id="{A3DA225A-B287-B37E-7A87-BCF64D4FA0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6220809"/>
              </p:ext>
            </p:extLst>
          </p:nvPr>
        </p:nvGraphicFramePr>
        <p:xfrm>
          <a:off x="5370484" y="2314853"/>
          <a:ext cx="1598676" cy="4732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798800" imgH="4686300" progId="Equation.DSMT4">
                  <p:embed/>
                </p:oleObj>
              </mc:Choice>
              <mc:Fallback>
                <p:oleObj name="Equation" r:id="rId7" imgW="15798800" imgH="4686300" progId="Equation.DSMT4">
                  <p:embed/>
                  <p:pic>
                    <p:nvPicPr>
                      <p:cNvPr id="97308" name="Object 28">
                        <a:extLst>
                          <a:ext uri="{FF2B5EF4-FFF2-40B4-BE49-F238E27FC236}">
                            <a16:creationId xmlns:a16="http://schemas.microsoft.com/office/drawing/2014/main" id="{A3DA225A-B287-B37E-7A87-BCF64D4FA0C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70484" y="2314853"/>
                        <a:ext cx="1598676" cy="4732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7309" name="Line 29">
            <a:extLst>
              <a:ext uri="{FF2B5EF4-FFF2-40B4-BE49-F238E27FC236}">
                <a16:creationId xmlns:a16="http://schemas.microsoft.com/office/drawing/2014/main" id="{56986A44-4F19-B365-74D7-08F05EB32BA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24750" y="3067050"/>
            <a:ext cx="0" cy="16573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6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KaiTi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310" name="Text Box 30">
                <a:extLst>
                  <a:ext uri="{FF2B5EF4-FFF2-40B4-BE49-F238E27FC236}">
                    <a16:creationId xmlns:a16="http://schemas.microsoft.com/office/drawing/2014/main" id="{EDDEADD2-4958-1428-D59A-99C4CBC0569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6637" y="3321526"/>
                <a:ext cx="5325625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所以，关于</a:t>
                </a:r>
                <a14:m>
                  <m:oMath xmlns:m="http://schemas.openxmlformats.org/officeDocument/2006/math">
                    <m:r>
                      <a:rPr kumimoji="0" lang="en-US" altLang="zh-CN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𝑋</m:t>
                    </m:r>
                  </m:oMath>
                </a14:m>
                <a:r>
                  <a:rPr kumimoji="0" lang="zh-CN" altLang="en-US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的边缘</a:t>
                </a:r>
                <a:r>
                  <a:rPr lang="zh-CN" altLang="en-US" sz="2600" b="0" noProof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概率</a:t>
                </a:r>
                <a:r>
                  <a:rPr kumimoji="0" lang="zh-CN" altLang="en-US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密度为       </a:t>
                </a:r>
              </a:p>
            </p:txBody>
          </p:sp>
        </mc:Choice>
        <mc:Fallback xmlns="">
          <p:sp>
            <p:nvSpPr>
              <p:cNvPr id="97310" name="Text Box 30">
                <a:extLst>
                  <a:ext uri="{FF2B5EF4-FFF2-40B4-BE49-F238E27FC236}">
                    <a16:creationId xmlns:a16="http://schemas.microsoft.com/office/drawing/2014/main" id="{EDDEADD2-4958-1428-D59A-99C4CBC056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6637" y="3321526"/>
                <a:ext cx="5325625" cy="492443"/>
              </a:xfrm>
              <a:prstGeom prst="rect">
                <a:avLst/>
              </a:prstGeom>
              <a:blipFill>
                <a:blip r:embed="rId9"/>
                <a:stretch>
                  <a:fillRect l="-1900" t="-15000" b="-250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7311" name="Object 31">
            <a:extLst>
              <a:ext uri="{FF2B5EF4-FFF2-40B4-BE49-F238E27FC236}">
                <a16:creationId xmlns:a16="http://schemas.microsoft.com/office/drawing/2014/main" id="{DEDC360A-53CC-591E-C72E-D236768B610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7205907"/>
              </p:ext>
            </p:extLst>
          </p:nvPr>
        </p:nvGraphicFramePr>
        <p:xfrm>
          <a:off x="622653" y="4158935"/>
          <a:ext cx="4725479" cy="13897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8564800" imgH="15214600" progId="Equation.DSMT4">
                  <p:embed/>
                </p:oleObj>
              </mc:Choice>
              <mc:Fallback>
                <p:oleObj name="Equation" r:id="rId10" imgW="48564800" imgH="15214600" progId="Equation.DSMT4">
                  <p:embed/>
                  <p:pic>
                    <p:nvPicPr>
                      <p:cNvPr id="97311" name="Object 31">
                        <a:extLst>
                          <a:ext uri="{FF2B5EF4-FFF2-40B4-BE49-F238E27FC236}">
                            <a16:creationId xmlns:a16="http://schemas.microsoft.com/office/drawing/2014/main" id="{DEDC360A-53CC-591E-C72E-D236768B61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653" y="4158935"/>
                        <a:ext cx="4725479" cy="13897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7312" name="Text Box 32">
                <a:extLst>
                  <a:ext uri="{FF2B5EF4-FFF2-40B4-BE49-F238E27FC236}">
                    <a16:creationId xmlns:a16="http://schemas.microsoft.com/office/drawing/2014/main" id="{238FCEFB-7F1D-8E1D-ABBE-90A3CC47CD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8950" y="549275"/>
                <a:ext cx="4075283" cy="49244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0" defTabSz="9144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0" lang="zh-CN" altLang="en-US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关于</a:t>
                </a:r>
                <a14:m>
                  <m:oMath xmlns:m="http://schemas.openxmlformats.org/officeDocument/2006/math">
                    <m:r>
                      <a:rPr kumimoji="0" lang="en-US" altLang="zh-CN" sz="26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𝑋</m:t>
                    </m:r>
                  </m:oMath>
                </a14:m>
                <a:r>
                  <a:rPr kumimoji="0" lang="zh-CN" altLang="en-US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的边缘</a:t>
                </a:r>
                <a:r>
                  <a:rPr lang="zh-CN" altLang="en-US" sz="2600" b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概率</a:t>
                </a:r>
                <a:r>
                  <a:rPr kumimoji="0" lang="zh-CN" altLang="en-US" sz="26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密度为    </a:t>
                </a:r>
              </a:p>
            </p:txBody>
          </p:sp>
        </mc:Choice>
        <mc:Fallback xmlns="">
          <p:sp>
            <p:nvSpPr>
              <p:cNvPr id="97312" name="Text Box 32">
                <a:extLst>
                  <a:ext uri="{FF2B5EF4-FFF2-40B4-BE49-F238E27FC236}">
                    <a16:creationId xmlns:a16="http://schemas.microsoft.com/office/drawing/2014/main" id="{238FCEFB-7F1D-8E1D-ABBE-90A3CC47C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8950" y="549275"/>
                <a:ext cx="4075283" cy="492443"/>
              </a:xfrm>
              <a:prstGeom prst="rect">
                <a:avLst/>
              </a:prstGeom>
              <a:blipFill>
                <a:blip r:embed="rId12"/>
                <a:stretch>
                  <a:fillRect l="-2795" t="-17500" b="-2250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7313" name="Object 33">
            <a:extLst>
              <a:ext uri="{FF2B5EF4-FFF2-40B4-BE49-F238E27FC236}">
                <a16:creationId xmlns:a16="http://schemas.microsoft.com/office/drawing/2014/main" id="{7ACCFA47-FE00-3866-9E46-5CB2889CBA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3790779"/>
              </p:ext>
            </p:extLst>
          </p:nvPr>
        </p:nvGraphicFramePr>
        <p:xfrm>
          <a:off x="4476742" y="407182"/>
          <a:ext cx="3177096" cy="7718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1305500" imgH="7607300" progId="Equation.DSMT4">
                  <p:embed/>
                </p:oleObj>
              </mc:Choice>
              <mc:Fallback>
                <p:oleObj name="Equation" r:id="rId13" imgW="31305500" imgH="7607300" progId="Equation.DSMT4">
                  <p:embed/>
                  <p:pic>
                    <p:nvPicPr>
                      <p:cNvPr id="97313" name="Object 33">
                        <a:extLst>
                          <a:ext uri="{FF2B5EF4-FFF2-40B4-BE49-F238E27FC236}">
                            <a16:creationId xmlns:a16="http://schemas.microsoft.com/office/drawing/2014/main" id="{7ACCFA47-FE00-3866-9E46-5CB2889CBAD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742" y="407182"/>
                        <a:ext cx="3177096" cy="7718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7314" name="Group 34">
            <a:extLst>
              <a:ext uri="{FF2B5EF4-FFF2-40B4-BE49-F238E27FC236}">
                <a16:creationId xmlns:a16="http://schemas.microsoft.com/office/drawing/2014/main" id="{9798E535-AD4C-1D98-6989-4761506AFC65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1271587"/>
            <a:ext cx="3268663" cy="779462"/>
            <a:chOff x="373" y="3704"/>
            <a:chExt cx="2059" cy="491"/>
          </a:xfrm>
        </p:grpSpPr>
        <p:sp>
          <p:nvSpPr>
            <p:cNvPr id="35852" name="Text Box 35">
              <a:extLst>
                <a:ext uri="{FF2B5EF4-FFF2-40B4-BE49-F238E27FC236}">
                  <a16:creationId xmlns:a16="http://schemas.microsoft.com/office/drawing/2014/main" id="{3E08BFB7-500C-2312-BA20-630F5E56F3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" y="3773"/>
              <a:ext cx="2059" cy="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600" b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+mn-cs"/>
                </a:rPr>
                <a:t>当             或            时</a:t>
              </a:r>
            </a:p>
          </p:txBody>
        </p:sp>
        <p:graphicFrame>
          <p:nvGraphicFramePr>
            <p:cNvPr id="35853" name="Object 36">
              <a:extLst>
                <a:ext uri="{FF2B5EF4-FFF2-40B4-BE49-F238E27FC236}">
                  <a16:creationId xmlns:a16="http://schemas.microsoft.com/office/drawing/2014/main" id="{B105C355-2D9C-9FD7-0FDA-94A44AE3E517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34939867"/>
                </p:ext>
              </p:extLst>
            </p:nvPr>
          </p:nvGraphicFramePr>
          <p:xfrm>
            <a:off x="722" y="3704"/>
            <a:ext cx="601" cy="4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1112500" imgH="9067800" progId="Equation.DSMT4">
                    <p:embed/>
                  </p:oleObj>
                </mc:Choice>
                <mc:Fallback>
                  <p:oleObj name="Equation" r:id="rId15" imgW="11112500" imgH="9067800" progId="Equation.DSMT4">
                    <p:embed/>
                    <p:pic>
                      <p:nvPicPr>
                        <p:cNvPr id="35853" name="Object 36">
                          <a:extLst>
                            <a:ext uri="{FF2B5EF4-FFF2-40B4-BE49-F238E27FC236}">
                              <a16:creationId xmlns:a16="http://schemas.microsoft.com/office/drawing/2014/main" id="{B105C355-2D9C-9FD7-0FDA-94A44AE3E51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2" y="3704"/>
                          <a:ext cx="601" cy="4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854" name="Object 37">
              <a:extLst>
                <a:ext uri="{FF2B5EF4-FFF2-40B4-BE49-F238E27FC236}">
                  <a16:creationId xmlns:a16="http://schemas.microsoft.com/office/drawing/2014/main" id="{131F91B2-FD3F-A9F6-D6AC-B02AF601547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42778507"/>
                </p:ext>
              </p:extLst>
            </p:nvPr>
          </p:nvGraphicFramePr>
          <p:xfrm>
            <a:off x="1568" y="3787"/>
            <a:ext cx="560" cy="2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8191500" imgH="4102100" progId="Equation.DSMT4">
                    <p:embed/>
                  </p:oleObj>
                </mc:Choice>
                <mc:Fallback>
                  <p:oleObj name="Equation" r:id="rId17" imgW="8191500" imgH="4102100" progId="Equation.DSMT4">
                    <p:embed/>
                    <p:pic>
                      <p:nvPicPr>
                        <p:cNvPr id="35854" name="Object 37">
                          <a:extLst>
                            <a:ext uri="{FF2B5EF4-FFF2-40B4-BE49-F238E27FC236}">
                              <a16:creationId xmlns:a16="http://schemas.microsoft.com/office/drawing/2014/main" id="{131F91B2-FD3F-A9F6-D6AC-B02AF601547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8" y="3787"/>
                          <a:ext cx="560" cy="2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7318" name="Object 38">
            <a:extLst>
              <a:ext uri="{FF2B5EF4-FFF2-40B4-BE49-F238E27FC236}">
                <a16:creationId xmlns:a16="http://schemas.microsoft.com/office/drawing/2014/main" id="{823F9FF2-01A2-84D0-300F-34EC69D55A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4493139"/>
              </p:ext>
            </p:extLst>
          </p:nvPr>
        </p:nvGraphicFramePr>
        <p:xfrm>
          <a:off x="4476742" y="1444699"/>
          <a:ext cx="1504951" cy="541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4630400" imgH="5270500" progId="Equation.DSMT4">
                  <p:embed/>
                </p:oleObj>
              </mc:Choice>
              <mc:Fallback>
                <p:oleObj name="Equation" r:id="rId19" imgW="14630400" imgH="5270500" progId="Equation.DSMT4">
                  <p:embed/>
                  <p:pic>
                    <p:nvPicPr>
                      <p:cNvPr id="97318" name="Object 38">
                        <a:extLst>
                          <a:ext uri="{FF2B5EF4-FFF2-40B4-BE49-F238E27FC236}">
                            <a16:creationId xmlns:a16="http://schemas.microsoft.com/office/drawing/2014/main" id="{823F9FF2-01A2-84D0-300F-34EC69D55A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6742" y="1444699"/>
                        <a:ext cx="1504951" cy="54193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0F0821D7-22AE-1A22-F73F-3775FEA35B7F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6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310" grpId="0"/>
      <p:bldP spid="973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330" name="Picture 2">
            <a:extLst>
              <a:ext uri="{FF2B5EF4-FFF2-40B4-BE49-F238E27FC236}">
                <a16:creationId xmlns:a16="http://schemas.microsoft.com/office/drawing/2014/main" id="{45019262-4A70-76DA-568F-E09E4277D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9550" y="2276475"/>
            <a:ext cx="2476500" cy="263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9331" name="Group 3">
            <a:extLst>
              <a:ext uri="{FF2B5EF4-FFF2-40B4-BE49-F238E27FC236}">
                <a16:creationId xmlns:a16="http://schemas.microsoft.com/office/drawing/2014/main" id="{1251F104-2B0A-FA91-9F44-6A095657987F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262190"/>
            <a:ext cx="2570163" cy="484188"/>
            <a:chOff x="204" y="1788"/>
            <a:chExt cx="1619" cy="305"/>
          </a:xfrm>
        </p:grpSpPr>
        <p:sp>
          <p:nvSpPr>
            <p:cNvPr id="36879" name="Text Box 4">
              <a:extLst>
                <a:ext uri="{FF2B5EF4-FFF2-40B4-BE49-F238E27FC236}">
                  <a16:creationId xmlns:a16="http://schemas.microsoft.com/office/drawing/2014/main" id="{A3668634-C755-CB9E-C01D-BFA9C9C00C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" y="1788"/>
              <a:ext cx="161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+mn-cs"/>
                </a:rPr>
                <a:t>当                  时，</a:t>
              </a:r>
            </a:p>
          </p:txBody>
        </p:sp>
        <p:graphicFrame>
          <p:nvGraphicFramePr>
            <p:cNvPr id="36880" name="Object 5">
              <a:extLst>
                <a:ext uri="{FF2B5EF4-FFF2-40B4-BE49-F238E27FC236}">
                  <a16:creationId xmlns:a16="http://schemas.microsoft.com/office/drawing/2014/main" id="{F5E18009-E3A4-DA17-0FD6-9B9422BCAB10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78389527"/>
                </p:ext>
              </p:extLst>
            </p:nvPr>
          </p:nvGraphicFramePr>
          <p:xfrm>
            <a:off x="466" y="1802"/>
            <a:ext cx="801" cy="2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2877800" imgH="4686300" progId="Equation.DSMT4">
                    <p:embed/>
                  </p:oleObj>
                </mc:Choice>
                <mc:Fallback>
                  <p:oleObj name="Equation" r:id="rId3" imgW="12877800" imgH="4686300" progId="Equation.DSMT4">
                    <p:embed/>
                    <p:pic>
                      <p:nvPicPr>
                        <p:cNvPr id="36880" name="Object 5">
                          <a:extLst>
                            <a:ext uri="{FF2B5EF4-FFF2-40B4-BE49-F238E27FC236}">
                              <a16:creationId xmlns:a16="http://schemas.microsoft.com/office/drawing/2014/main" id="{F5E18009-E3A4-DA17-0FD6-9B9422BCAB1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6" y="1802"/>
                          <a:ext cx="801" cy="2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9334" name="Object 6">
            <a:extLst>
              <a:ext uri="{FF2B5EF4-FFF2-40B4-BE49-F238E27FC236}">
                <a16:creationId xmlns:a16="http://schemas.microsoft.com/office/drawing/2014/main" id="{07AC3BC7-D9B0-FD4D-06D1-9EF98AFC43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45575"/>
              </p:ext>
            </p:extLst>
          </p:nvPr>
        </p:nvGraphicFramePr>
        <p:xfrm>
          <a:off x="3143602" y="2034243"/>
          <a:ext cx="2371067" cy="9307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114000" imgH="9067800" progId="Equation.DSMT4">
                  <p:embed/>
                </p:oleObj>
              </mc:Choice>
              <mc:Fallback>
                <p:oleObj name="Equation" r:id="rId5" imgW="23114000" imgH="9067800" progId="Equation.DSMT4">
                  <p:embed/>
                  <p:pic>
                    <p:nvPicPr>
                      <p:cNvPr id="99334" name="Object 6">
                        <a:extLst>
                          <a:ext uri="{FF2B5EF4-FFF2-40B4-BE49-F238E27FC236}">
                            <a16:creationId xmlns:a16="http://schemas.microsoft.com/office/drawing/2014/main" id="{07AC3BC7-D9B0-FD4D-06D1-9EF98AFC43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43602" y="2034243"/>
                        <a:ext cx="2371067" cy="9307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35" name="Object 7">
            <a:extLst>
              <a:ext uri="{FF2B5EF4-FFF2-40B4-BE49-F238E27FC236}">
                <a16:creationId xmlns:a16="http://schemas.microsoft.com/office/drawing/2014/main" id="{AE0D76E6-784E-4BE0-C544-2E2CFE97F2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4083232"/>
              </p:ext>
            </p:extLst>
          </p:nvPr>
        </p:nvGraphicFramePr>
        <p:xfrm>
          <a:off x="5514669" y="2199110"/>
          <a:ext cx="1464755" cy="4779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338300" imgH="4686300" progId="Equation.DSMT4">
                  <p:embed/>
                </p:oleObj>
              </mc:Choice>
              <mc:Fallback>
                <p:oleObj name="Equation" r:id="rId7" imgW="14338300" imgH="4686300" progId="Equation.DSMT4">
                  <p:embed/>
                  <p:pic>
                    <p:nvPicPr>
                      <p:cNvPr id="99335" name="Object 7">
                        <a:extLst>
                          <a:ext uri="{FF2B5EF4-FFF2-40B4-BE49-F238E27FC236}">
                            <a16:creationId xmlns:a16="http://schemas.microsoft.com/office/drawing/2014/main" id="{AE0D76E6-784E-4BE0-C544-2E2CFE97F22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4669" y="2199110"/>
                        <a:ext cx="1464755" cy="4779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36" name="Line 8">
            <a:extLst>
              <a:ext uri="{FF2B5EF4-FFF2-40B4-BE49-F238E27FC236}">
                <a16:creationId xmlns:a16="http://schemas.microsoft.com/office/drawing/2014/main" id="{B512AB69-780F-A479-A47E-2BDF0AC33150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7524750" y="3067050"/>
            <a:ext cx="0" cy="16573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KaiTi" panose="02010609060101010101" pitchFamily="49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337" name="Text Box 9">
                <a:extLst>
                  <a:ext uri="{FF2B5EF4-FFF2-40B4-BE49-F238E27FC236}">
                    <a16:creationId xmlns:a16="http://schemas.microsoft.com/office/drawing/2014/main" id="{569F6D0F-5C84-EEF5-BB72-90A5F05848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3400" y="4064401"/>
                <a:ext cx="4917821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0" defTabSz="9144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0" lang="zh-CN" altLang="en-US" sz="24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所以，关于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𝑌</m:t>
                    </m:r>
                  </m:oMath>
                </a14:m>
                <a:r>
                  <a:rPr kumimoji="0" lang="zh-CN" altLang="en-US" sz="24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的边缘</a:t>
                </a:r>
                <a:r>
                  <a:rPr lang="zh-CN" altLang="en-US" sz="2400" b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概率</a:t>
                </a:r>
                <a:r>
                  <a:rPr kumimoji="0" lang="zh-CN" altLang="en-US" sz="24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密度为       </a:t>
                </a:r>
              </a:p>
            </p:txBody>
          </p:sp>
        </mc:Choice>
        <mc:Fallback xmlns="">
          <p:sp>
            <p:nvSpPr>
              <p:cNvPr id="99337" name="Text Box 9">
                <a:extLst>
                  <a:ext uri="{FF2B5EF4-FFF2-40B4-BE49-F238E27FC236}">
                    <a16:creationId xmlns:a16="http://schemas.microsoft.com/office/drawing/2014/main" id="{569F6D0F-5C84-EEF5-BB72-90A5F0584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3400" y="4064401"/>
                <a:ext cx="4917821" cy="461665"/>
              </a:xfrm>
              <a:prstGeom prst="rect">
                <a:avLst/>
              </a:prstGeom>
              <a:blipFill>
                <a:blip r:embed="rId9"/>
                <a:stretch>
                  <a:fillRect l="-2062" t="-18919" b="-2432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9338" name="Object 10">
            <a:extLst>
              <a:ext uri="{FF2B5EF4-FFF2-40B4-BE49-F238E27FC236}">
                <a16:creationId xmlns:a16="http://schemas.microsoft.com/office/drawing/2014/main" id="{6E9940F9-A979-44A2-7469-9A0E3B2966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0077842"/>
              </p:ext>
            </p:extLst>
          </p:nvPr>
        </p:nvGraphicFramePr>
        <p:xfrm>
          <a:off x="582183" y="5085570"/>
          <a:ext cx="4550649" cy="11286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3002200" imgH="11112500" progId="Equation.DSMT4">
                  <p:embed/>
                </p:oleObj>
              </mc:Choice>
              <mc:Fallback>
                <p:oleObj name="Equation" r:id="rId10" imgW="43002200" imgH="11112500" progId="Equation.DSMT4">
                  <p:embed/>
                  <p:pic>
                    <p:nvPicPr>
                      <p:cNvPr id="99338" name="Object 10">
                        <a:extLst>
                          <a:ext uri="{FF2B5EF4-FFF2-40B4-BE49-F238E27FC236}">
                            <a16:creationId xmlns:a16="http://schemas.microsoft.com/office/drawing/2014/main" id="{6E9940F9-A979-44A2-7469-9A0E3B29661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183" y="5085570"/>
                        <a:ext cx="4550649" cy="11286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9339" name="Text Box 11">
                <a:extLst>
                  <a:ext uri="{FF2B5EF4-FFF2-40B4-BE49-F238E27FC236}">
                    <a16:creationId xmlns:a16="http://schemas.microsoft.com/office/drawing/2014/main" id="{0DCC5FF5-B10A-04D1-9B12-784D4F4A73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8950" y="549275"/>
                <a:ext cx="3763659" cy="4616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lvl="0" defTabSz="914400"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r>
                  <a:rPr kumimoji="0" lang="zh-CN" altLang="en-US" sz="24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关于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𝑌</m:t>
                    </m:r>
                  </m:oMath>
                </a14:m>
                <a:r>
                  <a:rPr kumimoji="0" lang="zh-CN" altLang="en-US" sz="24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的边缘</a:t>
                </a:r>
                <a:r>
                  <a:rPr lang="zh-CN" altLang="en-US" sz="2400" b="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KaiTi" panose="02010609060101010101" pitchFamily="49" charset="-122"/>
                  </a:rPr>
                  <a:t>概率</a:t>
                </a:r>
                <a:r>
                  <a:rPr kumimoji="0" lang="zh-CN" altLang="en-US" sz="24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密度为    </a:t>
                </a:r>
              </a:p>
            </p:txBody>
          </p:sp>
        </mc:Choice>
        <mc:Fallback xmlns="">
          <p:sp>
            <p:nvSpPr>
              <p:cNvPr id="99339" name="Text Box 11">
                <a:extLst>
                  <a:ext uri="{FF2B5EF4-FFF2-40B4-BE49-F238E27FC236}">
                    <a16:creationId xmlns:a16="http://schemas.microsoft.com/office/drawing/2014/main" id="{0DCC5FF5-B10A-04D1-9B12-784D4F4A7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88950" y="549275"/>
                <a:ext cx="3763659" cy="461665"/>
              </a:xfrm>
              <a:prstGeom prst="rect">
                <a:avLst/>
              </a:prstGeom>
              <a:blipFill>
                <a:blip r:embed="rId12"/>
                <a:stretch>
                  <a:fillRect l="-2349" t="-16216" b="-2432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9340" name="Object 12">
            <a:extLst>
              <a:ext uri="{FF2B5EF4-FFF2-40B4-BE49-F238E27FC236}">
                <a16:creationId xmlns:a16="http://schemas.microsoft.com/office/drawing/2014/main" id="{116BCAAC-FCFF-790B-B12B-E0E640B78B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5321860"/>
              </p:ext>
            </p:extLst>
          </p:nvPr>
        </p:nvGraphicFramePr>
        <p:xfrm>
          <a:off x="4104195" y="322483"/>
          <a:ext cx="3414078" cy="8371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1013400" imgH="7607300" progId="Equation.DSMT4">
                  <p:embed/>
                </p:oleObj>
              </mc:Choice>
              <mc:Fallback>
                <p:oleObj name="Equation" r:id="rId13" imgW="31013400" imgH="7607300" progId="Equation.DSMT4">
                  <p:embed/>
                  <p:pic>
                    <p:nvPicPr>
                      <p:cNvPr id="99340" name="Object 12">
                        <a:extLst>
                          <a:ext uri="{FF2B5EF4-FFF2-40B4-BE49-F238E27FC236}">
                            <a16:creationId xmlns:a16="http://schemas.microsoft.com/office/drawing/2014/main" id="{116BCAAC-FCFF-790B-B12B-E0E640B78B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4195" y="322483"/>
                        <a:ext cx="3414078" cy="8371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9341" name="Group 13">
            <a:extLst>
              <a:ext uri="{FF2B5EF4-FFF2-40B4-BE49-F238E27FC236}">
                <a16:creationId xmlns:a16="http://schemas.microsoft.com/office/drawing/2014/main" id="{BCED1061-F566-CF11-05DA-C081A27772AC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1370025"/>
            <a:ext cx="3108325" cy="481013"/>
            <a:chOff x="373" y="3766"/>
            <a:chExt cx="1958" cy="303"/>
          </a:xfrm>
        </p:grpSpPr>
        <p:sp>
          <p:nvSpPr>
            <p:cNvPr id="36876" name="Text Box 14">
              <a:extLst>
                <a:ext uri="{FF2B5EF4-FFF2-40B4-BE49-F238E27FC236}">
                  <a16:creationId xmlns:a16="http://schemas.microsoft.com/office/drawing/2014/main" id="{F15925DE-BE6C-A702-BF4F-CF3783EA0F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3" y="3772"/>
              <a:ext cx="195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KaiTi" panose="02010609060101010101" pitchFamily="49" charset="-122"/>
                  <a:cs typeface="+mn-cs"/>
                </a:rPr>
                <a:t>当             或            时</a:t>
              </a:r>
            </a:p>
          </p:txBody>
        </p:sp>
        <p:graphicFrame>
          <p:nvGraphicFramePr>
            <p:cNvPr id="36877" name="Object 15">
              <a:extLst>
                <a:ext uri="{FF2B5EF4-FFF2-40B4-BE49-F238E27FC236}">
                  <a16:creationId xmlns:a16="http://schemas.microsoft.com/office/drawing/2014/main" id="{090E0E88-20D0-32E9-6D3E-6E1142450FD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41289922"/>
                </p:ext>
              </p:extLst>
            </p:nvPr>
          </p:nvGraphicFramePr>
          <p:xfrm>
            <a:off x="625" y="3767"/>
            <a:ext cx="529" cy="3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8191500" imgH="4686300" progId="Equation.DSMT4">
                    <p:embed/>
                  </p:oleObj>
                </mc:Choice>
                <mc:Fallback>
                  <p:oleObj name="Equation" r:id="rId15" imgW="8191500" imgH="4686300" progId="Equation.DSMT4">
                    <p:embed/>
                    <p:pic>
                      <p:nvPicPr>
                        <p:cNvPr id="36877" name="Object 15">
                          <a:extLst>
                            <a:ext uri="{FF2B5EF4-FFF2-40B4-BE49-F238E27FC236}">
                              <a16:creationId xmlns:a16="http://schemas.microsoft.com/office/drawing/2014/main" id="{090E0E88-20D0-32E9-6D3E-6E1142450FD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25" y="3767"/>
                          <a:ext cx="529" cy="3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878" name="Object 16">
              <a:extLst>
                <a:ext uri="{FF2B5EF4-FFF2-40B4-BE49-F238E27FC236}">
                  <a16:creationId xmlns:a16="http://schemas.microsoft.com/office/drawing/2014/main" id="{9781EEA0-61D4-EBD0-FB00-B84046A3B70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25230691"/>
                </p:ext>
              </p:extLst>
            </p:nvPr>
          </p:nvGraphicFramePr>
          <p:xfrm>
            <a:off x="1497" y="3766"/>
            <a:ext cx="491" cy="3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7607300" imgH="4686300" progId="Equation.DSMT4">
                    <p:embed/>
                  </p:oleObj>
                </mc:Choice>
                <mc:Fallback>
                  <p:oleObj name="Equation" r:id="rId17" imgW="7607300" imgH="4686300" progId="Equation.DSMT4">
                    <p:embed/>
                    <p:pic>
                      <p:nvPicPr>
                        <p:cNvPr id="36878" name="Object 16">
                          <a:extLst>
                            <a:ext uri="{FF2B5EF4-FFF2-40B4-BE49-F238E27FC236}">
                              <a16:creationId xmlns:a16="http://schemas.microsoft.com/office/drawing/2014/main" id="{9781EEA0-61D4-EBD0-FB00-B84046A3B704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7" y="3766"/>
                          <a:ext cx="491" cy="3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9345" name="Object 17">
            <a:extLst>
              <a:ext uri="{FF2B5EF4-FFF2-40B4-BE49-F238E27FC236}">
                <a16:creationId xmlns:a16="http://schemas.microsoft.com/office/drawing/2014/main" id="{5036EE9E-DBB3-81C6-E409-0DFDD05428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0489104"/>
              </p:ext>
            </p:extLst>
          </p:nvPr>
        </p:nvGraphicFramePr>
        <p:xfrm>
          <a:off x="4064181" y="1350821"/>
          <a:ext cx="1464755" cy="538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4338300" imgH="5270500" progId="Equation.DSMT4">
                  <p:embed/>
                </p:oleObj>
              </mc:Choice>
              <mc:Fallback>
                <p:oleObj name="Equation" r:id="rId19" imgW="14338300" imgH="5270500" progId="Equation.DSMT4">
                  <p:embed/>
                  <p:pic>
                    <p:nvPicPr>
                      <p:cNvPr id="99345" name="Object 17">
                        <a:extLst>
                          <a:ext uri="{FF2B5EF4-FFF2-40B4-BE49-F238E27FC236}">
                            <a16:creationId xmlns:a16="http://schemas.microsoft.com/office/drawing/2014/main" id="{5036EE9E-DBB3-81C6-E409-0DFDD054288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181" y="1350821"/>
                        <a:ext cx="1464755" cy="53814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25FEE168-23D0-6EFF-4880-93A7786DF056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37" grpId="0"/>
      <p:bldP spid="9933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0362" name="Object 10">
            <a:extLst>
              <a:ext uri="{FF2B5EF4-FFF2-40B4-BE49-F238E27FC236}">
                <a16:creationId xmlns:a16="http://schemas.microsoft.com/office/drawing/2014/main" id="{DAF6F962-A2A2-4016-AC97-9A6BA42EE4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708716"/>
              </p:ext>
            </p:extLst>
          </p:nvPr>
        </p:nvGraphicFramePr>
        <p:xfrm>
          <a:off x="357850" y="2197441"/>
          <a:ext cx="7305675" cy="14386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7825600" imgH="15214600" progId="Equation.DSMT4">
                  <p:embed/>
                </p:oleObj>
              </mc:Choice>
              <mc:Fallback>
                <p:oleObj name="Equation" r:id="rId2" imgW="77825600" imgH="15214600" progId="Equation.DSMT4">
                  <p:embed/>
                  <p:pic>
                    <p:nvPicPr>
                      <p:cNvPr id="100362" name="Object 10">
                        <a:extLst>
                          <a:ext uri="{FF2B5EF4-FFF2-40B4-BE49-F238E27FC236}">
                            <a16:creationId xmlns:a16="http://schemas.microsoft.com/office/drawing/2014/main" id="{DAF6F962-A2A2-4016-AC97-9A6BA42EE46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850" y="2197441"/>
                        <a:ext cx="7305675" cy="14386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0373" name="Text Box 21">
                <a:extLst>
                  <a:ext uri="{FF2B5EF4-FFF2-40B4-BE49-F238E27FC236}">
                    <a16:creationId xmlns:a16="http://schemas.microsoft.com/office/drawing/2014/main" id="{E59E70C8-F5D4-1EB5-DEF0-7BC7B1E566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34660" y="4916262"/>
                <a:ext cx="384111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所以，</a:t>
                </a:r>
                <a14:m>
                  <m:oMath xmlns:m="http://schemas.openxmlformats.org/officeDocument/2006/math"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𝑋</m:t>
                    </m:r>
                  </m:oMath>
                </a14:m>
                <a:r>
                  <a:rPr kumimoji="0" lang="zh-CN" altLang="en-US" sz="28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与</a:t>
                </a:r>
                <a14:m>
                  <m:oMath xmlns:m="http://schemas.openxmlformats.org/officeDocument/2006/math">
                    <m:r>
                      <a:rPr kumimoji="0" lang="en-US" altLang="zh-CN" sz="28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CC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KaiTi" panose="02010609060101010101" pitchFamily="49" charset="-122"/>
                        <a:cs typeface="+mn-cs"/>
                      </a:rPr>
                      <m:t>𝑌</m:t>
                    </m:r>
                  </m:oMath>
                </a14:m>
                <a:r>
                  <a:rPr kumimoji="0" lang="zh-CN" altLang="en-US" sz="28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不独立</a:t>
                </a:r>
                <a:r>
                  <a:rPr kumimoji="0" lang="zh-CN" altLang="en-US" sz="28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KaiTi" panose="02010609060101010101" pitchFamily="49" charset="-122"/>
                    <a:cs typeface="+mn-cs"/>
                  </a:rPr>
                  <a:t>。   </a:t>
                </a:r>
              </a:p>
            </p:txBody>
          </p:sp>
        </mc:Choice>
        <mc:Fallback xmlns="">
          <p:sp>
            <p:nvSpPr>
              <p:cNvPr id="100373" name="Text Box 21">
                <a:extLst>
                  <a:ext uri="{FF2B5EF4-FFF2-40B4-BE49-F238E27FC236}">
                    <a16:creationId xmlns:a16="http://schemas.microsoft.com/office/drawing/2014/main" id="{E59E70C8-F5D4-1EB5-DEF0-7BC7B1E56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34660" y="4916262"/>
                <a:ext cx="3841116" cy="523220"/>
              </a:xfrm>
              <a:prstGeom prst="rect">
                <a:avLst/>
              </a:prstGeom>
              <a:blipFill>
                <a:blip r:embed="rId4"/>
                <a:stretch>
                  <a:fillRect l="-3300" t="-13953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矩形 1">
            <a:extLst>
              <a:ext uri="{FF2B5EF4-FFF2-40B4-BE49-F238E27FC236}">
                <a16:creationId xmlns:a16="http://schemas.microsoft.com/office/drawing/2014/main" id="{8EC9DF15-47B1-32C3-B54C-17C49E563A15}"/>
              </a:ext>
            </a:extLst>
          </p:cNvPr>
          <p:cNvSpPr/>
          <p:nvPr/>
        </p:nvSpPr>
        <p:spPr bwMode="auto">
          <a:xfrm>
            <a:off x="0" y="0"/>
            <a:ext cx="260169" cy="6858000"/>
          </a:xfrm>
          <a:prstGeom prst="rect">
            <a:avLst/>
          </a:prstGeom>
          <a:solidFill>
            <a:srgbClr val="0070C0"/>
          </a:solidFill>
          <a:ln w="9525" cap="flat" cmpd="sng" algn="ctr">
            <a:solidFill>
              <a:srgbClr val="0070C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3" name="Object 20">
            <a:extLst>
              <a:ext uri="{FF2B5EF4-FFF2-40B4-BE49-F238E27FC236}">
                <a16:creationId xmlns:a16="http://schemas.microsoft.com/office/drawing/2014/main" id="{59B30FF2-7EE4-9AD6-2D12-8DD74A6A9A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2724937"/>
              </p:ext>
            </p:extLst>
          </p:nvPr>
        </p:nvGraphicFramePr>
        <p:xfrm>
          <a:off x="357850" y="4000830"/>
          <a:ext cx="5643435" cy="14386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59690000" imgH="15214600" progId="Equation.DSMT4">
                  <p:embed/>
                </p:oleObj>
              </mc:Choice>
              <mc:Fallback>
                <p:oleObj name="Equation" r:id="rId5" imgW="59690000" imgH="15214600" progId="Equation.DSMT4">
                  <p:embed/>
                  <p:pic>
                    <p:nvPicPr>
                      <p:cNvPr id="3" name="Object 20">
                        <a:extLst>
                          <a:ext uri="{FF2B5EF4-FFF2-40B4-BE49-F238E27FC236}">
                            <a16:creationId xmlns:a16="http://schemas.microsoft.com/office/drawing/2014/main" id="{59B30FF2-7EE4-9AD6-2D12-8DD74A6A9A4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850" y="4000830"/>
                        <a:ext cx="5643435" cy="14386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1">
            <a:extLst>
              <a:ext uri="{FF2B5EF4-FFF2-40B4-BE49-F238E27FC236}">
                <a16:creationId xmlns:a16="http://schemas.microsoft.com/office/drawing/2014/main" id="{5AFA09B0-4FB7-CD78-7796-5D765B02E9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3782519"/>
              </p:ext>
            </p:extLst>
          </p:nvPr>
        </p:nvGraphicFramePr>
        <p:xfrm>
          <a:off x="357850" y="421913"/>
          <a:ext cx="4214150" cy="12393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8564800" imgH="15214600" progId="Equation.DSMT4">
                  <p:embed/>
                </p:oleObj>
              </mc:Choice>
              <mc:Fallback>
                <p:oleObj name="Equation" r:id="rId7" imgW="48564800" imgH="15214600" progId="Equation.DSMT4">
                  <p:embed/>
                  <p:pic>
                    <p:nvPicPr>
                      <p:cNvPr id="4" name="Object 31">
                        <a:extLst>
                          <a:ext uri="{FF2B5EF4-FFF2-40B4-BE49-F238E27FC236}">
                            <a16:creationId xmlns:a16="http://schemas.microsoft.com/office/drawing/2014/main" id="{5AFA09B0-4FB7-CD78-7796-5D765B02E9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7850" y="421913"/>
                        <a:ext cx="4214150" cy="12393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0">
            <a:extLst>
              <a:ext uri="{FF2B5EF4-FFF2-40B4-BE49-F238E27FC236}">
                <a16:creationId xmlns:a16="http://schemas.microsoft.com/office/drawing/2014/main" id="{2AAFE9CD-02EE-451D-5134-126C237F8D3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2625785"/>
              </p:ext>
            </p:extLst>
          </p:nvPr>
        </p:nvGraphicFramePr>
        <p:xfrm>
          <a:off x="4747566" y="503564"/>
          <a:ext cx="4128210" cy="10760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3002200" imgH="11112500" progId="Equation.DSMT4">
                  <p:embed/>
                </p:oleObj>
              </mc:Choice>
              <mc:Fallback>
                <p:oleObj name="Equation" r:id="rId9" imgW="43002200" imgH="11112500" progId="Equation.DSMT4">
                  <p:embed/>
                  <p:pic>
                    <p:nvPicPr>
                      <p:cNvPr id="5" name="Object 10">
                        <a:extLst>
                          <a:ext uri="{FF2B5EF4-FFF2-40B4-BE49-F238E27FC236}">
                            <a16:creationId xmlns:a16="http://schemas.microsoft.com/office/drawing/2014/main" id="{2AAFE9CD-02EE-451D-5134-126C237F8D3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7566" y="503564"/>
                        <a:ext cx="4128210" cy="10760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7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EEA5205-4981-C66B-D10E-2B591C04D0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36764" y="1324432"/>
                <a:ext cx="8670472" cy="5198288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i="1" dirty="0"/>
                  <a:t>n</a:t>
                </a:r>
                <a:r>
                  <a:rPr lang="zh-CN" altLang="en-US" sz="2400" dirty="0"/>
                  <a:t>维随机变量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 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,…, 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 baseline="-25000" dirty="0" err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zh-CN" altLang="en-US" sz="2400" dirty="0"/>
                  <a:t>的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分布函数</a:t>
                </a:r>
                <a:r>
                  <a:rPr lang="zh-CN" altLang="en-US" sz="2400" dirty="0"/>
                  <a:t>定义为</a:t>
                </a:r>
                <a:endParaRPr lang="en-US" altLang="zh-CN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sz="2400" dirty="0"/>
                  <a:t>          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 {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2400" dirty="0"/>
                  <a:t> </a:t>
                </a:r>
                <a:endParaRPr lang="en-US" altLang="zh-CN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sz="2400" dirty="0"/>
                  <a:t>其中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, …, 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400" i="1" baseline="-25000" dirty="0" err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sz="2400" dirty="0"/>
                  <a:t>为任意实数。</a:t>
                </a:r>
                <a:endParaRPr lang="en-US" altLang="zh-CN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400" dirty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EEA5205-4981-C66B-D10E-2B591C04D0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6764" y="1324432"/>
                <a:ext cx="8670472" cy="5198288"/>
              </a:xfrm>
              <a:blipFill>
                <a:blip r:embed="rId2"/>
                <a:stretch>
                  <a:fillRect l="-10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A058881D-A32C-B8B1-3FC7-CA9D085A0C3B}"/>
              </a:ext>
            </a:extLst>
          </p:cNvPr>
          <p:cNvCxnSpPr/>
          <p:nvPr/>
        </p:nvCxnSpPr>
        <p:spPr>
          <a:xfrm>
            <a:off x="0" y="931863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2">
            <a:extLst>
              <a:ext uri="{FF2B5EF4-FFF2-40B4-BE49-F238E27FC236}">
                <a16:creationId xmlns:a16="http://schemas.microsoft.com/office/drawing/2014/main" id="{868050C7-2CAD-422A-B789-205ACA12DEA6}"/>
              </a:ext>
            </a:extLst>
          </p:cNvPr>
          <p:cNvSpPr txBox="1">
            <a:spLocks noChangeArrowheads="1"/>
          </p:cNvSpPr>
          <p:nvPr/>
        </p:nvSpPr>
        <p:spPr>
          <a:xfrm>
            <a:off x="1367632" y="242888"/>
            <a:ext cx="6703472" cy="593725"/>
          </a:xfrm>
          <a:prstGeom prst="rect">
            <a:avLst/>
          </a:prstGeom>
          <a:effectLst>
            <a:prstShdw prst="shdw17" dist="17961" dir="2700000">
              <a:srgbClr val="00E4A8">
                <a:gamma/>
                <a:shade val="60000"/>
                <a:invGamma/>
              </a:srgbClr>
            </a:prstShdw>
          </a:effectLst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0" i="0" kern="1200">
                <a:solidFill>
                  <a:schemeClr val="tx2"/>
                </a:solidFill>
                <a:latin typeface="+mj-lt"/>
                <a:ea typeface="KaiTi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j-cs"/>
              </a:rPr>
              <a:t>n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j-cs"/>
              </a:rPr>
              <a:t>维随机变量的联合分布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华文新魏" panose="020108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BE0F7BD-571B-E8BD-AC70-E5F51A9030F3}"/>
                  </a:ext>
                </a:extLst>
              </p:cNvPr>
              <p:cNvSpPr txBox="1"/>
              <p:nvPr/>
            </p:nvSpPr>
            <p:spPr>
              <a:xfrm>
                <a:off x="236764" y="3429000"/>
                <a:ext cx="8407506" cy="29424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若存在非负可积函数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𝑓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…, </m:t>
                    </m:r>
                    <m:r>
                      <a:rPr kumimoji="0" lang="en-US" altLang="zh-CN" sz="2400" b="0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altLang="zh-CN" sz="2400" b="0" i="1" u="none" strike="noStrike" kern="1200" cap="none" spc="0" normalizeH="0" baseline="-2500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,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 对于任意实数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…, </m:t>
                    </m:r>
                    <m:r>
                      <a:rPr kumimoji="0" lang="en-US" altLang="zh-CN" sz="2400" b="0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altLang="zh-CN" sz="2400" b="0" i="1" u="none" strike="noStrike" kern="1200" cap="none" spc="0" normalizeH="0" baseline="-2500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,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𝐹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,…,</m:t>
                          </m:r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kumimoji="0" lang="en-US" altLang="zh-CN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nary>
                        <m:naryPr>
                          <m:ctrlP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∞</m:t>
                          </m:r>
                        </m:sub>
                        <m:sup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n</m:t>
                              </m:r>
                            </m:sub>
                          </m:sSub>
                        </m:sup>
                        <m:e>
                          <m:nary>
                            <m:nary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∞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kumimoji="0" lang="en-US" altLang="zh-CN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kumimoji="0" lang="en-US" altLang="zh-CN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𝑛</m:t>
                                  </m:r>
                                  <m:r>
                                    <a:rPr kumimoji="0" lang="en-US" altLang="zh-CN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−1</m:t>
                                  </m:r>
                                </m:sub>
                              </m:sSub>
                            </m:sup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…</m:t>
                              </m:r>
                              <m:nary>
                                <m:naryPr>
                                  <m:ctrlPr>
                                    <a:rPr kumimoji="0" lang="en-US" altLang="zh-CN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kumimoji="0" lang="en-US" altLang="zh-CN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kumimoji="0" lang="en-US" altLang="zh-CN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∞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kumimoji="0" lang="en-US" altLang="zh-CN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CN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0" lang="en-US" altLang="zh-CN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1</m:t>
                                      </m:r>
                                    </m:sub>
                                  </m:sSub>
                                </m:sup>
                                <m:e>
                                  <m:r>
                                    <a:rPr kumimoji="0" lang="en-US" altLang="zh-CN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kumimoji="0" lang="en-US" altLang="zh-CN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kumimoji="0" lang="en-US" altLang="zh-CN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CN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CN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kumimoji="0" lang="en-US" altLang="zh-CN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kumimoji="0" lang="en-US" altLang="zh-CN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CN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CN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kumimoji="0" lang="en-US" altLang="zh-CN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,…,</m:t>
                                      </m:r>
                                      <m:sSub>
                                        <m:sSubPr>
                                          <m:ctrlPr>
                                            <a:rPr kumimoji="0" lang="en-US" altLang="zh-CN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en-US" altLang="zh-CN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kumimoji="0" lang="en-US" altLang="zh-CN" sz="24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+mn-cs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kumimoji="0" lang="en-US" altLang="zh-CN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kumimoji="0" lang="en-US" altLang="zh-CN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CN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0" lang="en-US" altLang="zh-CN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kumimoji="0" lang="en-US" altLang="zh-CN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kumimoji="0" lang="en-US" altLang="zh-CN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CN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0" lang="en-US" altLang="zh-CN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a:rPr kumimoji="0" lang="en-US" altLang="zh-CN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…</m:t>
                                  </m:r>
                                  <m:r>
                                    <a:rPr kumimoji="0" lang="en-US" altLang="zh-CN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𝑑</m:t>
                                  </m:r>
                                  <m:sSub>
                                    <m:sSubPr>
                                      <m:ctrlPr>
                                        <a:rPr kumimoji="0" lang="en-US" altLang="zh-CN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CN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kumimoji="0" lang="en-US" altLang="zh-CN" sz="24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kumimoji="0" lang="en-US" altLang="zh-CN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, </m:t>
                                  </m:r>
                                </m:e>
                              </m:nary>
                            </m:e>
                          </m:nary>
                        </m:e>
                      </m:nary>
                    </m:oMath>
                  </m:oMathPara>
                </a14:m>
                <a:endParaRPr kumimoji="0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楷体" panose="02010609060101010101" pitchFamily="49" charset="-122"/>
                  <a:cs typeface="+mn-cs"/>
                </a:endParaRPr>
              </a:p>
              <a:p>
                <a:pPr lvl="0" defTabSz="914400" eaLnBrk="0" fontAlgn="base" hangingPunct="0">
                  <a:lnSpc>
                    <a:spcPct val="15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defRPr/>
                </a:pPr>
                <a14:m>
                  <m:oMath xmlns:m="http://schemas.openxmlformats.org/officeDocument/2006/math">
                    <m:r>
                      <a:rPr kumimoji="0" lang="zh-CN" alt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则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称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𝑓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</m:t>
                    </m:r>
                    <m:r>
                      <a:rPr kumimoji="0" lang="zh-CN" alt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,…,</m:t>
                    </m:r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为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,…, </m:t>
                    </m:r>
                    <m:r>
                      <a:rPr kumimoji="0" lang="en-US" altLang="zh-CN" sz="2400" b="0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)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的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概率密度函数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。</a:t>
                </a: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BE0F7BD-571B-E8BD-AC70-E5F51A9030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64" y="3429000"/>
                <a:ext cx="8407506" cy="2942409"/>
              </a:xfrm>
              <a:prstGeom prst="rect">
                <a:avLst/>
              </a:prstGeom>
              <a:blipFill>
                <a:blip r:embed="rId3"/>
                <a:stretch>
                  <a:fillRect l="-1056" t="-5172" b="-521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668486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EEA5205-4981-C66B-D10E-2B591C04D0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539751"/>
                <a:ext cx="9309572" cy="6669360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45000"/>
                  </a:lnSpc>
                  <a:buNone/>
                </a:pPr>
                <a:endParaRPr lang="en-US" altLang="zh-CN" sz="2400" dirty="0"/>
              </a:p>
              <a:p>
                <a:pPr marL="0" indent="0">
                  <a:lnSpc>
                    <a:spcPct val="145000"/>
                  </a:lnSpc>
                  <a:buNone/>
                </a:pPr>
                <a:r>
                  <a:rPr lang="zh-CN" altLang="en-US" sz="2400" dirty="0"/>
                  <a:t>设</a:t>
                </a:r>
                <a14:m>
                  <m:oMath xmlns:m="http://schemas.openxmlformats.org/officeDocument/2006/math"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,…, 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 baseline="-25000" dirty="0" err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)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的</m:t>
                    </m:r>
                    <m:r>
                      <a:rPr lang="zh-CN" altLang="en-US" sz="2400" i="1">
                        <a:latin typeface="Cambria Math" panose="02040503050406030204" pitchFamily="18" charset="0"/>
                      </a:rPr>
                      <m:t>分布</m:t>
                    </m:r>
                    <m:r>
                      <a:rPr lang="zh-CN" altLang="en-US" sz="2400" i="1" smtClean="0">
                        <a:latin typeface="Cambria Math" panose="02040503050406030204" pitchFamily="18" charset="0"/>
                      </a:rPr>
                      <m:t>函数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2400" dirty="0"/>
                  <a:t>为已知，则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,…, </m:t>
                    </m:r>
                    <m:r>
                      <a:rPr lang="en-US" altLang="zh-CN" sz="2400" i="1" dirty="0" err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 baseline="-25000" dirty="0" err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zh-CN" altLang="en-US" sz="2400" dirty="0"/>
                  <a:t>的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(1≤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sz="2400" dirty="0"/>
                  <a:t>维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边缘分布函数</a:t>
                </a:r>
                <a:r>
                  <a:rPr lang="zh-CN" altLang="en-US" sz="2400" dirty="0"/>
                  <a:t>就随之确定</a:t>
                </a:r>
                <a:endParaRPr lang="en-US" altLang="zh-CN" sz="2400" dirty="0"/>
              </a:p>
              <a:p>
                <a:pPr marL="0" indent="0">
                  <a:lnSpc>
                    <a:spcPct val="145000"/>
                  </a:lnSpc>
                  <a:buNone/>
                </a:pPr>
                <a:r>
                  <a:rPr lang="zh-CN" altLang="en-US" sz="2400" dirty="0"/>
                  <a:t>关于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的边缘分布函数分别为：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1,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∞,∞,…,∞</m:t>
                        </m:r>
                      </m:e>
                    </m:d>
                  </m:oMath>
                </a14:m>
                <a:r>
                  <a:rPr lang="en-US" altLang="zh-CN" sz="2400" dirty="0"/>
                  <a:t>,</a:t>
                </a:r>
                <a:r>
                  <a:rPr lang="zh-CN" altLang="en-US" sz="2400" dirty="0"/>
                  <a:t> </a:t>
                </a:r>
                <a:endParaRPr lang="en-US" altLang="zh-CN" sz="2400" dirty="0"/>
              </a:p>
              <a:p>
                <a:pPr marL="0" indent="0">
                  <a:lnSpc>
                    <a:spcPct val="145000"/>
                  </a:lnSpc>
                  <a:buNone/>
                </a:pPr>
                <a:r>
                  <a:rPr lang="zh-CN" altLang="en-US" sz="2400" dirty="0"/>
                  <a:t>关于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400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1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2400" i="1" baseline="-25000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zh-CN" altLang="en-US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zh-CN" altLang="en-US" sz="2400" dirty="0"/>
                  <a:t>的边缘分布函数为：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altLang="zh-C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1,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</m:sub>
                        </m:sSub>
                        <m:r>
                          <a:rPr lang="en-US" altLang="zh-CN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,∞,…,∞</m:t>
                        </m:r>
                      </m:e>
                    </m:d>
                  </m:oMath>
                </a14:m>
                <a:r>
                  <a:rPr lang="en-US" altLang="zh-CN" sz="2400" dirty="0"/>
                  <a:t>,</a:t>
                </a:r>
              </a:p>
              <a:p>
                <a:pPr marL="0" indent="0">
                  <a:lnSpc>
                    <a:spcPct val="145000"/>
                  </a:lnSpc>
                  <a:buNone/>
                </a:pPr>
                <a:endParaRPr lang="en-US" altLang="zh-CN" sz="2400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EEA5205-4981-C66B-D10E-2B591C04D0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539751"/>
                <a:ext cx="9309572" cy="6669360"/>
              </a:xfrm>
              <a:blipFill>
                <a:blip r:embed="rId2"/>
                <a:stretch>
                  <a:fillRect l="-1091" r="-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D7CFF1F1-E7FB-8741-FF33-0B379A3EF035}"/>
              </a:ext>
            </a:extLst>
          </p:cNvPr>
          <p:cNvCxnSpPr/>
          <p:nvPr/>
        </p:nvCxnSpPr>
        <p:spPr>
          <a:xfrm>
            <a:off x="0" y="931863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2">
            <a:extLst>
              <a:ext uri="{FF2B5EF4-FFF2-40B4-BE49-F238E27FC236}">
                <a16:creationId xmlns:a16="http://schemas.microsoft.com/office/drawing/2014/main" id="{17E375C4-FA87-317E-CE0F-99ACC3F4FF07}"/>
              </a:ext>
            </a:extLst>
          </p:cNvPr>
          <p:cNvSpPr txBox="1">
            <a:spLocks noChangeArrowheads="1"/>
          </p:cNvSpPr>
          <p:nvPr/>
        </p:nvSpPr>
        <p:spPr>
          <a:xfrm>
            <a:off x="1367632" y="242888"/>
            <a:ext cx="6703472" cy="593725"/>
          </a:xfrm>
          <a:prstGeom prst="rect">
            <a:avLst/>
          </a:prstGeom>
          <a:effectLst>
            <a:prstShdw prst="shdw17" dist="17961" dir="2700000">
              <a:srgbClr val="00E4A8">
                <a:gamma/>
                <a:shade val="60000"/>
                <a:invGamma/>
              </a:srgbClr>
            </a:prstShdw>
          </a:effectLst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0" i="0" kern="1200">
                <a:solidFill>
                  <a:schemeClr val="tx2"/>
                </a:solidFill>
                <a:latin typeface="+mj-lt"/>
                <a:ea typeface="KaiTi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j-cs"/>
              </a:rPr>
              <a:t>n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j-cs"/>
              </a:rPr>
              <a:t>维随机变量的边缘分布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华文新魏" panose="020108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97966E6-AA62-D472-4CF3-54726AFE5A27}"/>
                  </a:ext>
                </a:extLst>
              </p:cNvPr>
              <p:cNvSpPr txBox="1"/>
              <p:nvPr/>
            </p:nvSpPr>
            <p:spPr>
              <a:xfrm>
                <a:off x="116957" y="3719450"/>
                <a:ext cx="8623005" cy="24187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4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𝑓</m:t>
                          </m:r>
                        </m:e>
                        <m:sub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kumimoji="0" lang="en-US" altLang="zh-CN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nary>
                        <m:naryPr>
                          <m:ctrlP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−</m:t>
                          </m:r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∞</m:t>
                          </m:r>
                        </m:sub>
                        <m:sup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+mn-cs"/>
                            </a:rPr>
                            <m:t>∞</m:t>
                          </m:r>
                        </m:sup>
                        <m:e>
                          <m:nary>
                            <m:nary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∞</m:t>
                              </m:r>
                            </m:sub>
                            <m:sup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∞</m:t>
                              </m:r>
                            </m:sup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…</m:t>
                              </m:r>
                              <m:nary>
                                <m:naryPr>
                                  <m:ctrlPr>
                                    <a:rPr kumimoji="0" lang="en-US" altLang="zh-CN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kumimoji="0" lang="en-US" altLang="zh-CN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−</m:t>
                                  </m:r>
                                  <m:r>
                                    <a:rPr kumimoji="0" lang="en-US" altLang="zh-CN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∞</m:t>
                                  </m:r>
                                </m:sub>
                                <m:sup>
                                  <m:r>
                                    <a:rPr kumimoji="0" lang="en-US" altLang="zh-CN" sz="24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+mn-cs"/>
                                    </a:rPr>
                                    <m:t>∞</m:t>
                                  </m:r>
                                </m:sup>
                                <m:e>
                                  <m:r>
                                    <a:rPr kumimoji="0" lang="en-US" altLang="zh-CN" sz="2400" b="0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𝑓</m:t>
                                  </m:r>
                                  <m:r>
                                    <a:rPr kumimoji="0" lang="en-US" altLang="zh-CN" sz="2400" b="0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(</m:t>
                                  </m:r>
                                  <m:r>
                                    <a:rPr kumimoji="0" lang="en-US" altLang="zh-CN" sz="2400" b="0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𝑥</m:t>
                                  </m:r>
                                  <m:r>
                                    <a:rPr kumimoji="0" lang="en-US" altLang="zh-CN" sz="2400" b="0" i="1" u="none" strike="noStrike" kern="1200" cap="none" spc="0" normalizeH="0" baseline="-2500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1</m:t>
                                  </m:r>
                                  <m:r>
                                    <a:rPr kumimoji="0" lang="en-US" altLang="zh-CN" sz="2400" b="0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,</m:t>
                                  </m:r>
                                  <m:r>
                                    <a:rPr kumimoji="0" lang="en-US" altLang="zh-CN" sz="2400" b="0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𝑥</m:t>
                                  </m:r>
                                  <m:r>
                                    <a:rPr kumimoji="0" lang="en-US" altLang="zh-CN" sz="2400" b="0" i="1" u="none" strike="noStrike" kern="1200" cap="none" spc="0" normalizeH="0" baseline="-2500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2</m:t>
                                  </m:r>
                                  <m:r>
                                    <a:rPr kumimoji="0" lang="en-US" altLang="zh-CN" sz="2400" b="0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, …, </m:t>
                                  </m:r>
                                  <m:r>
                                    <a:rPr kumimoji="0" lang="en-US" altLang="zh-CN" sz="2400" b="0" i="1" u="none" strike="noStrike" kern="1200" cap="none" spc="0" normalizeH="0" baseline="0" noProof="0" dirty="0" err="1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𝑥</m:t>
                                  </m:r>
                                  <m:r>
                                    <a:rPr kumimoji="0" lang="en-US" altLang="zh-CN" sz="2400" b="0" i="1" u="none" strike="noStrike" kern="1200" cap="none" spc="0" normalizeH="0" baseline="-25000" noProof="0" dirty="0" err="1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𝑛</m:t>
                                  </m:r>
                                  <m:r>
                                    <a:rPr kumimoji="0" lang="en-US" altLang="zh-CN" sz="2400" b="0" i="1" u="none" strike="noStrike" kern="1200" cap="none" spc="0" normalizeH="0" baseline="0" noProof="0" dirty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nary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𝑑</m:t>
                          </m:r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e>
                      </m:nary>
                      <m:r>
                        <a:rPr kumimoji="0" lang="en-US" altLang="zh-CN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𝑑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3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…</m:t>
                      </m:r>
                      <m:r>
                        <a:rPr kumimoji="0" lang="en-US" altLang="zh-CN" sz="24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𝑑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𝑥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4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Tx/>
                  <a:buFontTx/>
                  <a:buNone/>
                  <a:tabLst/>
                  <a:defRPr/>
                </a:pP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 panose="02010609060101010101" pitchFamily="49" charset="-122"/>
                  <a:cs typeface="+mn-cs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𝑓</m:t>
                        </m:r>
                      </m:e>
                      <m:sub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</m:sub>
                    </m:sSub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kumimoji="0" lang="en-US" altLang="zh-CN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nary>
                      <m:nary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∞</m:t>
                        </m:r>
                      </m:sub>
                      <m:sup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+mn-cs"/>
                          </a:rPr>
                          <m:t>∞</m:t>
                        </m:r>
                      </m:sup>
                      <m:e>
                        <m:nary>
                          <m:naryPr>
                            <m:ctrlP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−</m:t>
                            </m:r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∞</m:t>
                            </m:r>
                          </m:sub>
                          <m:sup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+mn-cs"/>
                              </a:rPr>
                              <m:t>∞</m:t>
                            </m:r>
                          </m:sup>
                          <m:e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…</m:t>
                            </m:r>
                            <m:nary>
                              <m:naryPr>
                                <m:ctrlPr>
                                  <a:rPr kumimoji="0" lang="en-US" altLang="zh-CN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kumimoji="0" lang="en-US" altLang="zh-CN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−</m:t>
                                </m:r>
                                <m:r>
                                  <a:rPr kumimoji="0" lang="en-US" altLang="zh-CN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sub>
                              <m:sup>
                                <m:r>
                                  <a:rPr kumimoji="0" lang="en-US" altLang="zh-CN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+mn-cs"/>
                                  </a:rPr>
                                  <m:t>∞</m:t>
                                </m:r>
                              </m:sup>
                              <m:e>
                                <m:r>
                                  <a:rPr kumimoji="0" lang="en-US" altLang="zh-CN" sz="24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𝑓</m:t>
                                </m:r>
                                <m:r>
                                  <a:rPr kumimoji="0" lang="en-US" altLang="zh-CN" sz="24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(</m:t>
                                </m:r>
                                <m:r>
                                  <a:rPr kumimoji="0" lang="en-US" altLang="zh-CN" sz="24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𝑥</m:t>
                                </m:r>
                                <m:r>
                                  <a:rPr kumimoji="0" lang="en-US" altLang="zh-CN" sz="2400" b="0" i="1" u="none" strike="noStrike" kern="1200" cap="none" spc="0" normalizeH="0" baseline="-2500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  <m:r>
                                  <a:rPr kumimoji="0" lang="en-US" altLang="zh-CN" sz="24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,</m:t>
                                </m:r>
                                <m:r>
                                  <a:rPr kumimoji="0" lang="en-US" altLang="zh-CN" sz="24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𝑥</m:t>
                                </m:r>
                                <m:r>
                                  <a:rPr kumimoji="0" lang="en-US" altLang="zh-CN" sz="2400" b="0" i="1" u="none" strike="noStrike" kern="1200" cap="none" spc="0" normalizeH="0" baseline="-2500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2</m:t>
                                </m:r>
                                <m:r>
                                  <a:rPr kumimoji="0" lang="en-US" altLang="zh-CN" sz="24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, …, </m:t>
                                </m:r>
                                <m:r>
                                  <a:rPr kumimoji="0" lang="en-US" altLang="zh-CN" sz="2400" b="0" i="1" u="none" strike="noStrike" kern="1200" cap="none" spc="0" normalizeH="0" baseline="0" noProof="0" dirty="0" err="1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𝑥</m:t>
                                </m:r>
                                <m:r>
                                  <a:rPr kumimoji="0" lang="en-US" altLang="zh-CN" sz="2400" b="0" i="1" u="none" strike="noStrike" kern="1200" cap="none" spc="0" normalizeH="0" baseline="-25000" noProof="0" dirty="0" err="1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𝑛</m:t>
                                </m:r>
                                <m:r>
                                  <a:rPr kumimoji="0" lang="en-US" altLang="zh-CN" sz="2400" b="0" i="1" u="none" strike="noStrike" kern="1200" cap="none" spc="0" normalizeH="0" baseline="0" noProof="0" dirty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)</m:t>
                                </m:r>
                              </m:e>
                            </m:nary>
                          </m:e>
                        </m:nary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𝑑</m:t>
                        </m:r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3</m:t>
                            </m:r>
                          </m:sub>
                        </m:sSub>
                      </m:e>
                    </m:nary>
                    <m:r>
                      <a:rPr kumimoji="0" lang="en-US" altLang="zh-CN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𝑑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4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…</m:t>
                    </m:r>
                    <m:r>
                      <a:rPr kumimoji="0" lang="en-US" altLang="zh-CN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𝑑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 panose="02010609060101010101" pitchFamily="49" charset="-122"/>
                    <a:cs typeface="+mn-cs"/>
                  </a:rPr>
                  <a:t> 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 panose="02010609060101010101" pitchFamily="49" charset="-122"/>
                  <a:cs typeface="+mn-cs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97966E6-AA62-D472-4CF3-54726AFE5A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57" y="3719450"/>
                <a:ext cx="8623005" cy="2418739"/>
              </a:xfrm>
              <a:prstGeom prst="rect">
                <a:avLst/>
              </a:prstGeom>
              <a:blipFill>
                <a:blip r:embed="rId3"/>
                <a:stretch>
                  <a:fillRect l="-588" t="-47917" b="-427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811205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EA5205-4981-C66B-D10E-2B591C04D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764" y="700704"/>
            <a:ext cx="8670472" cy="6669360"/>
          </a:xfrm>
        </p:spPr>
        <p:txBody>
          <a:bodyPr>
            <a:noAutofit/>
          </a:bodyPr>
          <a:lstStyle/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D7CFF1F1-E7FB-8741-FF33-0B379A3EF035}"/>
              </a:ext>
            </a:extLst>
          </p:cNvPr>
          <p:cNvCxnSpPr/>
          <p:nvPr/>
        </p:nvCxnSpPr>
        <p:spPr>
          <a:xfrm>
            <a:off x="0" y="931863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2">
            <a:extLst>
              <a:ext uri="{FF2B5EF4-FFF2-40B4-BE49-F238E27FC236}">
                <a16:creationId xmlns:a16="http://schemas.microsoft.com/office/drawing/2014/main" id="{17E375C4-FA87-317E-CE0F-99ACC3F4FF07}"/>
              </a:ext>
            </a:extLst>
          </p:cNvPr>
          <p:cNvSpPr txBox="1">
            <a:spLocks noChangeArrowheads="1"/>
          </p:cNvSpPr>
          <p:nvPr/>
        </p:nvSpPr>
        <p:spPr>
          <a:xfrm>
            <a:off x="1367632" y="242888"/>
            <a:ext cx="6703472" cy="593725"/>
          </a:xfrm>
          <a:prstGeom prst="rect">
            <a:avLst/>
          </a:prstGeom>
          <a:effectLst>
            <a:prstShdw prst="shdw17" dist="17961" dir="2700000">
              <a:srgbClr val="00E4A8">
                <a:gamma/>
                <a:shade val="60000"/>
                <a:invGamma/>
              </a:srgbClr>
            </a:prstShdw>
          </a:effectLst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0" i="0" kern="1200">
                <a:solidFill>
                  <a:schemeClr val="tx2"/>
                </a:solidFill>
                <a:latin typeface="+mj-lt"/>
                <a:ea typeface="KaiTi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j-cs"/>
              </a:rPr>
              <a:t>n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j-cs"/>
              </a:rPr>
              <a:t>维随机变量有关的相互独立性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华文新魏" panose="02010800040101010101" pitchFamily="2" charset="-122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36A256D-37DA-BCFF-CF02-F65E62D01D5D}"/>
                  </a:ext>
                </a:extLst>
              </p:cNvPr>
              <p:cNvSpPr txBox="1"/>
              <p:nvPr/>
            </p:nvSpPr>
            <p:spPr>
              <a:xfrm>
                <a:off x="560832" y="1901952"/>
                <a:ext cx="8107680" cy="22924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若对所有的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…, </m:t>
                    </m:r>
                    <m:r>
                      <a:rPr kumimoji="0" lang="en-US" altLang="zh-CN" sz="2400" b="0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altLang="zh-CN" sz="2400" b="0" i="1" u="none" strike="noStrike" kern="1200" cap="none" spc="0" normalizeH="0" baseline="-2500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，有：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𝐹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,…,</m:t>
                          </m:r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𝐹</m:t>
                          </m:r>
                        </m:e>
                        <m:sub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𝐹</m:t>
                          </m:r>
                        </m:e>
                        <m:sub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kumimoji="0" lang="en-US" altLang="zh-CN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…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𝐹</m:t>
                          </m:r>
                        </m:e>
                        <m:sub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𝑋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4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则称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,…, </m:t>
                    </m:r>
                    <m:r>
                      <a:rPr kumimoji="0" lang="en-US" altLang="zh-CN" sz="2400" b="0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是相互独立的。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36A256D-37DA-BCFF-CF02-F65E62D01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832" y="1901952"/>
                <a:ext cx="8107680" cy="2292487"/>
              </a:xfrm>
              <a:prstGeom prst="rect">
                <a:avLst/>
              </a:prstGeom>
              <a:blipFill>
                <a:blip r:embed="rId2"/>
                <a:stretch>
                  <a:fillRect l="-12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2053458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EA5205-4981-C66B-D10E-2B591C04D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764" y="700704"/>
            <a:ext cx="8670472" cy="6669360"/>
          </a:xfrm>
        </p:spPr>
        <p:txBody>
          <a:bodyPr>
            <a:noAutofit/>
          </a:bodyPr>
          <a:lstStyle/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D7CFF1F1-E7FB-8741-FF33-0B379A3EF035}"/>
              </a:ext>
            </a:extLst>
          </p:cNvPr>
          <p:cNvCxnSpPr/>
          <p:nvPr/>
        </p:nvCxnSpPr>
        <p:spPr>
          <a:xfrm>
            <a:off x="0" y="931863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36A256D-37DA-BCFF-CF02-F65E62D01D5D}"/>
                  </a:ext>
                </a:extLst>
              </p:cNvPr>
              <p:cNvSpPr txBox="1"/>
              <p:nvPr/>
            </p:nvSpPr>
            <p:spPr>
              <a:xfrm>
                <a:off x="236764" y="1367990"/>
                <a:ext cx="8546592" cy="50119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若对所有的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𝑥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…, 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𝑥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𝑚</m:t>
                        </m:r>
                      </m:sub>
                    </m:sSub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；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𝑦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𝑦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 …, 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𝑦</m:t>
                    </m:r>
                    <m:r>
                      <a:rPr kumimoji="0" lang="en-US" altLang="zh-CN" sz="2400" b="0" i="1" u="none" strike="noStrike" kern="1200" cap="none" spc="0" normalizeH="0" baseline="-2500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altLang="zh-CN" sz="2400" b="0" i="1" u="none" strike="noStrike" kern="1200" cap="none" spc="0" normalizeH="0" baseline="-2500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，有：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𝐹</m:t>
                    </m:r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,…,</m:t>
                        </m:r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𝑚</m:t>
                            </m:r>
                          </m:sub>
                        </m:s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</m:t>
                        </m:r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𝑦</m:t>
                        </m:r>
                        <m:r>
                          <a:rPr kumimoji="0" lang="en-US" altLang="zh-CN" sz="2400" b="0" i="1" u="none" strike="noStrike" kern="1200" cap="none" spc="0" normalizeH="0" baseline="-2500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 </m:t>
                        </m:r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𝑦</m:t>
                        </m:r>
                        <m:r>
                          <a:rPr kumimoji="0" lang="en-US" altLang="zh-CN" sz="2400" b="0" i="1" u="none" strike="noStrike" kern="1200" cap="none" spc="0" normalizeH="0" baseline="-2500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 …, </m:t>
                        </m:r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𝐹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,…,</m:t>
                        </m:r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𝐹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1</m:t>
                            </m:r>
                          </m:sub>
                        </m:sSub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</m:t>
                        </m:r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,…,</m:t>
                        </m:r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𝑦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其中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𝐹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𝐹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, </a:t>
                </a:r>
                <a14:m>
                  <m:oMath xmlns:m="http://schemas.openxmlformats.org/officeDocument/2006/math">
                    <m:r>
                      <a:rPr kumimoji="1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𝐹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分别为随机变量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,…, </m:t>
                    </m:r>
                    <m:r>
                      <a:rPr kumimoji="0" lang="en-US" altLang="zh-CN" sz="2400" b="0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𝑚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)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，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 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,…, 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)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，和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,…, </m:t>
                    </m:r>
                    <m:r>
                      <a:rPr kumimoji="0" lang="en-US" altLang="zh-CN" sz="2400" b="0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𝑚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,…, 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𝑌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 </a:t>
                </a: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的分布函数，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则称随机变量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,…, </m:t>
                    </m:r>
                    <m:r>
                      <a:rPr kumimoji="0" lang="en-US" altLang="zh-CN" sz="2400" b="0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𝑚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)</m:t>
                    </m:r>
                    <m:r>
                      <a:rPr kumimoji="0" lang="zh-CN" alt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和</m:t>
                    </m:r>
                    <m:r>
                      <m:rPr>
                        <m:nor/>
                      </m:rPr>
                      <a:rPr kumimoji="0" lang="en-US" altLang="zh-CN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楷体"/>
                        <a:cs typeface="+mn-cs"/>
                      </a:rPr>
                      <m:t>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,…,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𝑌𝑛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)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是相互独立的。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36A256D-37DA-BCFF-CF02-F65E62D01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64" y="1367990"/>
                <a:ext cx="8546592" cy="5011949"/>
              </a:xfrm>
              <a:prstGeom prst="rect">
                <a:avLst/>
              </a:prstGeom>
              <a:blipFill>
                <a:blip r:embed="rId2"/>
                <a:stretch>
                  <a:fillRect l="-1039" r="-45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89D55FEB-50E8-C89B-1AF6-6308842FFA91}"/>
              </a:ext>
            </a:extLst>
          </p:cNvPr>
          <p:cNvSpPr txBox="1">
            <a:spLocks noChangeArrowheads="1"/>
          </p:cNvSpPr>
          <p:nvPr/>
        </p:nvSpPr>
        <p:spPr>
          <a:xfrm>
            <a:off x="1367632" y="242888"/>
            <a:ext cx="6703472" cy="593725"/>
          </a:xfrm>
          <a:prstGeom prst="rect">
            <a:avLst/>
          </a:prstGeom>
          <a:effectLst>
            <a:prstShdw prst="shdw17" dist="17961" dir="2700000">
              <a:srgbClr val="00E4A8">
                <a:gamma/>
                <a:shade val="60000"/>
                <a:invGamma/>
              </a:srgbClr>
            </a:prstShdw>
          </a:effectLst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0" i="0" kern="1200">
                <a:solidFill>
                  <a:schemeClr val="tx2"/>
                </a:solidFill>
                <a:latin typeface="+mj-lt"/>
                <a:ea typeface="KaiTi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j-cs"/>
              </a:rPr>
              <a:t>n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j-cs"/>
              </a:rPr>
              <a:t>维随机变量有关的相互独立性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华文新魏" panose="02010800040101010101" pitchFamily="2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55046461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EA5205-4981-C66B-D10E-2B591C04D0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764" y="700704"/>
            <a:ext cx="8670472" cy="4017599"/>
          </a:xfrm>
        </p:spPr>
        <p:txBody>
          <a:bodyPr>
            <a:noAutofit/>
          </a:bodyPr>
          <a:lstStyle/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  <a:p>
            <a:pPr marL="0" indent="0">
              <a:lnSpc>
                <a:spcPct val="145000"/>
              </a:lnSpc>
              <a:buNone/>
            </a:pPr>
            <a:endParaRPr lang="en-US" altLang="zh-CN" sz="2400" dirty="0"/>
          </a:p>
        </p:txBody>
      </p:sp>
      <p:cxnSp>
        <p:nvCxnSpPr>
          <p:cNvPr id="2" name="直线连接符 48">
            <a:extLst>
              <a:ext uri="{FF2B5EF4-FFF2-40B4-BE49-F238E27FC236}">
                <a16:creationId xmlns:a16="http://schemas.microsoft.com/office/drawing/2014/main" id="{D7CFF1F1-E7FB-8741-FF33-0B379A3EF035}"/>
              </a:ext>
            </a:extLst>
          </p:cNvPr>
          <p:cNvCxnSpPr/>
          <p:nvPr/>
        </p:nvCxnSpPr>
        <p:spPr>
          <a:xfrm>
            <a:off x="0" y="931863"/>
            <a:ext cx="914400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36A256D-37DA-BCFF-CF02-F65E62D01D5D}"/>
                  </a:ext>
                </a:extLst>
              </p:cNvPr>
              <p:cNvSpPr txBox="1"/>
              <p:nvPr/>
            </p:nvSpPr>
            <p:spPr>
              <a:xfrm>
                <a:off x="236764" y="1367990"/>
                <a:ext cx="8546592" cy="3349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ct val="150000"/>
                  </a:lnSpc>
                  <a:defRPr/>
                </a:pP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SimHei" panose="02010609060101010101" pitchFamily="49" charset="-122"/>
                    <a:ea typeface="SimHei" panose="02010609060101010101" pitchFamily="49" charset="-122"/>
                    <a:cs typeface="+mn-cs"/>
                  </a:rPr>
                  <a:t>定理 </a:t>
                </a: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设</a:t>
                </a: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𝑋</m:t>
                        </m:r>
                        <m:r>
                          <a:rPr kumimoji="0" lang="en-US" altLang="zh-CN" sz="2400" b="0" i="1" u="none" strike="noStrike" kern="1200" cap="none" spc="0" normalizeH="0" baseline="-2500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, </m:t>
                        </m:r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𝑋</m:t>
                        </m:r>
                        <m:r>
                          <a:rPr kumimoji="0" lang="en-US" altLang="zh-CN" sz="2400" b="0" i="1" u="none" strike="noStrike" kern="1200" cap="none" spc="0" normalizeH="0" baseline="-2500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2</m:t>
                        </m:r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,…, </m:t>
                        </m:r>
                        <m:r>
                          <a:rPr kumimoji="0" lang="en-US" altLang="zh-CN" sz="2400" b="0" i="1" u="none" strike="noStrike" kern="1200" cap="none" spc="0" normalizeH="0" baseline="0" noProof="0" dirty="0" err="1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𝑋</m:t>
                        </m:r>
                        <m:r>
                          <a:rPr kumimoji="0" lang="en-US" altLang="zh-CN" sz="2400" b="0" i="1" u="none" strike="noStrike" kern="1200" cap="none" spc="0" normalizeH="0" baseline="-2500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𝑚</m:t>
                        </m:r>
                        <m:r>
                          <a:rPr kumimoji="0" lang="en-US" altLang="zh-CN" sz="24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 </m:t>
                        </m:r>
                      </m:e>
                    </m:d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 </m:t>
                    </m:r>
                    <m:r>
                      <a:rPr kumimoji="0" lang="zh-CN" alt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和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. </m:t>
                    </m:r>
                    <m:r>
                      <m:rPr>
                        <m:nor/>
                      </m:rPr>
                      <a:rPr kumimoji="0" lang="en-US" altLang="zh-CN" sz="2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m:rPr>
                        <m:nor/>
                      </m:rPr>
                      <a:rPr kumimoji="0" lang="en-US" altLang="zh-CN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楷体"/>
                        <a:cs typeface="+mn-cs"/>
                      </a:rPr>
                      <m:t>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,…,</m:t>
                    </m:r>
                    <m:r>
                      <a:rPr lang="en-US" altLang="zh-CN" sz="2400" i="1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altLang="zh-CN" sz="2400" i="1" baseline="-25000" dirty="0" err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相互独立，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lvl="0">
                  <a:lnSpc>
                    <a:spcPct val="150000"/>
                  </a:lnSpc>
                  <a:defRPr/>
                </a:pP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       </a:t>
                </a: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则</a:t>
                </a:r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 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𝑖</m:t>
                    </m:r>
                    <m:r>
                      <a:rPr kumimoji="0" lang="zh-CN" alt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𝑖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=1,2,…,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𝑚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 </m:t>
                    </m:r>
                  </m:oMath>
                </a14:m>
                <a:r>
                  <a:rPr kumimoji="1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 </a:t>
                </a: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和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𝑗</m:t>
                    </m:r>
                    <m:r>
                      <a:rPr kumimoji="0" lang="zh-CN" alt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𝑗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=1,2,…,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𝑛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 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相互独立。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又若</a:t>
                </a:r>
                <a14:m>
                  <m:oMath xmlns:m="http://schemas.openxmlformats.org/officeDocument/2006/math">
                    <m:r>
                      <a:rPr kumimoji="1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h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和</a:t>
                </a:r>
                <a14:m>
                  <m:oMath xmlns:m="http://schemas.openxmlformats.org/officeDocument/2006/math">
                    <m:r>
                      <a:rPr kumimoji="1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𝑔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是连续函数，则</a:t>
                </a:r>
                <a14:m>
                  <m:oMath xmlns:m="http://schemas.openxmlformats.org/officeDocument/2006/math">
                    <m:r>
                      <a:rPr kumimoji="0" lang="zh-CN" altLang="en-US" sz="24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h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,…, </m:t>
                    </m:r>
                    <m:r>
                      <a:rPr kumimoji="0" lang="en-US" altLang="zh-CN" sz="2400" b="0" i="1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𝑋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𝑚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)</m:t>
                    </m:r>
                    <m:r>
                      <a:rPr kumimoji="0" lang="zh-CN" altLang="en-US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和</m:t>
                    </m:r>
                    <m:r>
                      <m:rPr>
                        <m:nor/>
                      </m:rPr>
                      <a:rPr kumimoji="0" lang="en-US" altLang="zh-CN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imes New Roman"/>
                        <a:ea typeface="楷体"/>
                        <a:cs typeface="+mn-cs"/>
                      </a:rPr>
                      <m:t> 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𝑔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1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 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𝑌</m:t>
                    </m:r>
                    <m:r>
                      <a:rPr kumimoji="0" lang="en-US" altLang="zh-CN" sz="2400" b="0" i="1" u="none" strike="noStrike" kern="1200" cap="none" spc="0" normalizeH="0" baseline="-2500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2</m:t>
                    </m:r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,…, 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𝑌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)</m:t>
                    </m:r>
                  </m:oMath>
                </a14:m>
                <a:r>
                  <a:rPr kumimoji="1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楷体"/>
                    <a:cs typeface="+mn-cs"/>
                  </a:rPr>
                  <a:t>相互独立。</a:t>
                </a:r>
                <a:endParaRPr kumimoji="1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  <a:p>
                <a:pPr marL="0" marR="0" lvl="0" indent="0" algn="l" defTabSz="4572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楷体"/>
                  <a:cs typeface="+mn-cs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36A256D-37DA-BCFF-CF02-F65E62D01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764" y="1367990"/>
                <a:ext cx="8546592" cy="3349956"/>
              </a:xfrm>
              <a:prstGeom prst="rect">
                <a:avLst/>
              </a:prstGeom>
              <a:blipFill>
                <a:blip r:embed="rId2"/>
                <a:stretch>
                  <a:fillRect l="-10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2">
            <a:extLst>
              <a:ext uri="{FF2B5EF4-FFF2-40B4-BE49-F238E27FC236}">
                <a16:creationId xmlns:a16="http://schemas.microsoft.com/office/drawing/2014/main" id="{E367BDCD-D9B9-4E35-E585-A9CFCCACC52E}"/>
              </a:ext>
            </a:extLst>
          </p:cNvPr>
          <p:cNvSpPr txBox="1">
            <a:spLocks noChangeArrowheads="1"/>
          </p:cNvSpPr>
          <p:nvPr/>
        </p:nvSpPr>
        <p:spPr>
          <a:xfrm>
            <a:off x="1367632" y="242888"/>
            <a:ext cx="6703472" cy="593725"/>
          </a:xfrm>
          <a:prstGeom prst="rect">
            <a:avLst/>
          </a:prstGeom>
          <a:effectLst>
            <a:prstShdw prst="shdw17" dist="17961" dir="2700000">
              <a:srgbClr val="00E4A8">
                <a:gamma/>
                <a:shade val="60000"/>
                <a:invGamma/>
              </a:srgbClr>
            </a:prstShdw>
          </a:effectLst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 b="0" i="0" kern="1200">
                <a:solidFill>
                  <a:schemeClr val="tx2"/>
                </a:solidFill>
                <a:latin typeface="+mj-lt"/>
                <a:ea typeface="KaiTi" panose="02010609060101010101" pitchFamily="49" charset="-122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j-cs"/>
              </a:rPr>
              <a:t>n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KaiTi" panose="02010609060101010101" pitchFamily="49" charset="-122"/>
                <a:cs typeface="+mj-cs"/>
              </a:rPr>
              <a:t>维随机变量有关的相互独立性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华文新魏" panose="02010800040101010101" pitchFamily="2" charset="-122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69668501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ext Box 2">
            <a:hlinkClick r:id="rId2" action="ppaction://hlinksldjump" tooltip="点击进入"/>
            <a:extLst>
              <a:ext uri="{FF2B5EF4-FFF2-40B4-BE49-F238E27FC236}">
                <a16:creationId xmlns:a16="http://schemas.microsoft.com/office/drawing/2014/main" id="{474AF414-EB45-16EF-87BE-71B4899E8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675" y="765175"/>
            <a:ext cx="6372225" cy="709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C0C0C0"/>
              </a:buClr>
              <a:buSzPct val="70000"/>
              <a:buFont typeface="Wingdings" pitchFamily="2" charset="2"/>
              <a:buNone/>
              <a:tabLst/>
              <a:defRPr/>
            </a:pPr>
            <a:r>
              <a:rPr kumimoji="1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多维随机变量及其分布</a:t>
            </a:r>
            <a:endParaRPr kumimoji="0" lang="zh-CN" altLang="en-US" sz="4000" b="1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AAFB832D-3970-9863-77E8-AF60F572B4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825500"/>
            <a:ext cx="2459037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C0C0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第三章 </a:t>
            </a:r>
          </a:p>
        </p:txBody>
      </p:sp>
      <p:sp>
        <p:nvSpPr>
          <p:cNvPr id="32771" name="Text Box 4">
            <a:hlinkClick r:id="" action="ppaction://noaction"/>
            <a:extLst>
              <a:ext uri="{FF2B5EF4-FFF2-40B4-BE49-F238E27FC236}">
                <a16:creationId xmlns:a16="http://schemas.microsoft.com/office/drawing/2014/main" id="{E91C5AA0-7C47-A32F-77B3-02A5C7ECD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205038"/>
            <a:ext cx="69850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二维随机变量</a:t>
            </a:r>
          </a:p>
        </p:txBody>
      </p:sp>
      <p:sp>
        <p:nvSpPr>
          <p:cNvPr id="32772" name="Text Box 5">
            <a:hlinkClick r:id="" action="ppaction://noaction"/>
            <a:extLst>
              <a:ext uri="{FF2B5EF4-FFF2-40B4-BE49-F238E27FC236}">
                <a16:creationId xmlns:a16="http://schemas.microsoft.com/office/drawing/2014/main" id="{EB87E7D8-A947-23DC-C627-2914CC387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997200"/>
            <a:ext cx="5184775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边缘分布</a:t>
            </a:r>
          </a:p>
        </p:txBody>
      </p:sp>
      <p:sp>
        <p:nvSpPr>
          <p:cNvPr id="32773" name="Text Box 6">
            <a:hlinkClick r:id="rId3" action="ppaction://hlinksldjump"/>
            <a:extLst>
              <a:ext uri="{FF2B5EF4-FFF2-40B4-BE49-F238E27FC236}">
                <a16:creationId xmlns:a16="http://schemas.microsoft.com/office/drawing/2014/main" id="{51C2862B-C79E-319C-4C2D-28C9E1349D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5356225"/>
            <a:ext cx="7345363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两个随机变量的函数的分布</a:t>
            </a:r>
          </a:p>
        </p:txBody>
      </p:sp>
      <p:sp>
        <p:nvSpPr>
          <p:cNvPr id="7" name="Text Box 5">
            <a:hlinkClick r:id="" action="ppaction://noaction"/>
            <a:extLst>
              <a:ext uri="{FF2B5EF4-FFF2-40B4-BE49-F238E27FC236}">
                <a16:creationId xmlns:a16="http://schemas.microsoft.com/office/drawing/2014/main" id="{7453892A-2721-079D-F74A-CAB7690BE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3771900"/>
            <a:ext cx="5184775" cy="593725"/>
          </a:xfrm>
          <a:prstGeom prst="rect">
            <a:avLst/>
          </a:prstGeom>
          <a:noFill/>
          <a:ln>
            <a:noFill/>
          </a:ln>
          <a:effectLst/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anose="05020102010507070707" pitchFamily="18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anose="05020102010507070707" pitchFamily="18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10000"/>
                  </a:schemeClr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条件分布</a:t>
            </a:r>
          </a:p>
        </p:txBody>
      </p:sp>
      <p:sp>
        <p:nvSpPr>
          <p:cNvPr id="32775" name="Text Box 5">
            <a:hlinkClick r:id="" action="ppaction://noaction"/>
            <a:extLst>
              <a:ext uri="{FF2B5EF4-FFF2-40B4-BE49-F238E27FC236}">
                <a16:creationId xmlns:a16="http://schemas.microsoft.com/office/drawing/2014/main" id="{83A1E4E0-5B44-165B-8688-3AA8C4534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4564063"/>
            <a:ext cx="5905500" cy="59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marL="908050" indent="-436563">
              <a:spcBef>
                <a:spcPct val="20000"/>
              </a:spcBef>
              <a:buClr>
                <a:schemeClr val="folHlink"/>
              </a:buClr>
              <a:buSzPct val="85000"/>
              <a:buFont typeface="Wingdings 2" pitchFamily="2" charset="2"/>
              <a:buChar char="¡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Wingdings 2" pitchFamily="2" charset="2"/>
              <a:buChar char="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90000"/>
              <a:buFont typeface="Wingdings 2" pitchFamily="2" charset="2"/>
              <a:buChar char="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 2" pitchFamily="2" charset="2"/>
              <a:buChar char="¡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</a:defRPr>
            </a:lvl9pPr>
          </a:lstStyle>
          <a:p>
            <a:pPr marL="908050" marR="0" lvl="0" indent="-436563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C00000"/>
              </a:buClr>
              <a:buSzTx/>
              <a:buFont typeface="Wingdings" pitchFamily="2" charset="2"/>
              <a:buChar char="n"/>
              <a:tabLst/>
              <a:defRPr/>
            </a:pPr>
            <a:r>
              <a:rPr kumimoji="1" lang="zh-CN" altLang="en-US" sz="3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相互独立的随机变量</a:t>
            </a:r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85699D99-9275-7E8C-9725-1752C03BBED2}"/>
              </a:ext>
            </a:extLst>
          </p:cNvPr>
          <p:cNvSpPr/>
          <p:nvPr/>
        </p:nvSpPr>
        <p:spPr bwMode="auto">
          <a:xfrm>
            <a:off x="1560576" y="2109216"/>
            <a:ext cx="5632704" cy="3048572"/>
          </a:xfrm>
          <a:prstGeom prst="roundRect">
            <a:avLst>
              <a:gd name="adj" fmla="val 7069"/>
            </a:avLst>
          </a:prstGeom>
          <a:noFill/>
          <a:ln w="19050" cap="flat" cmpd="sng" algn="ctr">
            <a:solidFill>
              <a:srgbClr val="C00000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882299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ED32A5F-7017-FFAC-ABE8-4D48651F6D87}"/>
              </a:ext>
            </a:extLst>
          </p:cNvPr>
          <p:cNvSpPr txBox="1"/>
          <p:nvPr/>
        </p:nvSpPr>
        <p:spPr>
          <a:xfrm>
            <a:off x="323172" y="6194629"/>
            <a:ext cx="88571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http://www.proedu.com.cn:8800/web/shareVideo/index.action?id=1014954&amp;ajax=1</a:t>
            </a:r>
          </a:p>
        </p:txBody>
      </p:sp>
      <p:pic>
        <p:nvPicPr>
          <p:cNvPr id="7" name="图片 6" descr="图形用户界面, 应用程序, PowerPoint&#10;&#10;描述已自动生成">
            <a:extLst>
              <a:ext uri="{FF2B5EF4-FFF2-40B4-BE49-F238E27FC236}">
                <a16:creationId xmlns:a16="http://schemas.microsoft.com/office/drawing/2014/main" id="{851E3E89-D935-5CFE-5610-09B89F56E7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73" t="10410" r="28767" b="10944"/>
          <a:stretch/>
        </p:blipFill>
        <p:spPr>
          <a:xfrm>
            <a:off x="620038" y="0"/>
            <a:ext cx="7903924" cy="583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944293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自定义 2">
      <a:majorFont>
        <a:latin typeface="Times New Roman"/>
        <a:ea typeface="仓耳今楷05-6763 W04"/>
        <a:cs typeface=""/>
      </a:majorFont>
      <a:minorFont>
        <a:latin typeface="Times New Roman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天坛月色">
  <a:themeElements>
    <a:clrScheme name="天坛月色 1">
      <a:dk1>
        <a:srgbClr val="DDDDDD"/>
      </a:dk1>
      <a:lt1>
        <a:srgbClr val="FFFFFF"/>
      </a:lt1>
      <a:dk2>
        <a:srgbClr val="3366CC"/>
      </a:dk2>
      <a:lt2>
        <a:srgbClr val="FFFF66"/>
      </a:lt2>
      <a:accent1>
        <a:srgbClr val="879CC8"/>
      </a:accent1>
      <a:accent2>
        <a:srgbClr val="C0C0C0"/>
      </a:accent2>
      <a:accent3>
        <a:srgbClr val="ADB8E2"/>
      </a:accent3>
      <a:accent4>
        <a:srgbClr val="DADADA"/>
      </a:accent4>
      <a:accent5>
        <a:srgbClr val="C3CBE0"/>
      </a:accent5>
      <a:accent6>
        <a:srgbClr val="AEAEAE"/>
      </a:accent6>
      <a:hlink>
        <a:srgbClr val="66FFFF"/>
      </a:hlink>
      <a:folHlink>
        <a:srgbClr val="CCFFCC"/>
      </a:folHlink>
    </a:clrScheme>
    <a:fontScheme name="天坛月色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天坛月色 1">
        <a:dk1>
          <a:srgbClr val="DDDDDD"/>
        </a:dk1>
        <a:lt1>
          <a:srgbClr val="FFFFFF"/>
        </a:lt1>
        <a:dk2>
          <a:srgbClr val="3366CC"/>
        </a:dk2>
        <a:lt2>
          <a:srgbClr val="FFFF66"/>
        </a:lt2>
        <a:accent1>
          <a:srgbClr val="879CC8"/>
        </a:accent1>
        <a:accent2>
          <a:srgbClr val="C0C0C0"/>
        </a:accent2>
        <a:accent3>
          <a:srgbClr val="ADB8E2"/>
        </a:accent3>
        <a:accent4>
          <a:srgbClr val="DADADA"/>
        </a:accent4>
        <a:accent5>
          <a:srgbClr val="C3CBE0"/>
        </a:accent5>
        <a:accent6>
          <a:srgbClr val="AEAEAE"/>
        </a:accent6>
        <a:hlink>
          <a:srgbClr val="66FFFF"/>
        </a:hlink>
        <a:folHlink>
          <a:srgbClr val="CC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天坛月色 2">
        <a:dk1>
          <a:srgbClr val="C0C0C0"/>
        </a:dk1>
        <a:lt1>
          <a:srgbClr val="FFFFFF"/>
        </a:lt1>
        <a:dk2>
          <a:srgbClr val="006699"/>
        </a:dk2>
        <a:lt2>
          <a:srgbClr val="FFFFFF"/>
        </a:lt2>
        <a:accent1>
          <a:srgbClr val="93B090"/>
        </a:accent1>
        <a:accent2>
          <a:srgbClr val="CCECFF"/>
        </a:accent2>
        <a:accent3>
          <a:srgbClr val="AAB8CA"/>
        </a:accent3>
        <a:accent4>
          <a:srgbClr val="DADADA"/>
        </a:accent4>
        <a:accent5>
          <a:srgbClr val="C8D4C6"/>
        </a:accent5>
        <a:accent6>
          <a:srgbClr val="B9D6E7"/>
        </a:accent6>
        <a:hlink>
          <a:srgbClr val="FFFF66"/>
        </a:hlink>
        <a:folHlink>
          <a:srgbClr val="66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天坛月色 3">
        <a:dk1>
          <a:srgbClr val="DDDDDD"/>
        </a:dk1>
        <a:lt1>
          <a:srgbClr val="FFFFFF"/>
        </a:lt1>
        <a:dk2>
          <a:srgbClr val="7B7BA7"/>
        </a:dk2>
        <a:lt2>
          <a:srgbClr val="FFFF66"/>
        </a:lt2>
        <a:accent1>
          <a:srgbClr val="78AE90"/>
        </a:accent1>
        <a:accent2>
          <a:srgbClr val="B8B8D0"/>
        </a:accent2>
        <a:accent3>
          <a:srgbClr val="BFBFD0"/>
        </a:accent3>
        <a:accent4>
          <a:srgbClr val="DADADA"/>
        </a:accent4>
        <a:accent5>
          <a:srgbClr val="BED3C6"/>
        </a:accent5>
        <a:accent6>
          <a:srgbClr val="A6A6BC"/>
        </a:accent6>
        <a:hlink>
          <a:srgbClr val="66FFCC"/>
        </a:hlink>
        <a:folHlink>
          <a:srgbClr val="CC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天坛月色 4">
        <a:dk1>
          <a:srgbClr val="DDDDDD"/>
        </a:dk1>
        <a:lt1>
          <a:srgbClr val="FFFF00"/>
        </a:lt1>
        <a:dk2>
          <a:srgbClr val="6600CC"/>
        </a:dk2>
        <a:lt2>
          <a:srgbClr val="FFFFFF"/>
        </a:lt2>
        <a:accent1>
          <a:srgbClr val="7296B6"/>
        </a:accent1>
        <a:accent2>
          <a:srgbClr val="FF6600"/>
        </a:accent2>
        <a:accent3>
          <a:srgbClr val="B8AAE2"/>
        </a:accent3>
        <a:accent4>
          <a:srgbClr val="DADA00"/>
        </a:accent4>
        <a:accent5>
          <a:srgbClr val="BCC9D7"/>
        </a:accent5>
        <a:accent6>
          <a:srgbClr val="E75C00"/>
        </a:accent6>
        <a:hlink>
          <a:srgbClr val="99FFCC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天坛月色 5">
        <a:dk1>
          <a:srgbClr val="DDDDDD"/>
        </a:dk1>
        <a:lt1>
          <a:srgbClr val="FFFFFF"/>
        </a:lt1>
        <a:dk2>
          <a:srgbClr val="0099CC"/>
        </a:dk2>
        <a:lt2>
          <a:srgbClr val="CCECFF"/>
        </a:lt2>
        <a:accent1>
          <a:srgbClr val="DD8A79"/>
        </a:accent1>
        <a:accent2>
          <a:srgbClr val="339966"/>
        </a:accent2>
        <a:accent3>
          <a:srgbClr val="AACAE2"/>
        </a:accent3>
        <a:accent4>
          <a:srgbClr val="DADADA"/>
        </a:accent4>
        <a:accent5>
          <a:srgbClr val="EBC4BE"/>
        </a:accent5>
        <a:accent6>
          <a:srgbClr val="2D8A5C"/>
        </a:accent6>
        <a:hlink>
          <a:srgbClr val="FFFF66"/>
        </a:hlink>
        <a:folHlink>
          <a:srgbClr val="CC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天坛月色 6">
        <a:dk1>
          <a:srgbClr val="C0C0C0"/>
        </a:dk1>
        <a:lt1>
          <a:srgbClr val="FFFFFF"/>
        </a:lt1>
        <a:dk2>
          <a:srgbClr val="536DAD"/>
        </a:dk2>
        <a:lt2>
          <a:srgbClr val="66FF66"/>
        </a:lt2>
        <a:accent1>
          <a:srgbClr val="C48AB6"/>
        </a:accent1>
        <a:accent2>
          <a:srgbClr val="FFCCFF"/>
        </a:accent2>
        <a:accent3>
          <a:srgbClr val="B3BAD3"/>
        </a:accent3>
        <a:accent4>
          <a:srgbClr val="DADADA"/>
        </a:accent4>
        <a:accent5>
          <a:srgbClr val="DEC4D7"/>
        </a:accent5>
        <a:accent6>
          <a:srgbClr val="E7B9E7"/>
        </a:accent6>
        <a:hlink>
          <a:srgbClr val="00FFFF"/>
        </a:hlink>
        <a:folHlink>
          <a:srgbClr val="FFFF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天坛月色 7">
        <a:dk1>
          <a:srgbClr val="C0C0C0"/>
        </a:dk1>
        <a:lt1>
          <a:srgbClr val="FFFF00"/>
        </a:lt1>
        <a:dk2>
          <a:srgbClr val="996633"/>
        </a:dk2>
        <a:lt2>
          <a:srgbClr val="66FFFF"/>
        </a:lt2>
        <a:accent1>
          <a:srgbClr val="CD7C73"/>
        </a:accent1>
        <a:accent2>
          <a:srgbClr val="B6B6CE"/>
        </a:accent2>
        <a:accent3>
          <a:srgbClr val="CAB8AD"/>
        </a:accent3>
        <a:accent4>
          <a:srgbClr val="DADA00"/>
        </a:accent4>
        <a:accent5>
          <a:srgbClr val="E3BFBC"/>
        </a:accent5>
        <a:accent6>
          <a:srgbClr val="A5A5BA"/>
        </a:accent6>
        <a:hlink>
          <a:srgbClr val="000000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天坛月色 8">
        <a:dk1>
          <a:srgbClr val="C0C0C0"/>
        </a:dk1>
        <a:lt1>
          <a:srgbClr val="FFFF66"/>
        </a:lt1>
        <a:dk2>
          <a:srgbClr val="008080"/>
        </a:dk2>
        <a:lt2>
          <a:srgbClr val="FFFF00"/>
        </a:lt2>
        <a:accent1>
          <a:srgbClr val="859CC9"/>
        </a:accent1>
        <a:accent2>
          <a:srgbClr val="FFCCFF"/>
        </a:accent2>
        <a:accent3>
          <a:srgbClr val="AAC0C0"/>
        </a:accent3>
        <a:accent4>
          <a:srgbClr val="DADA56"/>
        </a:accent4>
        <a:accent5>
          <a:srgbClr val="C2CBE1"/>
        </a:accent5>
        <a:accent6>
          <a:srgbClr val="E7B9E7"/>
        </a:accent6>
        <a:hlink>
          <a:srgbClr val="99FFCC"/>
        </a:hlink>
        <a:folHlink>
          <a:srgbClr val="CCEC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316</TotalTime>
  <Words>1534</Words>
  <Application>Microsoft Macintosh PowerPoint</Application>
  <PresentationFormat>全屏显示(4:3)</PresentationFormat>
  <Paragraphs>275</Paragraphs>
  <Slides>26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6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26</vt:i4>
      </vt:variant>
    </vt:vector>
  </HeadingPairs>
  <TitlesOfParts>
    <vt:vector size="46" baseType="lpstr">
      <vt:lpstr>等线</vt:lpstr>
      <vt:lpstr>黑体</vt:lpstr>
      <vt:lpstr>楷体</vt:lpstr>
      <vt:lpstr>楷体</vt:lpstr>
      <vt:lpstr>Microsoft Yahei</vt:lpstr>
      <vt:lpstr>Arial</vt:lpstr>
      <vt:lpstr>Cambria Math</vt:lpstr>
      <vt:lpstr>Tahoma</vt:lpstr>
      <vt:lpstr>Times New Roman</vt:lpstr>
      <vt:lpstr>Verdana</vt:lpstr>
      <vt:lpstr>Wingdings</vt:lpstr>
      <vt:lpstr>Wingdings 2</vt:lpstr>
      <vt:lpstr>Blends</vt:lpstr>
      <vt:lpstr>Profile</vt:lpstr>
      <vt:lpstr>Blends</vt:lpstr>
      <vt:lpstr>Profile</vt:lpstr>
      <vt:lpstr>1_Profile</vt:lpstr>
      <vt:lpstr>天坛月色</vt:lpstr>
      <vt:lpstr>Equation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随机变量的相互独立性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Zheng Fei</dc:creator>
  <cp:lastModifiedBy>Fei Zheng</cp:lastModifiedBy>
  <cp:revision>5</cp:revision>
  <dcterms:created xsi:type="dcterms:W3CDTF">2022-04-20T03:13:54Z</dcterms:created>
  <dcterms:modified xsi:type="dcterms:W3CDTF">2023-04-03T18:45:58Z</dcterms:modified>
</cp:coreProperties>
</file>