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12" r:id="rId3"/>
    <p:sldId id="259" r:id="rId4"/>
    <p:sldId id="257" r:id="rId5"/>
    <p:sldId id="313" r:id="rId6"/>
    <p:sldId id="315" r:id="rId7"/>
    <p:sldId id="314" r:id="rId8"/>
    <p:sldId id="316" r:id="rId9"/>
    <p:sldId id="321" r:id="rId10"/>
    <p:sldId id="322" r:id="rId11"/>
    <p:sldId id="281" r:id="rId12"/>
    <p:sldId id="317" r:id="rId13"/>
    <p:sldId id="325" r:id="rId14"/>
    <p:sldId id="326" r:id="rId15"/>
    <p:sldId id="327" r:id="rId16"/>
    <p:sldId id="328" r:id="rId17"/>
    <p:sldId id="318" r:id="rId18"/>
    <p:sldId id="329" r:id="rId19"/>
    <p:sldId id="323" r:id="rId20"/>
    <p:sldId id="324" r:id="rId21"/>
    <p:sldId id="331" r:id="rId22"/>
    <p:sldId id="319" r:id="rId23"/>
    <p:sldId id="332" r:id="rId24"/>
    <p:sldId id="333" r:id="rId25"/>
    <p:sldId id="334" r:id="rId26"/>
    <p:sldId id="330" r:id="rId27"/>
    <p:sldId id="337" r:id="rId28"/>
    <p:sldId id="338" r:id="rId29"/>
    <p:sldId id="339" r:id="rId30"/>
    <p:sldId id="340" r:id="rId31"/>
    <p:sldId id="272" r:id="rId32"/>
    <p:sldId id="280" r:id="rId33"/>
    <p:sldId id="262" r:id="rId3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426547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591679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100769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07364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74515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026345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96682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57832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95329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53347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210D257-3BE1-47F0-9688-13EF46E6FAF0}" type="datetimeFigureOut">
              <a:rPr lang="zh-CN" altLang="en-US" smtClean="0"/>
              <a:t>2024/5/17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85141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210D257-3BE1-47F0-9688-13EF46E6FAF0}" type="datetimeFigureOut">
              <a:rPr lang="zh-CN" altLang="en-US" smtClean="0"/>
              <a:t>2024/5/17</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378672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7" name="矩形 6">
            <a:extLst>
              <a:ext uri="{FF2B5EF4-FFF2-40B4-BE49-F238E27FC236}">
                <a16:creationId xmlns:a16="http://schemas.microsoft.com/office/drawing/2014/main" id="{CF63A896-C058-4B67-AB0A-135908F6C259}"/>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8" name="矩形 7">
            <a:extLst>
              <a:ext uri="{FF2B5EF4-FFF2-40B4-BE49-F238E27FC236}">
                <a16:creationId xmlns:a16="http://schemas.microsoft.com/office/drawing/2014/main" id="{318C8156-B6E9-4049-9054-EB38920B4B5B}"/>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9" name="矩形 8">
            <a:extLst>
              <a:ext uri="{FF2B5EF4-FFF2-40B4-BE49-F238E27FC236}">
                <a16:creationId xmlns:a16="http://schemas.microsoft.com/office/drawing/2014/main" id="{20C19FCB-E75E-4127-8A17-D7F539D46958}"/>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0" name="矩形 9">
            <a:extLst>
              <a:ext uri="{FF2B5EF4-FFF2-40B4-BE49-F238E27FC236}">
                <a16:creationId xmlns:a16="http://schemas.microsoft.com/office/drawing/2014/main" id="{D111FE5D-DC5F-4D39-AD02-86DFC9BE1D97}"/>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054359" y="888925"/>
            <a:ext cx="7045495" cy="667265"/>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a:latin typeface="仿宋" panose="02010609060101010101" pitchFamily="49" charset="-122"/>
                <a:ea typeface="仿宋" panose="02010609060101010101" pitchFamily="49" charset="-122"/>
              </a:rPr>
              <a:t>第十一讲</a:t>
            </a:r>
            <a:r>
              <a:rPr lang="en-US" altLang="zh-CN" sz="3600" b="1">
                <a:latin typeface="仿宋" panose="02010609060101010101" pitchFamily="49" charset="-122"/>
                <a:ea typeface="仿宋" panose="02010609060101010101" pitchFamily="49" charset="-122"/>
              </a:rPr>
              <a:t>	</a:t>
            </a:r>
            <a:r>
              <a:rPr lang="zh-CN" altLang="en-US" sz="3600" b="1">
                <a:latin typeface="仿宋" panose="02010609060101010101" pitchFamily="49" charset="-122"/>
                <a:ea typeface="仿宋" panose="02010609060101010101" pitchFamily="49" charset="-122"/>
              </a:rPr>
              <a:t>素理想与极大理想</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3279174" y="1912075"/>
            <a:ext cx="2585651" cy="553998"/>
          </a:xfrm>
          <a:prstGeom prst="rect">
            <a:avLst/>
          </a:prstGeom>
          <a:noFill/>
        </p:spPr>
        <p:txBody>
          <a:bodyPr wrap="square" rtlCol="0">
            <a:spAutoFit/>
          </a:bodyPr>
          <a:lstStyle/>
          <a:p>
            <a:pPr algn="ctr"/>
            <a:r>
              <a:rPr lang="zh-CN" altLang="en-US" sz="3000">
                <a:solidFill>
                  <a:srgbClr val="210694"/>
                </a:solidFill>
                <a:latin typeface="楷体" panose="02010609060101010101" pitchFamily="49" charset="-122"/>
                <a:ea typeface="楷体" panose="02010609060101010101" pitchFamily="49" charset="-122"/>
              </a:rPr>
              <a:t>周 晓 聪</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2706131" y="2700512"/>
            <a:ext cx="3883111" cy="461665"/>
          </a:xfrm>
          <a:prstGeom prst="rect">
            <a:avLst/>
          </a:prstGeom>
          <a:noFill/>
        </p:spPr>
        <p:txBody>
          <a:bodyPr wrap="square" rtlCol="0">
            <a:spAutoFit/>
          </a:bodyPr>
          <a:lstStyle/>
          <a:p>
            <a:pPr algn="ctr"/>
            <a:r>
              <a:rPr lang="zh-CN" altLang="en-US" sz="24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3632887" y="3419732"/>
            <a:ext cx="2150075" cy="369332"/>
          </a:xfrm>
          <a:prstGeom prst="rect">
            <a:avLst/>
          </a:prstGeom>
          <a:noFill/>
        </p:spPr>
        <p:txBody>
          <a:bodyPr wrap="square" rtlCol="0">
            <a:spAutoFit/>
          </a:bodyPr>
          <a:lstStyle/>
          <a:p>
            <a:pPr algn="ctr"/>
            <a:r>
              <a:rPr lang="en-US" altLang="zh-CN" sz="18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18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18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5</a:t>
            </a:r>
            <a:r>
              <a:rPr lang="zh-CN" altLang="en-US" sz="18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278924" y="3966519"/>
            <a:ext cx="6820930" cy="369332"/>
          </a:xfrm>
          <a:prstGeom prst="rect">
            <a:avLst/>
          </a:prstGeom>
          <a:noFill/>
        </p:spPr>
        <p:txBody>
          <a:bodyPr wrap="square" rtlCol="0">
            <a:spAutoFit/>
          </a:bodyPr>
          <a:lstStyle/>
          <a:p>
            <a:pPr algn="ctr"/>
            <a:r>
              <a:rPr lang="en-US" altLang="zh-CN" sz="1800">
                <a:solidFill>
                  <a:srgbClr val="FF0000"/>
                </a:solidFill>
              </a:rPr>
              <a:t>isszxc@mail.sysu.edu.cn</a:t>
            </a:r>
            <a:endParaRPr lang="zh-CN" altLang="en-US" sz="180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4237" y="2334583"/>
            <a:ext cx="1324937" cy="1170438"/>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4572000" cy="24175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05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4572000" y="0"/>
            <a:ext cx="4572000" cy="241757"/>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318C8156-B6E9-4049-9054-EB38920B4B5B}"/>
              </a:ext>
            </a:extLst>
          </p:cNvPr>
          <p:cNvSpPr/>
          <p:nvPr/>
        </p:nvSpPr>
        <p:spPr>
          <a:xfrm>
            <a:off x="0" y="4892475"/>
            <a:ext cx="3039763" cy="24175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50">
                <a:latin typeface="楷体" panose="02010609060101010101" pitchFamily="49" charset="-122"/>
                <a:ea typeface="楷体" panose="02010609060101010101" pitchFamily="49" charset="-122"/>
              </a:rPr>
              <a:t>代数结构</a:t>
            </a:r>
          </a:p>
        </p:txBody>
      </p:sp>
      <p:sp>
        <p:nvSpPr>
          <p:cNvPr id="9" name="矩形 8">
            <a:extLst>
              <a:ext uri="{FF2B5EF4-FFF2-40B4-BE49-F238E27FC236}">
                <a16:creationId xmlns:a16="http://schemas.microsoft.com/office/drawing/2014/main" id="{20C19FCB-E75E-4127-8A17-D7F539D46958}"/>
              </a:ext>
            </a:extLst>
          </p:cNvPr>
          <p:cNvSpPr/>
          <p:nvPr/>
        </p:nvSpPr>
        <p:spPr>
          <a:xfrm>
            <a:off x="3039763" y="4892473"/>
            <a:ext cx="3064476" cy="241757"/>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0" name="矩形 9">
            <a:extLst>
              <a:ext uri="{FF2B5EF4-FFF2-40B4-BE49-F238E27FC236}">
                <a16:creationId xmlns:a16="http://schemas.microsoft.com/office/drawing/2014/main" id="{D111FE5D-DC5F-4D39-AD02-86DFC9BE1D97}"/>
              </a:ext>
            </a:extLst>
          </p:cNvPr>
          <p:cNvSpPr/>
          <p:nvPr/>
        </p:nvSpPr>
        <p:spPr>
          <a:xfrm>
            <a:off x="6104238" y="4892473"/>
            <a:ext cx="3039762" cy="241757"/>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a:latin typeface="Arial" panose="020B0604020202020204" pitchFamily="34" charset="0"/>
                <a:ea typeface="楷体" panose="02010609060101010101" pitchFamily="49" charset="-122"/>
                <a:cs typeface="Arial" panose="020B0604020202020204" pitchFamily="34" charset="0"/>
              </a:rPr>
              <a:t>2024</a:t>
            </a:r>
            <a:r>
              <a:rPr lang="zh-CN" altLang="en-US" sz="1350">
                <a:latin typeface="Arial" panose="020B0604020202020204" pitchFamily="34" charset="0"/>
                <a:ea typeface="楷体" panose="02010609060101010101" pitchFamily="49" charset="-122"/>
                <a:cs typeface="Arial" panose="020B0604020202020204" pitchFamily="34" charset="0"/>
              </a:rPr>
              <a:t>年</a:t>
            </a:r>
            <a:r>
              <a:rPr lang="en-US" altLang="zh-CN" sz="1350">
                <a:latin typeface="Arial" panose="020B0604020202020204" pitchFamily="34" charset="0"/>
                <a:ea typeface="楷体" panose="02010609060101010101" pitchFamily="49" charset="-122"/>
                <a:cs typeface="Arial" panose="020B0604020202020204" pitchFamily="34" charset="0"/>
              </a:rPr>
              <a:t>5</a:t>
            </a:r>
            <a:r>
              <a:rPr lang="zh-CN" altLang="en-US" sz="1350">
                <a:latin typeface="Arial" panose="020B0604020202020204" pitchFamily="34" charset="0"/>
                <a:ea typeface="楷体" panose="02010609060101010101" pitchFamily="49" charset="-122"/>
                <a:cs typeface="Arial" panose="020B0604020202020204" pitchFamily="34" charset="0"/>
              </a:rPr>
              <a:t>月 </a:t>
            </a:r>
            <a:r>
              <a:rPr lang="en-US" altLang="zh-CN" sz="135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z="1350" smtClean="0">
                <a:latin typeface="Arial" panose="020B0604020202020204" pitchFamily="34" charset="0"/>
                <a:ea typeface="楷体" panose="02010609060101010101" pitchFamily="49" charset="-122"/>
                <a:cs typeface="Arial" panose="020B0604020202020204" pitchFamily="34" charset="0"/>
              </a:rPr>
              <a:t>2</a:t>
            </a:fld>
            <a:r>
              <a:rPr lang="en-US" altLang="zh-CN" sz="1350">
                <a:latin typeface="Arial" panose="020B0604020202020204" pitchFamily="34" charset="0"/>
                <a:ea typeface="楷体" panose="02010609060101010101" pitchFamily="49" charset="-122"/>
                <a:cs typeface="Arial" panose="020B0604020202020204" pitchFamily="34" charset="0"/>
              </a:rPr>
              <a:t>/32</a:t>
            </a:r>
            <a:endParaRPr lang="zh-CN" altLang="en-US" sz="135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241757"/>
            <a:ext cx="9144002" cy="34446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350"/>
              <a:t>学习目标与学习重点</a:t>
            </a:r>
          </a:p>
        </p:txBody>
      </p:sp>
      <p:sp>
        <p:nvSpPr>
          <p:cNvPr id="11" name="文本框 10">
            <a:extLst>
              <a:ext uri="{FF2B5EF4-FFF2-40B4-BE49-F238E27FC236}">
                <a16:creationId xmlns:a16="http://schemas.microsoft.com/office/drawing/2014/main" id="{17E765DC-2D6D-4AC3-BAF6-7EEB0AC64C92}"/>
              </a:ext>
            </a:extLst>
          </p:cNvPr>
          <p:cNvSpPr txBox="1"/>
          <p:nvPr/>
        </p:nvSpPr>
        <p:spPr>
          <a:xfrm>
            <a:off x="687682" y="1235419"/>
            <a:ext cx="7768634" cy="1210588"/>
          </a:xfrm>
          <a:prstGeom prst="rect">
            <a:avLst/>
          </a:prstGeom>
          <a:solidFill>
            <a:schemeClr val="accent2">
              <a:lumMod val="20000"/>
              <a:lumOff val="80000"/>
              <a:alpha val="60000"/>
            </a:schemeClr>
          </a:solidFill>
        </p:spPr>
        <p:txBody>
          <a:bodyPr wrap="square" rtlCol="0">
            <a:spAutoFit/>
          </a:bodyPr>
          <a:lstStyle/>
          <a:p>
            <a:pPr algn="ctr">
              <a:lnSpc>
                <a:spcPts val="2400"/>
              </a:lnSpc>
              <a:spcBef>
                <a:spcPts val="450"/>
              </a:spcBef>
              <a:spcAft>
                <a:spcPts val="450"/>
              </a:spcAft>
            </a:pPr>
            <a:r>
              <a:rPr lang="zh-CN" altLang="en-US" sz="2100" b="1">
                <a:solidFill>
                  <a:srgbClr val="C00000"/>
                </a:solidFill>
                <a:latin typeface="楷体" panose="02010609060101010101" pitchFamily="49" charset="-122"/>
                <a:ea typeface="楷体" panose="02010609060101010101" pitchFamily="49" charset="-122"/>
              </a:rPr>
              <a:t>学习目标</a:t>
            </a:r>
          </a:p>
          <a:p>
            <a:pPr marL="257175" indent="-257175">
              <a:spcBef>
                <a:spcPts val="450"/>
              </a:spcBef>
              <a:spcAft>
                <a:spcPts val="450"/>
              </a:spcAft>
              <a:buFont typeface="Arial" panose="020B0604020202020204" pitchFamily="34" charset="0"/>
              <a:buChar char="•"/>
            </a:pPr>
            <a:r>
              <a:rPr lang="zh-CN" altLang="en-US" b="1">
                <a:solidFill>
                  <a:srgbClr val="002060"/>
                </a:solidFill>
                <a:latin typeface="+mn-ea"/>
              </a:rPr>
              <a:t>熟悉素理想和极大理想定义，及素理想与整环、极大理想和域之间的联系</a:t>
            </a:r>
            <a:endParaRPr lang="en-US" altLang="zh-CN" b="1">
              <a:solidFill>
                <a:srgbClr val="002060"/>
              </a:solidFill>
              <a:latin typeface="+mn-ea"/>
            </a:endParaRPr>
          </a:p>
          <a:p>
            <a:pPr marL="257175" indent="-257175">
              <a:spcBef>
                <a:spcPts val="450"/>
              </a:spcBef>
              <a:spcAft>
                <a:spcPts val="450"/>
              </a:spcAft>
              <a:buFont typeface="Arial" panose="020B0604020202020204" pitchFamily="34" charset="0"/>
              <a:buChar char="•"/>
            </a:pPr>
            <a:r>
              <a:rPr lang="zh-CN" altLang="en-US" b="1">
                <a:solidFill>
                  <a:srgbClr val="002060"/>
                </a:solidFill>
                <a:latin typeface="+mn-ea"/>
              </a:rPr>
              <a:t>能证明一个理想是否是素理想或极大理想</a:t>
            </a:r>
            <a:endParaRPr lang="zh-CN" altLang="zh-CN" b="1">
              <a:solidFill>
                <a:srgbClr val="002060"/>
              </a:solidFill>
              <a:latin typeface="+mn-ea"/>
            </a:endParaRPr>
          </a:p>
        </p:txBody>
      </p:sp>
      <p:sp>
        <p:nvSpPr>
          <p:cNvPr id="12" name="文本框 11">
            <a:extLst>
              <a:ext uri="{FF2B5EF4-FFF2-40B4-BE49-F238E27FC236}">
                <a16:creationId xmlns:a16="http://schemas.microsoft.com/office/drawing/2014/main" id="{858A4FB3-E946-4AFE-AEF0-D0516B0DC2F8}"/>
              </a:ext>
            </a:extLst>
          </p:cNvPr>
          <p:cNvSpPr txBox="1"/>
          <p:nvPr/>
        </p:nvSpPr>
        <p:spPr>
          <a:xfrm>
            <a:off x="687682" y="3223187"/>
            <a:ext cx="7947834" cy="872162"/>
          </a:xfrm>
          <a:prstGeom prst="rect">
            <a:avLst/>
          </a:prstGeom>
          <a:solidFill>
            <a:schemeClr val="accent4">
              <a:lumMod val="20000"/>
              <a:lumOff val="80000"/>
              <a:alpha val="60000"/>
            </a:schemeClr>
          </a:solidFill>
        </p:spPr>
        <p:txBody>
          <a:bodyPr wrap="square" rtlCol="0">
            <a:spAutoFit/>
          </a:bodyPr>
          <a:lstStyle/>
          <a:p>
            <a:pPr algn="ctr">
              <a:lnSpc>
                <a:spcPts val="2400"/>
              </a:lnSpc>
              <a:spcBef>
                <a:spcPts val="900"/>
              </a:spcBef>
              <a:spcAft>
                <a:spcPts val="450"/>
              </a:spcAft>
            </a:pPr>
            <a:r>
              <a:rPr lang="zh-CN" altLang="en-US" sz="2100" b="1">
                <a:solidFill>
                  <a:srgbClr val="C00000"/>
                </a:solidFill>
                <a:latin typeface="楷体" panose="02010609060101010101" pitchFamily="49" charset="-122"/>
                <a:ea typeface="楷体" panose="02010609060101010101" pitchFamily="49" charset="-122"/>
              </a:rPr>
              <a:t>学习重点</a:t>
            </a:r>
          </a:p>
          <a:p>
            <a:pPr marL="257175" indent="-257175">
              <a:lnSpc>
                <a:spcPts val="2400"/>
              </a:lnSpc>
              <a:spcBef>
                <a:spcPts val="900"/>
              </a:spcBef>
              <a:spcAft>
                <a:spcPts val="450"/>
              </a:spcAft>
              <a:buFont typeface="Arial" panose="020B0604020202020204" pitchFamily="34" charset="0"/>
              <a:buChar char="•"/>
            </a:pPr>
            <a:r>
              <a:rPr lang="zh-CN" altLang="en-US" b="1">
                <a:solidFill>
                  <a:schemeClr val="accent6">
                    <a:lumMod val="50000"/>
                  </a:schemeClr>
                </a:solidFill>
                <a:latin typeface="+mn-ea"/>
              </a:rPr>
              <a:t>如何证明理想是极大理想，并给出环关于极大理想的商环（域）的形式？</a:t>
            </a:r>
            <a:endParaRPr lang="en-US" altLang="zh-CN" b="1">
              <a:solidFill>
                <a:schemeClr val="accent6">
                  <a:lumMod val="50000"/>
                </a:schemeClr>
              </a:solidFill>
              <a:latin typeface="+mn-ea"/>
            </a:endParaRPr>
          </a:p>
        </p:txBody>
      </p:sp>
    </p:spTree>
    <p:extLst>
      <p:ext uri="{BB962C8B-B14F-4D97-AF65-F5344CB8AC3E}">
        <p14:creationId xmlns:p14="http://schemas.microsoft.com/office/powerpoint/2010/main" val="351046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8A63A11-312B-46D2-98D0-53742CDD8886}"/>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930438" y="1795619"/>
            <a:ext cx="3550298" cy="1667764"/>
          </a:xfrm>
          <a:prstGeom prst="rect">
            <a:avLst/>
          </a:prstGeom>
          <a:noFill/>
        </p:spPr>
        <p:txBody>
          <a:bodyPr wrap="square" rtlCol="0">
            <a:spAutoFit/>
          </a:bodyPr>
          <a:lstStyle/>
          <a:p>
            <a:pPr>
              <a:lnSpc>
                <a:spcPct val="150000"/>
              </a:lnSpc>
            </a:pPr>
            <a:r>
              <a:rPr lang="zh-CN" altLang="en-US" sz="2400" b="1">
                <a:solidFill>
                  <a:schemeClr val="accent6">
                    <a:lumMod val="50000"/>
                  </a:schemeClr>
                </a:solidFill>
                <a:latin typeface="仿宋" panose="02010609060101010101" pitchFamily="49" charset="-122"/>
                <a:ea typeface="仿宋" panose="02010609060101010101" pitchFamily="49" charset="-122"/>
              </a:rPr>
              <a:t>素理想</a:t>
            </a:r>
            <a:endParaRPr lang="en-US" altLang="zh-CN" sz="2400" b="1">
              <a:solidFill>
                <a:schemeClr val="accent6">
                  <a:lumMod val="50000"/>
                </a:schemeClr>
              </a:solidFill>
              <a:latin typeface="仿宋" panose="02010609060101010101" pitchFamily="49" charset="-122"/>
              <a:ea typeface="仿宋" panose="02010609060101010101" pitchFamily="49" charset="-122"/>
            </a:endParaRPr>
          </a:p>
          <a:p>
            <a:pPr>
              <a:lnSpc>
                <a:spcPct val="150000"/>
              </a:lnSpc>
            </a:pPr>
            <a:endParaRPr lang="en-US" altLang="zh-CN" sz="2400" b="1">
              <a:solidFill>
                <a:schemeClr val="accent6">
                  <a:lumMod val="50000"/>
                </a:schemeClr>
              </a:solidFill>
              <a:latin typeface="仿宋" panose="02010609060101010101" pitchFamily="49" charset="-122"/>
              <a:ea typeface="仿宋" panose="02010609060101010101" pitchFamily="49" charset="-122"/>
            </a:endParaRPr>
          </a:p>
          <a:p>
            <a:pPr>
              <a:lnSpc>
                <a:spcPct val="150000"/>
              </a:lnSpc>
            </a:pPr>
            <a:r>
              <a:rPr lang="zh-CN" altLang="en-US" sz="2400" b="1">
                <a:solidFill>
                  <a:schemeClr val="accent6">
                    <a:lumMod val="50000"/>
                  </a:schemeClr>
                </a:solidFill>
                <a:latin typeface="仿宋" panose="02010609060101010101" pitchFamily="49" charset="-122"/>
                <a:ea typeface="仿宋" panose="02010609060101010101" pitchFamily="49" charset="-122"/>
              </a:rPr>
              <a:t>极大理想</a:t>
            </a:r>
            <a:endParaRPr lang="en-US" altLang="zh-CN" sz="2400" b="1">
              <a:solidFill>
                <a:schemeClr val="accent6">
                  <a:lumMod val="50000"/>
                </a:schemeClr>
              </a:solidFill>
              <a:latin typeface="仿宋" panose="02010609060101010101" pitchFamily="49" charset="-122"/>
              <a:ea typeface="仿宋" panose="02010609060101010101" pitchFamily="49" charset="-122"/>
            </a:endParaRPr>
          </a:p>
        </p:txBody>
      </p:sp>
      <p:sp>
        <p:nvSpPr>
          <p:cNvPr id="11" name="矩形 10">
            <a:extLst>
              <a:ext uri="{FF2B5EF4-FFF2-40B4-BE49-F238E27FC236}">
                <a16:creationId xmlns:a16="http://schemas.microsoft.com/office/drawing/2014/main" id="{442470A3-17E0-4A28-9AF9-5A2F0FB0419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2" name="矩形 11">
            <a:extLst>
              <a:ext uri="{FF2B5EF4-FFF2-40B4-BE49-F238E27FC236}">
                <a16:creationId xmlns:a16="http://schemas.microsoft.com/office/drawing/2014/main" id="{AC32D6D5-FC5F-4988-89F0-E5114C49A15E}"/>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FDE91CAA-7321-49F4-9733-065AE332399B}"/>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4" name="矩形 13">
            <a:extLst>
              <a:ext uri="{FF2B5EF4-FFF2-40B4-BE49-F238E27FC236}">
                <a16:creationId xmlns:a16="http://schemas.microsoft.com/office/drawing/2014/main" id="{7FD880B9-427D-4B2C-B60B-E79B30A493F1}"/>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5" name="矩形 14">
            <a:extLst>
              <a:ext uri="{FF2B5EF4-FFF2-40B4-BE49-F238E27FC236}">
                <a16:creationId xmlns:a16="http://schemas.microsoft.com/office/drawing/2014/main" id="{E8FDFDF5-F81B-461A-AA68-EF7C48D09363}"/>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D96B9435-B891-4393-B68B-E3404920B5F1}" type="slidenum">
              <a:rPr lang="en-US" altLang="zh-CN" sz="1400" smtClean="0">
                <a:latin typeface="Arial" panose="020B0604020202020204" pitchFamily="34" charset="0"/>
                <a:ea typeface="楷体" panose="02010609060101010101" pitchFamily="49" charset="-122"/>
                <a:cs typeface="Arial" panose="020B0604020202020204" pitchFamily="34" charset="0"/>
              </a:rPr>
              <a:t>3</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素理想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素理想的定义和练习</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80DDC3F2-9B87-4142-A173-AF5A9EBCB487}" type="slidenum">
              <a:rPr lang="en-US" altLang="zh-CN" sz="1400" smtClean="0">
                <a:latin typeface="Arial" panose="020B0604020202020204" pitchFamily="34" charset="0"/>
                <a:ea typeface="楷体" panose="02010609060101010101" pitchFamily="49" charset="-122"/>
                <a:cs typeface="Arial" panose="020B0604020202020204" pitchFamily="34" charset="0"/>
              </a:rPr>
              <a:t>4</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D4B98EC-45C5-4CAE-A745-1F6ABD258350}"/>
                  </a:ext>
                </a:extLst>
              </p:cNvPr>
              <p:cNvSpPr txBox="1"/>
              <p:nvPr/>
            </p:nvSpPr>
            <p:spPr>
              <a:xfrm>
                <a:off x="1323972" y="1119188"/>
                <a:ext cx="6496050" cy="781496"/>
              </a:xfrm>
              <a:prstGeom prst="rect">
                <a:avLst/>
              </a:prstGeom>
              <a:solidFill>
                <a:schemeClr val="accent2">
                  <a:lumMod val="20000"/>
                  <a:lumOff val="80000"/>
                </a:schemeClr>
              </a:solidFill>
            </p:spPr>
            <p:txBody>
              <a:bodyPr wrap="square" rtlCol="0">
                <a:spAutoFit/>
              </a:bodyPr>
              <a:lstStyle/>
              <a:p>
                <a:pPr>
                  <a:lnSpc>
                    <a:spcPts val="2800"/>
                  </a:lnSpc>
                  <a:spcBef>
                    <a:spcPts val="600"/>
                  </a:spcBef>
                </a:pPr>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是交换环，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的真理想。若对任意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zh-CN" altLang="en-US"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𝒂𝒃</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𝑷</m:t>
                    </m:r>
                  </m:oMath>
                </a14:m>
                <a:r>
                  <a:rPr lang="zh-CN" altLang="en-US" b="1">
                    <a:solidFill>
                      <a:schemeClr val="accent2">
                        <a:lumMod val="50000"/>
                      </a:schemeClr>
                    </a:solidFill>
                  </a:rPr>
                  <a:t>蕴涵</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𝑷</m:t>
                    </m:r>
                  </m:oMath>
                </a14:m>
                <a:r>
                  <a:rPr lang="zh-CN" altLang="en-US" b="1">
                    <a:solidFill>
                      <a:schemeClr val="accent2">
                        <a:lumMod val="50000"/>
                      </a:schemeClr>
                    </a:solidFill>
                  </a:rPr>
                  <a:t>或</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𝑷</m:t>
                    </m:r>
                  </m:oMath>
                </a14:m>
                <a:r>
                  <a:rPr lang="zh-CN" altLang="en-US" b="1">
                    <a:solidFill>
                      <a:schemeClr val="accent2">
                        <a:lumMod val="50000"/>
                      </a:schemeClr>
                    </a:solidFill>
                  </a:rPr>
                  <a:t>，则称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𝑷</m:t>
                    </m:r>
                  </m:oMath>
                </a14:m>
                <a:r>
                  <a:rPr lang="zh-CN" altLang="en-US" b="1">
                    <a:solidFill>
                      <a:schemeClr val="accent2">
                        <a:lumMod val="50000"/>
                      </a:schemeClr>
                    </a:solidFill>
                  </a:rPr>
                  <a:t>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a:t>
                </a:r>
                <a:r>
                  <a:rPr lang="zh-CN" altLang="en-US" b="1">
                    <a:solidFill>
                      <a:srgbClr val="C00000"/>
                    </a:solidFill>
                  </a:rPr>
                  <a:t>素理想</a:t>
                </a:r>
                <a:r>
                  <a:rPr lang="en-US" altLang="zh-CN" b="1">
                    <a:solidFill>
                      <a:schemeClr val="accent2">
                        <a:lumMod val="50000"/>
                      </a:schemeClr>
                    </a:solidFill>
                  </a:rPr>
                  <a:t>(prime ideal)</a:t>
                </a:r>
                <a:r>
                  <a:rPr lang="zh-CN" altLang="en-US" b="1">
                    <a:solidFill>
                      <a:schemeClr val="accent2">
                        <a:lumMod val="50000"/>
                      </a:schemeClr>
                    </a:solidFill>
                  </a:rPr>
                  <a:t>。</a:t>
                </a:r>
              </a:p>
            </p:txBody>
          </p:sp>
        </mc:Choice>
        <mc:Fallback xmlns="">
          <p:sp>
            <p:nvSpPr>
              <p:cNvPr id="2" name="文本框 1">
                <a:extLst>
                  <a:ext uri="{FF2B5EF4-FFF2-40B4-BE49-F238E27FC236}">
                    <a16:creationId xmlns:a16="http://schemas.microsoft.com/office/drawing/2014/main" id="{ED4B98EC-45C5-4CAE-A745-1F6ABD258350}"/>
                  </a:ext>
                </a:extLst>
              </p:cNvPr>
              <p:cNvSpPr txBox="1">
                <a:spLocks noRot="1" noChangeAspect="1" noMove="1" noResize="1" noEditPoints="1" noAdjustHandles="1" noChangeArrowheads="1" noChangeShapeType="1" noTextEdit="1"/>
              </p:cNvSpPr>
              <p:nvPr/>
            </p:nvSpPr>
            <p:spPr>
              <a:xfrm>
                <a:off x="1323972" y="1119188"/>
                <a:ext cx="6496050" cy="781496"/>
              </a:xfrm>
              <a:prstGeom prst="rect">
                <a:avLst/>
              </a:prstGeom>
              <a:blipFill>
                <a:blip r:embed="rId2"/>
                <a:stretch>
                  <a:fillRect l="-750" b="-11719"/>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6F21990B-683C-4A0C-9263-C8CD66F69685}"/>
              </a:ext>
            </a:extLst>
          </p:cNvPr>
          <p:cNvSpPr txBox="1"/>
          <p:nvPr/>
        </p:nvSpPr>
        <p:spPr>
          <a:xfrm>
            <a:off x="1323973" y="2363767"/>
            <a:ext cx="3700258" cy="685637"/>
          </a:xfrm>
          <a:prstGeom prst="rect">
            <a:avLst/>
          </a:prstGeom>
          <a:solidFill>
            <a:schemeClr val="accent4">
              <a:lumMod val="40000"/>
              <a:lumOff val="60000"/>
            </a:schemeClr>
          </a:solidFill>
        </p:spPr>
        <p:txBody>
          <a:bodyPr wrap="square" rtlCol="0">
            <a:spAutoFit/>
          </a:bodyPr>
          <a:lstStyle/>
          <a:p>
            <a:pPr>
              <a:lnSpc>
                <a:spcPts val="2400"/>
              </a:lnSpc>
            </a:pPr>
            <a:r>
              <a:rPr lang="zh-CN" altLang="en-US" sz="1600" b="1">
                <a:solidFill>
                  <a:schemeClr val="accent2">
                    <a:lumMod val="50000"/>
                  </a:schemeClr>
                </a:solidFill>
              </a:rPr>
              <a:t>非交换环上也可以定义素理想，但这里只考类交换环上的素理想和极大理想！</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A35B7D5-BE39-4D2F-BE25-BB6C62E2D57A}"/>
                  </a:ext>
                </a:extLst>
              </p:cNvPr>
              <p:cNvSpPr txBox="1"/>
              <p:nvPr/>
            </p:nvSpPr>
            <p:spPr>
              <a:xfrm>
                <a:off x="1323973" y="3543300"/>
                <a:ext cx="3983524"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给出模</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𝟏𝟖</m:t>
                    </m:r>
                  </m:oMath>
                </a14:m>
                <a:r>
                  <a:rPr lang="zh-CN" altLang="en-US" b="1">
                    <a:solidFill>
                      <a:schemeClr val="accent2">
                        <a:lumMod val="50000"/>
                      </a:schemeClr>
                    </a:solidFill>
                  </a:rPr>
                  <a:t>剩余类环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ℤ</m:t>
                        </m:r>
                      </m:e>
                      <m:sub>
                        <m:r>
                          <a:rPr lang="en-US" altLang="zh-CN" b="1" i="1" smtClean="0">
                            <a:solidFill>
                              <a:schemeClr val="accent2">
                                <a:lumMod val="50000"/>
                              </a:schemeClr>
                            </a:solidFill>
                            <a:latin typeface="Cambria Math" panose="02040503050406030204" pitchFamily="18" charset="0"/>
                          </a:rPr>
                          <m:t>𝟏𝟖</m:t>
                        </m:r>
                      </m:sub>
                    </m:sSub>
                  </m:oMath>
                </a14:m>
                <a:r>
                  <a:rPr lang="zh-CN" altLang="en-US" b="1">
                    <a:solidFill>
                      <a:schemeClr val="accent2">
                        <a:lumMod val="50000"/>
                      </a:schemeClr>
                    </a:solidFill>
                  </a:rPr>
                  <a:t>的所有素理想。</a:t>
                </a:r>
              </a:p>
            </p:txBody>
          </p:sp>
        </mc:Choice>
        <mc:Fallback xmlns="">
          <p:sp>
            <p:nvSpPr>
              <p:cNvPr id="4" name="文本框 3">
                <a:extLst>
                  <a:ext uri="{FF2B5EF4-FFF2-40B4-BE49-F238E27FC236}">
                    <a16:creationId xmlns:a16="http://schemas.microsoft.com/office/drawing/2014/main" id="{DA35B7D5-BE39-4D2F-BE25-BB6C62E2D57A}"/>
                  </a:ext>
                </a:extLst>
              </p:cNvPr>
              <p:cNvSpPr txBox="1">
                <a:spLocks noRot="1" noChangeAspect="1" noMove="1" noResize="1" noEditPoints="1" noAdjustHandles="1" noChangeArrowheads="1" noChangeShapeType="1" noTextEdit="1"/>
              </p:cNvSpPr>
              <p:nvPr/>
            </p:nvSpPr>
            <p:spPr>
              <a:xfrm>
                <a:off x="1323973" y="3543300"/>
                <a:ext cx="3983524" cy="369332"/>
              </a:xfrm>
              <a:prstGeom prst="rect">
                <a:avLst/>
              </a:prstGeom>
              <a:blipFill>
                <a:blip r:embed="rId3"/>
                <a:stretch>
                  <a:fillRect l="-1223" t="-8197" r="-6881"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2737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素理想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素理想练习</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80DDC3F2-9B87-4142-A173-AF5A9EBCB487}" type="slidenum">
              <a:rPr lang="en-US" altLang="zh-CN" sz="1400" smtClean="0">
                <a:latin typeface="Arial" panose="020B0604020202020204" pitchFamily="34" charset="0"/>
                <a:ea typeface="楷体" panose="02010609060101010101" pitchFamily="49" charset="-122"/>
                <a:cs typeface="Arial" panose="020B0604020202020204" pitchFamily="34" charset="0"/>
              </a:rPr>
              <a:t>5</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B9A92CA-67E3-4180-A100-1F6C9367F8E4}"/>
                  </a:ext>
                </a:extLst>
              </p:cNvPr>
              <p:cNvSpPr txBox="1"/>
              <p:nvPr/>
            </p:nvSpPr>
            <p:spPr>
              <a:xfrm>
                <a:off x="1048001" y="969066"/>
                <a:ext cx="3983524"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给出模</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𝟏𝟖</m:t>
                    </m:r>
                  </m:oMath>
                </a14:m>
                <a:r>
                  <a:rPr lang="zh-CN" altLang="en-US" b="1">
                    <a:solidFill>
                      <a:schemeClr val="accent2">
                        <a:lumMod val="50000"/>
                      </a:schemeClr>
                    </a:solidFill>
                  </a:rPr>
                  <a:t>剩余类环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ℤ</m:t>
                        </m:r>
                      </m:e>
                      <m:sub>
                        <m:r>
                          <a:rPr lang="en-US" altLang="zh-CN" b="1" i="1" smtClean="0">
                            <a:solidFill>
                              <a:schemeClr val="accent2">
                                <a:lumMod val="50000"/>
                              </a:schemeClr>
                            </a:solidFill>
                            <a:latin typeface="Cambria Math" panose="02040503050406030204" pitchFamily="18" charset="0"/>
                          </a:rPr>
                          <m:t>𝟏𝟖</m:t>
                        </m:r>
                      </m:sub>
                    </m:sSub>
                  </m:oMath>
                </a14:m>
                <a:r>
                  <a:rPr lang="zh-CN" altLang="en-US" b="1">
                    <a:solidFill>
                      <a:schemeClr val="accent2">
                        <a:lumMod val="50000"/>
                      </a:schemeClr>
                    </a:solidFill>
                  </a:rPr>
                  <a:t>的所有素理想。</a:t>
                </a:r>
              </a:p>
            </p:txBody>
          </p:sp>
        </mc:Choice>
        <mc:Fallback xmlns="">
          <p:sp>
            <p:nvSpPr>
              <p:cNvPr id="8" name="文本框 7">
                <a:extLst>
                  <a:ext uri="{FF2B5EF4-FFF2-40B4-BE49-F238E27FC236}">
                    <a16:creationId xmlns:a16="http://schemas.microsoft.com/office/drawing/2014/main" id="{AB9A92CA-67E3-4180-A100-1F6C9367F8E4}"/>
                  </a:ext>
                </a:extLst>
              </p:cNvPr>
              <p:cNvSpPr txBox="1">
                <a:spLocks noRot="1" noChangeAspect="1" noMove="1" noResize="1" noEditPoints="1" noAdjustHandles="1" noChangeArrowheads="1" noChangeShapeType="1" noTextEdit="1"/>
              </p:cNvSpPr>
              <p:nvPr/>
            </p:nvSpPr>
            <p:spPr>
              <a:xfrm>
                <a:off x="1048001" y="969066"/>
                <a:ext cx="3983524" cy="369332"/>
              </a:xfrm>
              <a:prstGeom prst="rect">
                <a:avLst/>
              </a:prstGeom>
              <a:blipFill>
                <a:blip r:embed="rId2"/>
                <a:stretch>
                  <a:fillRect l="-1378" t="-9836" r="-6891" b="-24590"/>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885338EA-06AE-408F-B4DB-2F708AF1A4F8}"/>
              </a:ext>
            </a:extLst>
          </p:cNvPr>
          <p:cNvGrpSpPr/>
          <p:nvPr/>
        </p:nvGrpSpPr>
        <p:grpSpPr>
          <a:xfrm>
            <a:off x="1048001" y="1615109"/>
            <a:ext cx="7121964" cy="2768048"/>
            <a:chOff x="1048001" y="1615109"/>
            <a:chExt cx="7121964" cy="2768048"/>
          </a:xfrm>
        </p:grpSpPr>
        <p:sp>
          <p:nvSpPr>
            <p:cNvPr id="4" name="矩形: 圆角 3">
              <a:extLst>
                <a:ext uri="{FF2B5EF4-FFF2-40B4-BE49-F238E27FC236}">
                  <a16:creationId xmlns:a16="http://schemas.microsoft.com/office/drawing/2014/main" id="{0AD9D277-9A1F-44EA-A56E-FDF54554616A}"/>
                </a:ext>
              </a:extLst>
            </p:cNvPr>
            <p:cNvSpPr/>
            <p:nvPr/>
          </p:nvSpPr>
          <p:spPr>
            <a:xfrm>
              <a:off x="1048001" y="1615109"/>
              <a:ext cx="7121964" cy="2768048"/>
            </a:xfrm>
            <a:prstGeom prst="roundRect">
              <a:avLst>
                <a:gd name="adj" fmla="val 3920"/>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A0CF03F1-5A5E-4F43-9FFA-D5CFEF0F9EDC}"/>
                </a:ext>
              </a:extLst>
            </p:cNvPr>
            <p:cNvPicPr>
              <a:picLocks noChangeAspect="1"/>
            </p:cNvPicPr>
            <p:nvPr/>
          </p:nvPicPr>
          <p:blipFill>
            <a:blip r:embed="rId3"/>
            <a:stretch>
              <a:fillRect/>
            </a:stretch>
          </p:blipFill>
          <p:spPr>
            <a:xfrm>
              <a:off x="1087757" y="1651687"/>
              <a:ext cx="7047999" cy="2684952"/>
            </a:xfrm>
            <a:prstGeom prst="rect">
              <a:avLst/>
            </a:prstGeom>
          </p:spPr>
        </p:pic>
      </p:grpSp>
    </p:spTree>
    <p:extLst>
      <p:ext uri="{BB962C8B-B14F-4D97-AF65-F5344CB8AC3E}">
        <p14:creationId xmlns:p14="http://schemas.microsoft.com/office/powerpoint/2010/main" val="2114914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素理想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素理想的例子</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80DDC3F2-9B87-4142-A173-AF5A9EBCB487}" type="slidenum">
              <a:rPr lang="en-US" altLang="zh-CN" sz="1400" smtClean="0">
                <a:latin typeface="Arial" panose="020B0604020202020204" pitchFamily="34" charset="0"/>
                <a:ea typeface="楷体" panose="02010609060101010101" pitchFamily="49" charset="-122"/>
                <a:cs typeface="Arial" panose="020B0604020202020204" pitchFamily="34" charset="0"/>
              </a:rPr>
              <a:t>6</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grpSp>
        <p:nvGrpSpPr>
          <p:cNvPr id="7" name="组合 6">
            <a:extLst>
              <a:ext uri="{FF2B5EF4-FFF2-40B4-BE49-F238E27FC236}">
                <a16:creationId xmlns:a16="http://schemas.microsoft.com/office/drawing/2014/main" id="{32D5F57E-1837-42EF-8CF4-11D35CACA3C1}"/>
              </a:ext>
            </a:extLst>
          </p:cNvPr>
          <p:cNvGrpSpPr/>
          <p:nvPr/>
        </p:nvGrpSpPr>
        <p:grpSpPr>
          <a:xfrm>
            <a:off x="879610" y="994029"/>
            <a:ext cx="5297556" cy="357809"/>
            <a:chOff x="879614" y="957649"/>
            <a:chExt cx="5297556" cy="357809"/>
          </a:xfrm>
        </p:grpSpPr>
        <p:sp>
          <p:nvSpPr>
            <p:cNvPr id="4" name="矩形: 圆角 3">
              <a:extLst>
                <a:ext uri="{FF2B5EF4-FFF2-40B4-BE49-F238E27FC236}">
                  <a16:creationId xmlns:a16="http://schemas.microsoft.com/office/drawing/2014/main" id="{D03E41C5-B439-44E5-8EDD-AD4554FBF3AC}"/>
                </a:ext>
              </a:extLst>
            </p:cNvPr>
            <p:cNvSpPr/>
            <p:nvPr/>
          </p:nvSpPr>
          <p:spPr>
            <a:xfrm>
              <a:off x="879614" y="957649"/>
              <a:ext cx="5297556" cy="357809"/>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A1B8182C-0EA0-4875-94D3-2F32A9BD0FF9}"/>
                </a:ext>
              </a:extLst>
            </p:cNvPr>
            <p:cNvPicPr>
              <a:picLocks noChangeAspect="1"/>
            </p:cNvPicPr>
            <p:nvPr/>
          </p:nvPicPr>
          <p:blipFill>
            <a:blip r:embed="rId2"/>
            <a:stretch>
              <a:fillRect/>
            </a:stretch>
          </p:blipFill>
          <p:spPr>
            <a:xfrm>
              <a:off x="921440" y="994029"/>
              <a:ext cx="5212616" cy="293922"/>
            </a:xfrm>
            <a:prstGeom prst="rect">
              <a:avLst/>
            </a:prstGeom>
          </p:spPr>
        </p:pic>
      </p:grpSp>
      <p:grpSp>
        <p:nvGrpSpPr>
          <p:cNvPr id="9" name="组合 8">
            <a:extLst>
              <a:ext uri="{FF2B5EF4-FFF2-40B4-BE49-F238E27FC236}">
                <a16:creationId xmlns:a16="http://schemas.microsoft.com/office/drawing/2014/main" id="{EE5DBD23-1C3E-4B30-9A2F-F495EC914747}"/>
              </a:ext>
            </a:extLst>
          </p:cNvPr>
          <p:cNvGrpSpPr/>
          <p:nvPr/>
        </p:nvGrpSpPr>
        <p:grpSpPr>
          <a:xfrm>
            <a:off x="879610" y="1672257"/>
            <a:ext cx="7384773" cy="1321905"/>
            <a:chOff x="879614" y="1903343"/>
            <a:chExt cx="7384773" cy="1321905"/>
          </a:xfrm>
        </p:grpSpPr>
        <p:sp>
          <p:nvSpPr>
            <p:cNvPr id="8" name="矩形: 圆角 7">
              <a:extLst>
                <a:ext uri="{FF2B5EF4-FFF2-40B4-BE49-F238E27FC236}">
                  <a16:creationId xmlns:a16="http://schemas.microsoft.com/office/drawing/2014/main" id="{83A60B1A-8C81-4628-8BCF-0656CA71E4FA}"/>
                </a:ext>
              </a:extLst>
            </p:cNvPr>
            <p:cNvSpPr/>
            <p:nvPr/>
          </p:nvSpPr>
          <p:spPr>
            <a:xfrm>
              <a:off x="879614" y="1903343"/>
              <a:ext cx="7384773" cy="1321905"/>
            </a:xfrm>
            <a:prstGeom prst="roundRect">
              <a:avLst>
                <a:gd name="adj" fmla="val 4261"/>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0E2B4B35-5F72-457D-B522-64C1F3F4957F}"/>
                </a:ext>
              </a:extLst>
            </p:cNvPr>
            <p:cNvPicPr>
              <a:picLocks noChangeAspect="1"/>
            </p:cNvPicPr>
            <p:nvPr/>
          </p:nvPicPr>
          <p:blipFill>
            <a:blip r:embed="rId3"/>
            <a:stretch>
              <a:fillRect/>
            </a:stretch>
          </p:blipFill>
          <p:spPr>
            <a:xfrm>
              <a:off x="915965" y="1944257"/>
              <a:ext cx="7312064" cy="1245716"/>
            </a:xfrm>
            <a:prstGeom prst="rect">
              <a:avLst/>
            </a:prstGeom>
          </p:spPr>
        </p:pic>
      </p:grpSp>
      <p:sp>
        <p:nvSpPr>
          <p:cNvPr id="18" name="矩形: 圆角 17">
            <a:extLst>
              <a:ext uri="{FF2B5EF4-FFF2-40B4-BE49-F238E27FC236}">
                <a16:creationId xmlns:a16="http://schemas.microsoft.com/office/drawing/2014/main" id="{94335A52-50CD-4940-9537-C78E2B41EF7D}"/>
              </a:ext>
            </a:extLst>
          </p:cNvPr>
          <p:cNvSpPr/>
          <p:nvPr/>
        </p:nvSpPr>
        <p:spPr>
          <a:xfrm>
            <a:off x="879606" y="3583406"/>
            <a:ext cx="7384773" cy="566065"/>
          </a:xfrm>
          <a:prstGeom prst="roundRect">
            <a:avLst>
              <a:gd name="adj" fmla="val 14323"/>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00521AF1-7E9E-4695-B626-EF2AAFC94306}"/>
              </a:ext>
            </a:extLst>
          </p:cNvPr>
          <p:cNvPicPr>
            <a:picLocks noChangeAspect="1"/>
          </p:cNvPicPr>
          <p:nvPr/>
        </p:nvPicPr>
        <p:blipFill>
          <a:blip r:embed="rId4"/>
          <a:stretch>
            <a:fillRect/>
          </a:stretch>
        </p:blipFill>
        <p:spPr>
          <a:xfrm>
            <a:off x="915961" y="3619913"/>
            <a:ext cx="7312064" cy="479380"/>
          </a:xfrm>
          <a:prstGeom prst="rect">
            <a:avLst/>
          </a:prstGeom>
        </p:spPr>
      </p:pic>
    </p:spTree>
    <p:extLst>
      <p:ext uri="{BB962C8B-B14F-4D97-AF65-F5344CB8AC3E}">
        <p14:creationId xmlns:p14="http://schemas.microsoft.com/office/powerpoint/2010/main" val="60481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素理想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素理想与整环</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80DDC3F2-9B87-4142-A173-AF5A9EBCB487}" type="slidenum">
              <a:rPr lang="en-US" altLang="zh-CN" sz="1400" smtClean="0">
                <a:latin typeface="Arial" panose="020B0604020202020204" pitchFamily="34" charset="0"/>
                <a:ea typeface="楷体" panose="02010609060101010101" pitchFamily="49" charset="-122"/>
                <a:cs typeface="Arial" panose="020B0604020202020204" pitchFamily="34" charset="0"/>
              </a:rPr>
              <a:t>7</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2FAC8B2-4CA9-427E-ADB4-BA27D5F15D23}"/>
                  </a:ext>
                </a:extLst>
              </p:cNvPr>
              <p:cNvSpPr txBox="1"/>
              <p:nvPr/>
            </p:nvSpPr>
            <p:spPr>
              <a:xfrm>
                <a:off x="884577" y="1125108"/>
                <a:ext cx="7374839" cy="714170"/>
              </a:xfrm>
              <a:prstGeom prst="rect">
                <a:avLst/>
              </a:prstGeom>
              <a:solidFill>
                <a:schemeClr val="accent5">
                  <a:lumMod val="20000"/>
                  <a:lumOff val="80000"/>
                </a:schemeClr>
              </a:solidFill>
            </p:spPr>
            <p:txBody>
              <a:bodyPr wrap="square" rtlCol="0">
                <a:spAutoFit/>
              </a:bodyPr>
              <a:lstStyle/>
              <a:p>
                <a:pPr>
                  <a:lnSpc>
                    <a:spcPts val="2500"/>
                  </a:lnSpc>
                </a:pPr>
                <a:r>
                  <a:rPr lang="en-US" altLang="zh-CN" b="1">
                    <a:solidFill>
                      <a:srgbClr val="002060"/>
                    </a:solidFill>
                  </a:rPr>
                  <a:t>【</a:t>
                </a:r>
                <a:r>
                  <a:rPr lang="zh-CN" altLang="en-US" b="1">
                    <a:solidFill>
                      <a:srgbClr val="002060"/>
                    </a:solidFill>
                  </a:rPr>
                  <a:t>定理</a:t>
                </a:r>
                <a:r>
                  <a:rPr lang="en-US" altLang="zh-CN" b="1">
                    <a:solidFill>
                      <a:srgbClr val="002060"/>
                    </a:solidFill>
                  </a:rPr>
                  <a:t>】</a:t>
                </a:r>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是有单位元</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𝒆</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𝟎</m:t>
                    </m:r>
                  </m:oMath>
                </a14:m>
                <a:r>
                  <a:rPr lang="zh-CN" altLang="en-US" b="1">
                    <a:solidFill>
                      <a:schemeClr val="accent2">
                        <a:lumMod val="50000"/>
                      </a:schemeClr>
                    </a:solidFill>
                  </a:rPr>
                  <a:t>的交换环，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𝑰</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的理想，则</a:t>
                </a:r>
                <a14:m>
                  <m:oMath xmlns:m="http://schemas.openxmlformats.org/officeDocument/2006/math">
                    <m:r>
                      <a:rPr lang="en-US" altLang="zh-CN" b="1" i="1" smtClean="0">
                        <a:solidFill>
                          <a:srgbClr val="C00000"/>
                        </a:solidFill>
                        <a:latin typeface="Cambria Math" panose="02040503050406030204" pitchFamily="18" charset="0"/>
                      </a:rPr>
                      <m:t>𝑰</m:t>
                    </m:r>
                  </m:oMath>
                </a14:m>
                <a:r>
                  <a:rPr lang="zh-CN" altLang="en-US" b="1">
                    <a:solidFill>
                      <a:srgbClr val="C00000"/>
                    </a:solidFill>
                  </a:rPr>
                  <a:t>是</a:t>
                </a:r>
                <a14:m>
                  <m:oMath xmlns:m="http://schemas.openxmlformats.org/officeDocument/2006/math">
                    <m:r>
                      <a:rPr lang="en-US" altLang="zh-CN" b="1" i="1" smtClean="0">
                        <a:solidFill>
                          <a:srgbClr val="C00000"/>
                        </a:solidFill>
                        <a:latin typeface="Cambria Math" panose="02040503050406030204" pitchFamily="18" charset="0"/>
                      </a:rPr>
                      <m:t>𝑹</m:t>
                    </m:r>
                  </m:oMath>
                </a14:m>
                <a:r>
                  <a:rPr lang="zh-CN" altLang="en-US" b="1">
                    <a:solidFill>
                      <a:srgbClr val="C00000"/>
                    </a:solidFill>
                  </a:rPr>
                  <a:t>的素理想</a:t>
                </a:r>
                <a:r>
                  <a:rPr lang="zh-CN" altLang="en-US" b="1">
                    <a:solidFill>
                      <a:schemeClr val="accent2">
                        <a:lumMod val="50000"/>
                      </a:schemeClr>
                    </a:solidFill>
                  </a:rPr>
                  <a:t>当且仅当</a:t>
                </a:r>
                <a14:m>
                  <m:oMath xmlns:m="http://schemas.openxmlformats.org/officeDocument/2006/math">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𝑰</m:t>
                    </m:r>
                  </m:oMath>
                </a14:m>
                <a:r>
                  <a:rPr lang="zh-CN" altLang="en-US" b="1">
                    <a:solidFill>
                      <a:srgbClr val="C00000"/>
                    </a:solidFill>
                  </a:rPr>
                  <a:t>是整环</a:t>
                </a:r>
                <a:r>
                  <a:rPr lang="zh-CN" altLang="en-US" b="1">
                    <a:solidFill>
                      <a:schemeClr val="accent2">
                        <a:lumMod val="50000"/>
                      </a:schemeClr>
                    </a:solidFill>
                  </a:rPr>
                  <a:t>。</a:t>
                </a:r>
              </a:p>
            </p:txBody>
          </p:sp>
        </mc:Choice>
        <mc:Fallback xmlns="">
          <p:sp>
            <p:nvSpPr>
              <p:cNvPr id="2" name="文本框 1">
                <a:extLst>
                  <a:ext uri="{FF2B5EF4-FFF2-40B4-BE49-F238E27FC236}">
                    <a16:creationId xmlns:a16="http://schemas.microsoft.com/office/drawing/2014/main" id="{92FAC8B2-4CA9-427E-ADB4-BA27D5F15D23}"/>
                  </a:ext>
                </a:extLst>
              </p:cNvPr>
              <p:cNvSpPr txBox="1">
                <a:spLocks noRot="1" noChangeAspect="1" noMove="1" noResize="1" noEditPoints="1" noAdjustHandles="1" noChangeArrowheads="1" noChangeShapeType="1" noTextEdit="1"/>
              </p:cNvSpPr>
              <p:nvPr/>
            </p:nvSpPr>
            <p:spPr>
              <a:xfrm>
                <a:off x="884577" y="1125108"/>
                <a:ext cx="7374839" cy="714170"/>
              </a:xfrm>
              <a:prstGeom prst="rect">
                <a:avLst/>
              </a:prstGeom>
              <a:blipFill>
                <a:blip r:embed="rId2"/>
                <a:stretch>
                  <a:fillRect l="-661" t="-1709" r="-744" b="-12821"/>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5E507E91-87CC-4C74-A6A8-86439959AD0F}"/>
              </a:ext>
            </a:extLst>
          </p:cNvPr>
          <p:cNvGrpSpPr/>
          <p:nvPr/>
        </p:nvGrpSpPr>
        <p:grpSpPr>
          <a:xfrm>
            <a:off x="884577" y="2131944"/>
            <a:ext cx="7374839" cy="1098274"/>
            <a:chOff x="884577" y="2131944"/>
            <a:chExt cx="7374839" cy="1098274"/>
          </a:xfrm>
        </p:grpSpPr>
        <p:sp>
          <p:nvSpPr>
            <p:cNvPr id="5" name="矩形: 圆角 4">
              <a:extLst>
                <a:ext uri="{FF2B5EF4-FFF2-40B4-BE49-F238E27FC236}">
                  <a16:creationId xmlns:a16="http://schemas.microsoft.com/office/drawing/2014/main" id="{AA7F3707-7804-4F37-A05F-7ED84B7CAFC5}"/>
                </a:ext>
              </a:extLst>
            </p:cNvPr>
            <p:cNvSpPr/>
            <p:nvPr/>
          </p:nvSpPr>
          <p:spPr>
            <a:xfrm>
              <a:off x="884577" y="2131944"/>
              <a:ext cx="7374839" cy="1098274"/>
            </a:xfrm>
            <a:prstGeom prst="roundRect">
              <a:avLst>
                <a:gd name="adj" fmla="val 98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3F62B9C8-C509-4E18-AC33-E7CED559EC0D}"/>
                </a:ext>
              </a:extLst>
            </p:cNvPr>
            <p:cNvPicPr>
              <a:picLocks noChangeAspect="1"/>
            </p:cNvPicPr>
            <p:nvPr/>
          </p:nvPicPr>
          <p:blipFill>
            <a:blip r:embed="rId3"/>
            <a:stretch>
              <a:fillRect/>
            </a:stretch>
          </p:blipFill>
          <p:spPr>
            <a:xfrm>
              <a:off x="936763" y="2174967"/>
              <a:ext cx="7270474" cy="1022865"/>
            </a:xfrm>
            <a:prstGeom prst="rect">
              <a:avLst/>
            </a:prstGeom>
          </p:spPr>
        </p:pic>
      </p:grpSp>
      <p:grpSp>
        <p:nvGrpSpPr>
          <p:cNvPr id="8" name="组合 7">
            <a:extLst>
              <a:ext uri="{FF2B5EF4-FFF2-40B4-BE49-F238E27FC236}">
                <a16:creationId xmlns:a16="http://schemas.microsoft.com/office/drawing/2014/main" id="{5E7C682B-100F-45BB-B53B-683CB09E93EC}"/>
              </a:ext>
            </a:extLst>
          </p:cNvPr>
          <p:cNvGrpSpPr/>
          <p:nvPr/>
        </p:nvGrpSpPr>
        <p:grpSpPr>
          <a:xfrm>
            <a:off x="884577" y="3445334"/>
            <a:ext cx="7374839" cy="788735"/>
            <a:chOff x="884577" y="3360852"/>
            <a:chExt cx="7374839" cy="788735"/>
          </a:xfrm>
        </p:grpSpPr>
        <p:sp>
          <p:nvSpPr>
            <p:cNvPr id="17" name="矩形: 圆角 16">
              <a:extLst>
                <a:ext uri="{FF2B5EF4-FFF2-40B4-BE49-F238E27FC236}">
                  <a16:creationId xmlns:a16="http://schemas.microsoft.com/office/drawing/2014/main" id="{E6A3F5C1-5143-49A2-AE40-10A052FBE62A}"/>
                </a:ext>
              </a:extLst>
            </p:cNvPr>
            <p:cNvSpPr/>
            <p:nvPr/>
          </p:nvSpPr>
          <p:spPr>
            <a:xfrm>
              <a:off x="884577" y="3360852"/>
              <a:ext cx="7374839" cy="788735"/>
            </a:xfrm>
            <a:prstGeom prst="roundRect">
              <a:avLst>
                <a:gd name="adj" fmla="val 98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7A65DC6C-8889-4251-B5D2-DAE2EB7017B9}"/>
                </a:ext>
              </a:extLst>
            </p:cNvPr>
            <p:cNvPicPr>
              <a:picLocks noChangeAspect="1"/>
            </p:cNvPicPr>
            <p:nvPr/>
          </p:nvPicPr>
          <p:blipFill>
            <a:blip r:embed="rId4"/>
            <a:stretch>
              <a:fillRect/>
            </a:stretch>
          </p:blipFill>
          <p:spPr>
            <a:xfrm>
              <a:off x="936759" y="3400551"/>
              <a:ext cx="7270474" cy="709031"/>
            </a:xfrm>
            <a:prstGeom prst="rect">
              <a:avLst/>
            </a:prstGeom>
          </p:spPr>
        </p:pic>
      </p:grpSp>
    </p:spTree>
    <p:extLst>
      <p:ext uri="{BB962C8B-B14F-4D97-AF65-F5344CB8AC3E}">
        <p14:creationId xmlns:p14="http://schemas.microsoft.com/office/powerpoint/2010/main" val="164048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8A63A11-312B-46D2-98D0-53742CDD8886}"/>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930438" y="1795619"/>
            <a:ext cx="3550298" cy="1667764"/>
          </a:xfrm>
          <a:prstGeom prst="rect">
            <a:avLst/>
          </a:prstGeom>
          <a:noFill/>
        </p:spPr>
        <p:txBody>
          <a:bodyPr wrap="square" rtlCol="0">
            <a:spAutoFit/>
          </a:bodyPr>
          <a:lstStyle/>
          <a:p>
            <a:pPr>
              <a:lnSpc>
                <a:spcPct val="150000"/>
              </a:lnSpc>
            </a:pPr>
            <a:r>
              <a:rPr lang="zh-CN" altLang="en-US" sz="2400" b="1">
                <a:solidFill>
                  <a:schemeClr val="bg1">
                    <a:lumMod val="95000"/>
                  </a:schemeClr>
                </a:solidFill>
                <a:latin typeface="仿宋" panose="02010609060101010101" pitchFamily="49" charset="-122"/>
                <a:ea typeface="仿宋" panose="02010609060101010101" pitchFamily="49" charset="-122"/>
              </a:rPr>
              <a:t>素理想</a:t>
            </a:r>
            <a:endParaRPr lang="en-US" altLang="zh-CN" sz="2400" b="1">
              <a:solidFill>
                <a:schemeClr val="bg1">
                  <a:lumMod val="95000"/>
                </a:schemeClr>
              </a:solidFill>
              <a:latin typeface="仿宋" panose="02010609060101010101" pitchFamily="49" charset="-122"/>
              <a:ea typeface="仿宋" panose="02010609060101010101" pitchFamily="49" charset="-122"/>
            </a:endParaRPr>
          </a:p>
          <a:p>
            <a:pPr>
              <a:lnSpc>
                <a:spcPct val="150000"/>
              </a:lnSpc>
            </a:pPr>
            <a:endParaRPr lang="en-US" altLang="zh-CN" sz="2400" b="1">
              <a:solidFill>
                <a:schemeClr val="accent6">
                  <a:lumMod val="50000"/>
                </a:schemeClr>
              </a:solidFill>
              <a:latin typeface="仿宋" panose="02010609060101010101" pitchFamily="49" charset="-122"/>
              <a:ea typeface="仿宋" panose="02010609060101010101" pitchFamily="49" charset="-122"/>
            </a:endParaRPr>
          </a:p>
          <a:p>
            <a:pPr>
              <a:lnSpc>
                <a:spcPct val="150000"/>
              </a:lnSpc>
            </a:pPr>
            <a:r>
              <a:rPr lang="zh-CN" altLang="en-US" sz="2400" b="1">
                <a:solidFill>
                  <a:schemeClr val="accent6">
                    <a:lumMod val="50000"/>
                  </a:schemeClr>
                </a:solidFill>
                <a:latin typeface="仿宋" panose="02010609060101010101" pitchFamily="49" charset="-122"/>
                <a:ea typeface="仿宋" panose="02010609060101010101" pitchFamily="49" charset="-122"/>
              </a:rPr>
              <a:t>极大理想</a:t>
            </a:r>
            <a:endParaRPr lang="en-US" altLang="zh-CN" sz="2400" b="1">
              <a:solidFill>
                <a:schemeClr val="accent6">
                  <a:lumMod val="50000"/>
                </a:schemeClr>
              </a:solidFill>
              <a:latin typeface="仿宋" panose="02010609060101010101" pitchFamily="49" charset="-122"/>
              <a:ea typeface="仿宋" panose="02010609060101010101" pitchFamily="49" charset="-122"/>
            </a:endParaRPr>
          </a:p>
        </p:txBody>
      </p:sp>
      <p:sp>
        <p:nvSpPr>
          <p:cNvPr id="11" name="矩形 10">
            <a:extLst>
              <a:ext uri="{FF2B5EF4-FFF2-40B4-BE49-F238E27FC236}">
                <a16:creationId xmlns:a16="http://schemas.microsoft.com/office/drawing/2014/main" id="{442470A3-17E0-4A28-9AF9-5A2F0FB0419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2" name="矩形 11">
            <a:extLst>
              <a:ext uri="{FF2B5EF4-FFF2-40B4-BE49-F238E27FC236}">
                <a16:creationId xmlns:a16="http://schemas.microsoft.com/office/drawing/2014/main" id="{AC32D6D5-FC5F-4988-89F0-E5114C49A15E}"/>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FDE91CAA-7321-49F4-9733-065AE332399B}"/>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4" name="矩形 13">
            <a:extLst>
              <a:ext uri="{FF2B5EF4-FFF2-40B4-BE49-F238E27FC236}">
                <a16:creationId xmlns:a16="http://schemas.microsoft.com/office/drawing/2014/main" id="{7FD880B9-427D-4B2C-B60B-E79B30A493F1}"/>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5" name="矩形 14">
            <a:extLst>
              <a:ext uri="{FF2B5EF4-FFF2-40B4-BE49-F238E27FC236}">
                <a16:creationId xmlns:a16="http://schemas.microsoft.com/office/drawing/2014/main" id="{E8FDFDF5-F81B-461A-AA68-EF7C48D09363}"/>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D96B9435-B891-4393-B68B-E3404920B5F1}" type="slidenum">
              <a:rPr lang="en-US" altLang="zh-CN" sz="1400" smtClean="0">
                <a:latin typeface="Arial" panose="020B0604020202020204" pitchFamily="34" charset="0"/>
                <a:ea typeface="楷体" panose="02010609060101010101" pitchFamily="49" charset="-122"/>
                <a:cs typeface="Arial" panose="020B0604020202020204" pitchFamily="34" charset="0"/>
              </a:rPr>
              <a:t>8</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46020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极大理想的定义和练习</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80DDC3F2-9B87-4142-A173-AF5A9EBCB487}" type="slidenum">
              <a:rPr lang="en-US" altLang="zh-CN" sz="1400" smtClean="0">
                <a:latin typeface="Arial" panose="020B0604020202020204" pitchFamily="34" charset="0"/>
                <a:ea typeface="楷体" panose="02010609060101010101" pitchFamily="49" charset="-122"/>
                <a:cs typeface="Arial" panose="020B0604020202020204" pitchFamily="34" charset="0"/>
              </a:rPr>
              <a:t>9</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D4B98EC-45C5-4CAE-A745-1F6ABD258350}"/>
                  </a:ext>
                </a:extLst>
              </p:cNvPr>
              <p:cNvSpPr txBox="1"/>
              <p:nvPr/>
            </p:nvSpPr>
            <p:spPr>
              <a:xfrm>
                <a:off x="1323972" y="1119188"/>
                <a:ext cx="6496050" cy="782202"/>
              </a:xfrm>
              <a:prstGeom prst="rect">
                <a:avLst/>
              </a:prstGeom>
              <a:solidFill>
                <a:schemeClr val="accent2">
                  <a:lumMod val="20000"/>
                  <a:lumOff val="80000"/>
                </a:schemeClr>
              </a:solidFill>
            </p:spPr>
            <p:txBody>
              <a:bodyPr wrap="square" rtlCol="0">
                <a:spAutoFit/>
              </a:bodyPr>
              <a:lstStyle/>
              <a:p>
                <a:pPr>
                  <a:lnSpc>
                    <a:spcPts val="2800"/>
                  </a:lnSpc>
                  <a:spcBef>
                    <a:spcPts val="600"/>
                  </a:spcBef>
                </a:pPr>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是交换环，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𝑴</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的真理想。若对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的任意包含</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𝑴</m:t>
                    </m:r>
                  </m:oMath>
                </a14:m>
                <a:r>
                  <a:rPr lang="zh-CN" altLang="en-US" b="1">
                    <a:solidFill>
                      <a:schemeClr val="accent2">
                        <a:lumMod val="50000"/>
                      </a:schemeClr>
                    </a:solidFill>
                  </a:rPr>
                  <a:t>的理想</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𝑵</m:t>
                    </m:r>
                  </m:oMath>
                </a14:m>
                <a:r>
                  <a:rPr lang="zh-CN" altLang="en-US" b="1">
                    <a:solidFill>
                      <a:schemeClr val="accent2">
                        <a:lumMod val="50000"/>
                      </a:schemeClr>
                    </a:solidFill>
                  </a:rPr>
                  <a:t>，必有</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𝑵</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𝑴</m:t>
                    </m:r>
                  </m:oMath>
                </a14:m>
                <a:r>
                  <a:rPr lang="zh-CN" altLang="en-US" b="1">
                    <a:solidFill>
                      <a:schemeClr val="accent2">
                        <a:lumMod val="50000"/>
                      </a:schemeClr>
                    </a:solidFill>
                  </a:rPr>
                  <a:t>或</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𝑵</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，则称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𝑴</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的极大理想</a:t>
                </a:r>
                <a:r>
                  <a:rPr lang="en-US" altLang="zh-CN" b="1">
                    <a:solidFill>
                      <a:schemeClr val="accent2">
                        <a:lumMod val="50000"/>
                      </a:schemeClr>
                    </a:solidFill>
                  </a:rPr>
                  <a:t>(maximal ideal)</a:t>
                </a:r>
                <a:r>
                  <a:rPr lang="zh-CN" altLang="en-US" b="1">
                    <a:solidFill>
                      <a:schemeClr val="accent2">
                        <a:lumMod val="50000"/>
                      </a:schemeClr>
                    </a:solidFill>
                  </a:rPr>
                  <a:t>。</a:t>
                </a:r>
              </a:p>
            </p:txBody>
          </p:sp>
        </mc:Choice>
        <mc:Fallback xmlns="">
          <p:sp>
            <p:nvSpPr>
              <p:cNvPr id="2" name="文本框 1">
                <a:extLst>
                  <a:ext uri="{FF2B5EF4-FFF2-40B4-BE49-F238E27FC236}">
                    <a16:creationId xmlns:a16="http://schemas.microsoft.com/office/drawing/2014/main" id="{ED4B98EC-45C5-4CAE-A745-1F6ABD258350}"/>
                  </a:ext>
                </a:extLst>
              </p:cNvPr>
              <p:cNvSpPr txBox="1">
                <a:spLocks noRot="1" noChangeAspect="1" noMove="1" noResize="1" noEditPoints="1" noAdjustHandles="1" noChangeArrowheads="1" noChangeShapeType="1" noTextEdit="1"/>
              </p:cNvSpPr>
              <p:nvPr/>
            </p:nvSpPr>
            <p:spPr>
              <a:xfrm>
                <a:off x="1323972" y="1119188"/>
                <a:ext cx="6496050" cy="782202"/>
              </a:xfrm>
              <a:prstGeom prst="rect">
                <a:avLst/>
              </a:prstGeom>
              <a:blipFill>
                <a:blip r:embed="rId2"/>
                <a:stretch>
                  <a:fillRect l="-750" r="-4221" b="-11719"/>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6F21990B-683C-4A0C-9263-C8CD66F69685}"/>
              </a:ext>
            </a:extLst>
          </p:cNvPr>
          <p:cNvSpPr txBox="1"/>
          <p:nvPr/>
        </p:nvSpPr>
        <p:spPr>
          <a:xfrm>
            <a:off x="1323972" y="2363767"/>
            <a:ext cx="3913949" cy="685637"/>
          </a:xfrm>
          <a:prstGeom prst="rect">
            <a:avLst/>
          </a:prstGeom>
          <a:solidFill>
            <a:schemeClr val="accent4">
              <a:lumMod val="40000"/>
              <a:lumOff val="60000"/>
            </a:schemeClr>
          </a:solidFill>
        </p:spPr>
        <p:txBody>
          <a:bodyPr wrap="square" rtlCol="0">
            <a:spAutoFit/>
          </a:bodyPr>
          <a:lstStyle/>
          <a:p>
            <a:pPr>
              <a:lnSpc>
                <a:spcPts val="2400"/>
              </a:lnSpc>
            </a:pPr>
            <a:r>
              <a:rPr lang="zh-CN" altLang="en-US" sz="1600" b="1">
                <a:solidFill>
                  <a:schemeClr val="accent2">
                    <a:lumMod val="50000"/>
                  </a:schemeClr>
                </a:solidFill>
              </a:rPr>
              <a:t>非交换环上的极大理想也可如上定义，但这里只考类交换环上的素理想和极大理想！</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A35B7D5-BE39-4D2F-BE25-BB6C62E2D57A}"/>
                  </a:ext>
                </a:extLst>
              </p:cNvPr>
              <p:cNvSpPr txBox="1"/>
              <p:nvPr/>
            </p:nvSpPr>
            <p:spPr>
              <a:xfrm>
                <a:off x="1323973" y="3543300"/>
                <a:ext cx="4261818"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给出模</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𝟏𝟖</m:t>
                    </m:r>
                  </m:oMath>
                </a14:m>
                <a:r>
                  <a:rPr lang="zh-CN" altLang="en-US" b="1">
                    <a:solidFill>
                      <a:schemeClr val="accent2">
                        <a:lumMod val="50000"/>
                      </a:schemeClr>
                    </a:solidFill>
                  </a:rPr>
                  <a:t>剩余类环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ℤ</m:t>
                        </m:r>
                      </m:e>
                      <m:sub>
                        <m:r>
                          <a:rPr lang="en-US" altLang="zh-CN" b="1" i="1" smtClean="0">
                            <a:solidFill>
                              <a:schemeClr val="accent2">
                                <a:lumMod val="50000"/>
                              </a:schemeClr>
                            </a:solidFill>
                            <a:latin typeface="Cambria Math" panose="02040503050406030204" pitchFamily="18" charset="0"/>
                          </a:rPr>
                          <m:t>𝟏𝟖</m:t>
                        </m:r>
                      </m:sub>
                    </m:sSub>
                  </m:oMath>
                </a14:m>
                <a:r>
                  <a:rPr lang="zh-CN" altLang="en-US" b="1">
                    <a:solidFill>
                      <a:schemeClr val="accent2">
                        <a:lumMod val="50000"/>
                      </a:schemeClr>
                    </a:solidFill>
                  </a:rPr>
                  <a:t>的所有极大理想。</a:t>
                </a:r>
              </a:p>
            </p:txBody>
          </p:sp>
        </mc:Choice>
        <mc:Fallback xmlns="">
          <p:sp>
            <p:nvSpPr>
              <p:cNvPr id="4" name="文本框 3">
                <a:extLst>
                  <a:ext uri="{FF2B5EF4-FFF2-40B4-BE49-F238E27FC236}">
                    <a16:creationId xmlns:a16="http://schemas.microsoft.com/office/drawing/2014/main" id="{DA35B7D5-BE39-4D2F-BE25-BB6C62E2D57A}"/>
                  </a:ext>
                </a:extLst>
              </p:cNvPr>
              <p:cNvSpPr txBox="1">
                <a:spLocks noRot="1" noChangeAspect="1" noMove="1" noResize="1" noEditPoints="1" noAdjustHandles="1" noChangeArrowheads="1" noChangeShapeType="1" noTextEdit="1"/>
              </p:cNvSpPr>
              <p:nvPr/>
            </p:nvSpPr>
            <p:spPr>
              <a:xfrm>
                <a:off x="1323973" y="3543300"/>
                <a:ext cx="4261818" cy="369332"/>
              </a:xfrm>
              <a:prstGeom prst="rect">
                <a:avLst/>
              </a:prstGeom>
              <a:blipFill>
                <a:blip r:embed="rId3"/>
                <a:stretch>
                  <a:fillRect l="-1144" t="-8197" r="-1001"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45802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极大理想练习</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80DDC3F2-9B87-4142-A173-AF5A9EBCB487}" type="slidenum">
              <a:rPr lang="en-US" altLang="zh-CN" sz="1400" smtClean="0">
                <a:latin typeface="Arial" panose="020B0604020202020204" pitchFamily="34" charset="0"/>
                <a:ea typeface="楷体" panose="02010609060101010101" pitchFamily="49" charset="-122"/>
                <a:cs typeface="Arial" panose="020B0604020202020204" pitchFamily="34" charset="0"/>
              </a:rPr>
              <a:t>10</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B9A92CA-67E3-4180-A100-1F6C9367F8E4}"/>
                  </a:ext>
                </a:extLst>
              </p:cNvPr>
              <p:cNvSpPr txBox="1"/>
              <p:nvPr/>
            </p:nvSpPr>
            <p:spPr>
              <a:xfrm>
                <a:off x="1048001" y="1124289"/>
                <a:ext cx="4284342"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给出模</a:t>
                </a:r>
                <a14:m>
                  <m:oMath xmlns:m="http://schemas.openxmlformats.org/officeDocument/2006/math">
                    <m:r>
                      <a:rPr lang="en-US" altLang="zh-CN" b="1" i="1" smtClean="0">
                        <a:solidFill>
                          <a:schemeClr val="accent2">
                            <a:lumMod val="50000"/>
                          </a:schemeClr>
                        </a:solidFill>
                        <a:latin typeface="Cambria Math" panose="02040503050406030204" pitchFamily="18" charset="0"/>
                      </a:rPr>
                      <m:t>𝟏𝟖</m:t>
                    </m:r>
                  </m:oMath>
                </a14:m>
                <a:r>
                  <a:rPr lang="zh-CN" altLang="en-US" b="1">
                    <a:solidFill>
                      <a:schemeClr val="accent2">
                        <a:lumMod val="50000"/>
                      </a:schemeClr>
                    </a:solidFill>
                  </a:rPr>
                  <a:t>剩余类环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ℤ</m:t>
                        </m:r>
                      </m:e>
                      <m:sub>
                        <m:r>
                          <a:rPr lang="en-US" altLang="zh-CN" b="1" i="1" smtClean="0">
                            <a:solidFill>
                              <a:schemeClr val="accent2">
                                <a:lumMod val="50000"/>
                              </a:schemeClr>
                            </a:solidFill>
                            <a:latin typeface="Cambria Math" panose="02040503050406030204" pitchFamily="18" charset="0"/>
                          </a:rPr>
                          <m:t>𝟏𝟖</m:t>
                        </m:r>
                      </m:sub>
                    </m:sSub>
                  </m:oMath>
                </a14:m>
                <a:r>
                  <a:rPr lang="zh-CN" altLang="en-US" b="1">
                    <a:solidFill>
                      <a:schemeClr val="accent2">
                        <a:lumMod val="50000"/>
                      </a:schemeClr>
                    </a:solidFill>
                  </a:rPr>
                  <a:t>的所有极大理想。</a:t>
                </a:r>
              </a:p>
            </p:txBody>
          </p:sp>
        </mc:Choice>
        <mc:Fallback xmlns="">
          <p:sp>
            <p:nvSpPr>
              <p:cNvPr id="8" name="文本框 7">
                <a:extLst>
                  <a:ext uri="{FF2B5EF4-FFF2-40B4-BE49-F238E27FC236}">
                    <a16:creationId xmlns:a16="http://schemas.microsoft.com/office/drawing/2014/main" id="{AB9A92CA-67E3-4180-A100-1F6C9367F8E4}"/>
                  </a:ext>
                </a:extLst>
              </p:cNvPr>
              <p:cNvSpPr txBox="1">
                <a:spLocks noRot="1" noChangeAspect="1" noMove="1" noResize="1" noEditPoints="1" noAdjustHandles="1" noChangeArrowheads="1" noChangeShapeType="1" noTextEdit="1"/>
              </p:cNvSpPr>
              <p:nvPr/>
            </p:nvSpPr>
            <p:spPr>
              <a:xfrm>
                <a:off x="1048001" y="1124289"/>
                <a:ext cx="4284342" cy="369332"/>
              </a:xfrm>
              <a:prstGeom prst="rect">
                <a:avLst/>
              </a:prstGeom>
              <a:blipFill>
                <a:blip r:embed="rId2"/>
                <a:stretch>
                  <a:fillRect l="-1280" t="-8197" r="-284" b="-24590"/>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3AD3D648-7BAE-4FBA-845B-86B587DB486A}"/>
              </a:ext>
            </a:extLst>
          </p:cNvPr>
          <p:cNvGrpSpPr/>
          <p:nvPr/>
        </p:nvGrpSpPr>
        <p:grpSpPr>
          <a:xfrm>
            <a:off x="1048001" y="1984442"/>
            <a:ext cx="7121964" cy="2082248"/>
            <a:chOff x="1048001" y="1615110"/>
            <a:chExt cx="7121964" cy="2082248"/>
          </a:xfrm>
        </p:grpSpPr>
        <p:sp>
          <p:nvSpPr>
            <p:cNvPr id="4" name="矩形: 圆角 3">
              <a:extLst>
                <a:ext uri="{FF2B5EF4-FFF2-40B4-BE49-F238E27FC236}">
                  <a16:creationId xmlns:a16="http://schemas.microsoft.com/office/drawing/2014/main" id="{0AD9D277-9A1F-44EA-A56E-FDF54554616A}"/>
                </a:ext>
              </a:extLst>
            </p:cNvPr>
            <p:cNvSpPr/>
            <p:nvPr/>
          </p:nvSpPr>
          <p:spPr>
            <a:xfrm>
              <a:off x="1048001" y="1615110"/>
              <a:ext cx="7121964" cy="2082248"/>
            </a:xfrm>
            <a:prstGeom prst="roundRect">
              <a:avLst>
                <a:gd name="adj" fmla="val 3920"/>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10355E8B-B34E-4E22-9EBB-77142EE0F81E}"/>
                </a:ext>
              </a:extLst>
            </p:cNvPr>
            <p:cNvPicPr>
              <a:picLocks noChangeAspect="1"/>
            </p:cNvPicPr>
            <p:nvPr/>
          </p:nvPicPr>
          <p:blipFill>
            <a:blip r:embed="rId3"/>
            <a:stretch>
              <a:fillRect/>
            </a:stretch>
          </p:blipFill>
          <p:spPr>
            <a:xfrm>
              <a:off x="1118152" y="1664745"/>
              <a:ext cx="6992757" cy="1980249"/>
            </a:xfrm>
            <a:prstGeom prst="rect">
              <a:avLst/>
            </a:prstGeom>
          </p:spPr>
        </p:pic>
      </p:grpSp>
    </p:spTree>
    <p:extLst>
      <p:ext uri="{BB962C8B-B14F-4D97-AF65-F5344CB8AC3E}">
        <p14:creationId xmlns:p14="http://schemas.microsoft.com/office/powerpoint/2010/main" val="2040136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整数环的极大理想</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11</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1FAD3C6-8ED0-4530-B720-ACD9026E0B5A}"/>
                  </a:ext>
                </a:extLst>
              </p:cNvPr>
              <p:cNvSpPr txBox="1"/>
              <p:nvPr/>
            </p:nvSpPr>
            <p:spPr>
              <a:xfrm>
                <a:off x="998883" y="998882"/>
                <a:ext cx="6197047"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𝒑</m:t>
                    </m:r>
                  </m:oMath>
                </a14:m>
                <a:r>
                  <a:rPr lang="zh-CN" altLang="en-US" b="1">
                    <a:solidFill>
                      <a:schemeClr val="accent2">
                        <a:lumMod val="50000"/>
                      </a:schemeClr>
                    </a:solidFill>
                  </a:rPr>
                  <a:t>是正整数，</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𝒑</m:t>
                        </m:r>
                      </m:e>
                    </m:d>
                  </m:oMath>
                </a14:m>
                <a:r>
                  <a:rPr lang="zh-CN" altLang="en-US" b="1">
                    <a:solidFill>
                      <a:schemeClr val="accent2">
                        <a:lumMod val="50000"/>
                      </a:schemeClr>
                    </a:solidFill>
                  </a:rPr>
                  <a:t>是整数环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ℤ</m:t>
                    </m:r>
                  </m:oMath>
                </a14:m>
                <a:r>
                  <a:rPr lang="zh-CN" altLang="en-US" b="1">
                    <a:solidFill>
                      <a:schemeClr val="accent2">
                        <a:lumMod val="50000"/>
                      </a:schemeClr>
                    </a:solidFill>
                  </a:rPr>
                  <a:t>的极大理想当且仅当</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𝒑</m:t>
                    </m:r>
                  </m:oMath>
                </a14:m>
                <a:r>
                  <a:rPr lang="zh-CN" altLang="en-US" b="1">
                    <a:solidFill>
                      <a:schemeClr val="accent2">
                        <a:lumMod val="50000"/>
                      </a:schemeClr>
                    </a:solidFill>
                  </a:rPr>
                  <a:t>是素数。</a:t>
                </a:r>
              </a:p>
            </p:txBody>
          </p:sp>
        </mc:Choice>
        <mc:Fallback xmlns="">
          <p:sp>
            <p:nvSpPr>
              <p:cNvPr id="2" name="文本框 1">
                <a:extLst>
                  <a:ext uri="{FF2B5EF4-FFF2-40B4-BE49-F238E27FC236}">
                    <a16:creationId xmlns:a16="http://schemas.microsoft.com/office/drawing/2014/main" id="{91FAD3C6-8ED0-4530-B720-ACD9026E0B5A}"/>
                  </a:ext>
                </a:extLst>
              </p:cNvPr>
              <p:cNvSpPr txBox="1">
                <a:spLocks noRot="1" noChangeAspect="1" noMove="1" noResize="1" noEditPoints="1" noAdjustHandles="1" noChangeArrowheads="1" noChangeShapeType="1" noTextEdit="1"/>
              </p:cNvSpPr>
              <p:nvPr/>
            </p:nvSpPr>
            <p:spPr>
              <a:xfrm>
                <a:off x="998883" y="998882"/>
                <a:ext cx="6197047" cy="369332"/>
              </a:xfrm>
              <a:prstGeom prst="rect">
                <a:avLst/>
              </a:prstGeom>
              <a:blipFill>
                <a:blip r:embed="rId2"/>
                <a:stretch>
                  <a:fillRect l="-886" t="-10000" r="-591" b="-26667"/>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3F3A0687-8777-4B15-B2B8-33D4ACB54D6E}"/>
              </a:ext>
            </a:extLst>
          </p:cNvPr>
          <p:cNvGrpSpPr/>
          <p:nvPr/>
        </p:nvGrpSpPr>
        <p:grpSpPr>
          <a:xfrm>
            <a:off x="993910" y="1920008"/>
            <a:ext cx="7156174" cy="1846008"/>
            <a:chOff x="998883" y="1697292"/>
            <a:chExt cx="7156174" cy="1846008"/>
          </a:xfrm>
        </p:grpSpPr>
        <p:sp>
          <p:nvSpPr>
            <p:cNvPr id="5" name="矩形: 圆角 4">
              <a:extLst>
                <a:ext uri="{FF2B5EF4-FFF2-40B4-BE49-F238E27FC236}">
                  <a16:creationId xmlns:a16="http://schemas.microsoft.com/office/drawing/2014/main" id="{883E9E87-0365-4E78-BD32-569E287FC261}"/>
                </a:ext>
              </a:extLst>
            </p:cNvPr>
            <p:cNvSpPr/>
            <p:nvPr/>
          </p:nvSpPr>
          <p:spPr>
            <a:xfrm>
              <a:off x="998883" y="1697292"/>
              <a:ext cx="7156174" cy="1846008"/>
            </a:xfrm>
            <a:prstGeom prst="roundRect">
              <a:avLst>
                <a:gd name="adj" fmla="val 5898"/>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EB1EDB50-76EE-4FAE-BD64-911487124A46}"/>
                </a:ext>
              </a:extLst>
            </p:cNvPr>
            <p:cNvPicPr>
              <a:picLocks noChangeAspect="1"/>
            </p:cNvPicPr>
            <p:nvPr/>
          </p:nvPicPr>
          <p:blipFill>
            <a:blip r:embed="rId3"/>
            <a:stretch>
              <a:fillRect/>
            </a:stretch>
          </p:blipFill>
          <p:spPr>
            <a:xfrm>
              <a:off x="1039395" y="1751627"/>
              <a:ext cx="7065210" cy="1739646"/>
            </a:xfrm>
            <a:prstGeom prst="rect">
              <a:avLst/>
            </a:prstGeom>
          </p:spPr>
        </p:pic>
      </p:grpSp>
    </p:spTree>
    <p:extLst>
      <p:ext uri="{BB962C8B-B14F-4D97-AF65-F5344CB8AC3E}">
        <p14:creationId xmlns:p14="http://schemas.microsoft.com/office/powerpoint/2010/main" val="345873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极大理想不一定是素理想</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12</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4231D57-57D8-4A04-9608-D84AFF1E8FF4}"/>
                  </a:ext>
                </a:extLst>
              </p:cNvPr>
              <p:cNvSpPr txBox="1"/>
              <p:nvPr/>
            </p:nvSpPr>
            <p:spPr>
              <a:xfrm>
                <a:off x="1068454" y="1175275"/>
                <a:ext cx="6301412"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ℤ</m:t>
                    </m:r>
                  </m:oMath>
                </a14:m>
                <a:r>
                  <a:rPr lang="zh-CN" altLang="en-US" b="1">
                    <a:solidFill>
                      <a:schemeClr val="accent2">
                        <a:lumMod val="50000"/>
                      </a:schemeClr>
                    </a:solidFill>
                  </a:rPr>
                  <a:t>，</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𝑰</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𝟒</m:t>
                    </m:r>
                    <m:r>
                      <a:rPr lang="en-US" altLang="zh-CN" b="1" i="1" smtClean="0">
                        <a:solidFill>
                          <a:schemeClr val="accent2">
                            <a:lumMod val="50000"/>
                          </a:schemeClr>
                        </a:solidFill>
                        <a:latin typeface="Cambria Math" panose="02040503050406030204" pitchFamily="18" charset="0"/>
                      </a:rPr>
                      <m:t>ℤ</m:t>
                    </m:r>
                  </m:oMath>
                </a14:m>
                <a:r>
                  <a:rPr lang="zh-CN" altLang="en-US" b="1">
                    <a:solidFill>
                      <a:schemeClr val="accent2">
                        <a:lumMod val="50000"/>
                      </a:schemeClr>
                    </a:solidFill>
                  </a:rPr>
                  <a:t>，证明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𝑰</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的极大理想，但不是素理想。</a:t>
                </a:r>
              </a:p>
            </p:txBody>
          </p:sp>
        </mc:Choice>
        <mc:Fallback xmlns="">
          <p:sp>
            <p:nvSpPr>
              <p:cNvPr id="2" name="文本框 1">
                <a:extLst>
                  <a:ext uri="{FF2B5EF4-FFF2-40B4-BE49-F238E27FC236}">
                    <a16:creationId xmlns:a16="http://schemas.microsoft.com/office/drawing/2014/main" id="{54231D57-57D8-4A04-9608-D84AFF1E8FF4}"/>
                  </a:ext>
                </a:extLst>
              </p:cNvPr>
              <p:cNvSpPr txBox="1">
                <a:spLocks noRot="1" noChangeAspect="1" noMove="1" noResize="1" noEditPoints="1" noAdjustHandles="1" noChangeArrowheads="1" noChangeShapeType="1" noTextEdit="1"/>
              </p:cNvSpPr>
              <p:nvPr/>
            </p:nvSpPr>
            <p:spPr>
              <a:xfrm>
                <a:off x="1068454" y="1175275"/>
                <a:ext cx="6301412" cy="369332"/>
              </a:xfrm>
              <a:prstGeom prst="rect">
                <a:avLst/>
              </a:prstGeom>
              <a:blipFill>
                <a:blip r:embed="rId2"/>
                <a:stretch>
                  <a:fillRect l="-774" t="-10000" r="-870"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8444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极大理想不一定是素理想</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13</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4231D57-57D8-4A04-9608-D84AFF1E8FF4}"/>
                  </a:ext>
                </a:extLst>
              </p:cNvPr>
              <p:cNvSpPr txBox="1"/>
              <p:nvPr/>
            </p:nvSpPr>
            <p:spPr>
              <a:xfrm>
                <a:off x="1068454" y="1175275"/>
                <a:ext cx="6301412"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 = </m:t>
                    </m:r>
                    <m:r>
                      <a:rPr lang="en-US" altLang="zh-CN" b="1" i="1" smtClean="0">
                        <a:solidFill>
                          <a:schemeClr val="accent2">
                            <a:lumMod val="50000"/>
                          </a:schemeClr>
                        </a:solidFill>
                        <a:latin typeface="Cambria Math" panose="02040503050406030204" pitchFamily="18" charset="0"/>
                      </a:rPr>
                      <m:t>𝟐</m:t>
                    </m:r>
                    <m:r>
                      <a:rPr lang="en-US" altLang="zh-CN" b="1" i="1" smtClean="0">
                        <a:solidFill>
                          <a:schemeClr val="accent2">
                            <a:lumMod val="50000"/>
                          </a:schemeClr>
                        </a:solidFill>
                        <a:latin typeface="Cambria Math" panose="02040503050406030204" pitchFamily="18" charset="0"/>
                      </a:rPr>
                      <m:t>ℤ</m:t>
                    </m:r>
                  </m:oMath>
                </a14:m>
                <a:r>
                  <a:rPr lang="zh-CN" altLang="en-US" b="1">
                    <a:solidFill>
                      <a:schemeClr val="accent2">
                        <a:lumMod val="50000"/>
                      </a:schemeClr>
                    </a:solidFill>
                  </a:rPr>
                  <a:t>，</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𝑰</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𝟒</m:t>
                    </m:r>
                    <m:r>
                      <a:rPr lang="en-US" altLang="zh-CN" b="1" i="1" smtClean="0">
                        <a:solidFill>
                          <a:schemeClr val="accent2">
                            <a:lumMod val="50000"/>
                          </a:schemeClr>
                        </a:solidFill>
                        <a:latin typeface="Cambria Math" panose="02040503050406030204" pitchFamily="18" charset="0"/>
                      </a:rPr>
                      <m:t>ℤ</m:t>
                    </m:r>
                  </m:oMath>
                </a14:m>
                <a:r>
                  <a:rPr lang="zh-CN" altLang="en-US" b="1">
                    <a:solidFill>
                      <a:schemeClr val="accent2">
                        <a:lumMod val="50000"/>
                      </a:schemeClr>
                    </a:solidFill>
                  </a:rPr>
                  <a:t>，证明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𝑰</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的极大理想，但不是素理想。</a:t>
                </a:r>
              </a:p>
            </p:txBody>
          </p:sp>
        </mc:Choice>
        <mc:Fallback xmlns="">
          <p:sp>
            <p:nvSpPr>
              <p:cNvPr id="2" name="文本框 1">
                <a:extLst>
                  <a:ext uri="{FF2B5EF4-FFF2-40B4-BE49-F238E27FC236}">
                    <a16:creationId xmlns:a16="http://schemas.microsoft.com/office/drawing/2014/main" id="{54231D57-57D8-4A04-9608-D84AFF1E8FF4}"/>
                  </a:ext>
                </a:extLst>
              </p:cNvPr>
              <p:cNvSpPr txBox="1">
                <a:spLocks noRot="1" noChangeAspect="1" noMove="1" noResize="1" noEditPoints="1" noAdjustHandles="1" noChangeArrowheads="1" noChangeShapeType="1" noTextEdit="1"/>
              </p:cNvSpPr>
              <p:nvPr/>
            </p:nvSpPr>
            <p:spPr>
              <a:xfrm>
                <a:off x="1068454" y="1175275"/>
                <a:ext cx="6301412" cy="369332"/>
              </a:xfrm>
              <a:prstGeom prst="rect">
                <a:avLst/>
              </a:prstGeom>
              <a:blipFill>
                <a:blip r:embed="rId2"/>
                <a:stretch>
                  <a:fillRect l="-774" t="-10000" r="-870" b="-26667"/>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F8971405-19D2-48F0-A907-C5E594FCE1C0}"/>
              </a:ext>
            </a:extLst>
          </p:cNvPr>
          <p:cNvGrpSpPr/>
          <p:nvPr/>
        </p:nvGrpSpPr>
        <p:grpSpPr>
          <a:xfrm>
            <a:off x="1068454" y="2272855"/>
            <a:ext cx="7007092" cy="1073426"/>
            <a:chOff x="1068454" y="2027583"/>
            <a:chExt cx="7007092" cy="1073426"/>
          </a:xfrm>
        </p:grpSpPr>
        <p:sp>
          <p:nvSpPr>
            <p:cNvPr id="5" name="矩形: 圆角 4">
              <a:extLst>
                <a:ext uri="{FF2B5EF4-FFF2-40B4-BE49-F238E27FC236}">
                  <a16:creationId xmlns:a16="http://schemas.microsoft.com/office/drawing/2014/main" id="{3EAEEA73-2BA5-491E-B36B-FBC57C450365}"/>
                </a:ext>
              </a:extLst>
            </p:cNvPr>
            <p:cNvSpPr/>
            <p:nvPr/>
          </p:nvSpPr>
          <p:spPr>
            <a:xfrm>
              <a:off x="1068454" y="2027583"/>
              <a:ext cx="7007092" cy="1073426"/>
            </a:xfrm>
            <a:prstGeom prst="roundRect">
              <a:avLst>
                <a:gd name="adj" fmla="val 11574"/>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17877306-E15B-460F-8940-A40A1A76801E}"/>
                </a:ext>
              </a:extLst>
            </p:cNvPr>
            <p:cNvPicPr>
              <a:picLocks noChangeAspect="1"/>
            </p:cNvPicPr>
            <p:nvPr/>
          </p:nvPicPr>
          <p:blipFill>
            <a:blip r:embed="rId3"/>
            <a:stretch>
              <a:fillRect/>
            </a:stretch>
          </p:blipFill>
          <p:spPr>
            <a:xfrm>
              <a:off x="1118151" y="2079242"/>
              <a:ext cx="6907697" cy="975075"/>
            </a:xfrm>
            <a:prstGeom prst="rect">
              <a:avLst/>
            </a:prstGeom>
          </p:spPr>
        </p:pic>
      </p:grpSp>
    </p:spTree>
    <p:extLst>
      <p:ext uri="{BB962C8B-B14F-4D97-AF65-F5344CB8AC3E}">
        <p14:creationId xmlns:p14="http://schemas.microsoft.com/office/powerpoint/2010/main" val="3210345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多项式环的极大理想证明练习</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14</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4231D57-57D8-4A04-9608-D84AFF1E8FF4}"/>
                  </a:ext>
                </a:extLst>
              </p:cNvPr>
              <p:cNvSpPr txBox="1"/>
              <p:nvPr/>
            </p:nvSpPr>
            <p:spPr>
              <a:xfrm>
                <a:off x="1068454" y="1175275"/>
                <a:ext cx="3607907" cy="402354"/>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证明</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𝒙</m:t>
                            </m:r>
                          </m:e>
                          <m:sup>
                            <m:r>
                              <a:rPr lang="en-US" altLang="zh-CN" b="1" i="1" smtClean="0">
                                <a:solidFill>
                                  <a:schemeClr val="accent2">
                                    <a:lumMod val="50000"/>
                                  </a:schemeClr>
                                </a:solidFill>
                                <a:latin typeface="Cambria Math" panose="02040503050406030204" pitchFamily="18" charset="0"/>
                              </a:rPr>
                              <m:t>𝟐</m:t>
                            </m:r>
                          </m:sup>
                        </m:s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d>
                  </m:oMath>
                </a14:m>
                <a:r>
                  <a:rPr lang="zh-CN" altLang="en-US" b="1">
                    <a:solidFill>
                      <a:schemeClr val="accent2">
                        <a:lumMod val="50000"/>
                      </a:schemeClr>
                    </a:solidFill>
                  </a:rPr>
                  <a:t>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ℤ</m:t>
                        </m:r>
                      </m:e>
                      <m:sub>
                        <m:r>
                          <a:rPr lang="en-US" altLang="zh-CN" b="1" i="1" smtClean="0">
                            <a:solidFill>
                              <a:schemeClr val="accent2">
                                <a:lumMod val="50000"/>
                              </a:schemeClr>
                            </a:solidFill>
                            <a:latin typeface="Cambria Math" panose="02040503050406030204" pitchFamily="18" charset="0"/>
                          </a:rPr>
                          <m:t>𝟑</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的极大理想。</a:t>
                </a:r>
              </a:p>
            </p:txBody>
          </p:sp>
        </mc:Choice>
        <mc:Fallback xmlns="">
          <p:sp>
            <p:nvSpPr>
              <p:cNvPr id="2" name="文本框 1">
                <a:extLst>
                  <a:ext uri="{FF2B5EF4-FFF2-40B4-BE49-F238E27FC236}">
                    <a16:creationId xmlns:a16="http://schemas.microsoft.com/office/drawing/2014/main" id="{54231D57-57D8-4A04-9608-D84AFF1E8FF4}"/>
                  </a:ext>
                </a:extLst>
              </p:cNvPr>
              <p:cNvSpPr txBox="1">
                <a:spLocks noRot="1" noChangeAspect="1" noMove="1" noResize="1" noEditPoints="1" noAdjustHandles="1" noChangeArrowheads="1" noChangeShapeType="1" noTextEdit="1"/>
              </p:cNvSpPr>
              <p:nvPr/>
            </p:nvSpPr>
            <p:spPr>
              <a:xfrm>
                <a:off x="1068454" y="1175275"/>
                <a:ext cx="3607907" cy="402354"/>
              </a:xfrm>
              <a:prstGeom prst="rect">
                <a:avLst/>
              </a:prstGeom>
              <a:blipFill>
                <a:blip r:embed="rId2"/>
                <a:stretch>
                  <a:fillRect l="-1351" t="-3030" r="-1520" b="-212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3258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多项式环的极大理想证明练习解答（一）</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15</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4231D57-57D8-4A04-9608-D84AFF1E8FF4}"/>
                  </a:ext>
                </a:extLst>
              </p:cNvPr>
              <p:cNvSpPr txBox="1"/>
              <p:nvPr/>
            </p:nvSpPr>
            <p:spPr>
              <a:xfrm>
                <a:off x="1068454" y="1175275"/>
                <a:ext cx="3607907" cy="402354"/>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证明</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𝒙</m:t>
                            </m:r>
                          </m:e>
                          <m:sup>
                            <m:r>
                              <a:rPr lang="en-US" altLang="zh-CN" b="1" i="1" smtClean="0">
                                <a:solidFill>
                                  <a:schemeClr val="accent2">
                                    <a:lumMod val="50000"/>
                                  </a:schemeClr>
                                </a:solidFill>
                                <a:latin typeface="Cambria Math" panose="02040503050406030204" pitchFamily="18" charset="0"/>
                              </a:rPr>
                              <m:t>𝟐</m:t>
                            </m:r>
                          </m:sup>
                        </m:s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d>
                  </m:oMath>
                </a14:m>
                <a:r>
                  <a:rPr lang="zh-CN" altLang="en-US" b="1">
                    <a:solidFill>
                      <a:schemeClr val="accent2">
                        <a:lumMod val="50000"/>
                      </a:schemeClr>
                    </a:solidFill>
                  </a:rPr>
                  <a:t>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ℤ</m:t>
                        </m:r>
                      </m:e>
                      <m:sub>
                        <m:r>
                          <a:rPr lang="en-US" altLang="zh-CN" b="1" i="1" smtClean="0">
                            <a:solidFill>
                              <a:schemeClr val="accent2">
                                <a:lumMod val="50000"/>
                              </a:schemeClr>
                            </a:solidFill>
                            <a:latin typeface="Cambria Math" panose="02040503050406030204" pitchFamily="18" charset="0"/>
                          </a:rPr>
                          <m:t>𝟑</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的极大理想。</a:t>
                </a:r>
              </a:p>
            </p:txBody>
          </p:sp>
        </mc:Choice>
        <mc:Fallback xmlns="">
          <p:sp>
            <p:nvSpPr>
              <p:cNvPr id="2" name="文本框 1">
                <a:extLst>
                  <a:ext uri="{FF2B5EF4-FFF2-40B4-BE49-F238E27FC236}">
                    <a16:creationId xmlns:a16="http://schemas.microsoft.com/office/drawing/2014/main" id="{54231D57-57D8-4A04-9608-D84AFF1E8FF4}"/>
                  </a:ext>
                </a:extLst>
              </p:cNvPr>
              <p:cNvSpPr txBox="1">
                <a:spLocks noRot="1" noChangeAspect="1" noMove="1" noResize="1" noEditPoints="1" noAdjustHandles="1" noChangeArrowheads="1" noChangeShapeType="1" noTextEdit="1"/>
              </p:cNvSpPr>
              <p:nvPr/>
            </p:nvSpPr>
            <p:spPr>
              <a:xfrm>
                <a:off x="1068454" y="1175275"/>
                <a:ext cx="3607907" cy="402354"/>
              </a:xfrm>
              <a:prstGeom prst="rect">
                <a:avLst/>
              </a:prstGeom>
              <a:blipFill>
                <a:blip r:embed="rId2"/>
                <a:stretch>
                  <a:fillRect l="-1351" t="-3030" r="-1520" b="-21212"/>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AD8420A0-5212-456E-B1FB-2E325A5FF8CD}"/>
              </a:ext>
            </a:extLst>
          </p:cNvPr>
          <p:cNvGrpSpPr/>
          <p:nvPr/>
        </p:nvGrpSpPr>
        <p:grpSpPr>
          <a:xfrm>
            <a:off x="1068451" y="2025097"/>
            <a:ext cx="7007092" cy="1933188"/>
            <a:chOff x="1068451" y="2025097"/>
            <a:chExt cx="7007092" cy="1933188"/>
          </a:xfrm>
        </p:grpSpPr>
        <p:sp>
          <p:nvSpPr>
            <p:cNvPr id="5" name="矩形: 圆角 4">
              <a:extLst>
                <a:ext uri="{FF2B5EF4-FFF2-40B4-BE49-F238E27FC236}">
                  <a16:creationId xmlns:a16="http://schemas.microsoft.com/office/drawing/2014/main" id="{3EAEEA73-2BA5-491E-B36B-FBC57C450365}"/>
                </a:ext>
              </a:extLst>
            </p:cNvPr>
            <p:cNvSpPr/>
            <p:nvPr/>
          </p:nvSpPr>
          <p:spPr>
            <a:xfrm>
              <a:off x="1068451" y="2025097"/>
              <a:ext cx="7007092" cy="1933188"/>
            </a:xfrm>
            <a:prstGeom prst="roundRect">
              <a:avLst>
                <a:gd name="adj" fmla="val 5661"/>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3247DDD6-BED8-469F-97F3-6E2413B75568}"/>
                </a:ext>
              </a:extLst>
            </p:cNvPr>
            <p:cNvPicPr>
              <a:picLocks noChangeAspect="1"/>
            </p:cNvPicPr>
            <p:nvPr/>
          </p:nvPicPr>
          <p:blipFill>
            <a:blip r:embed="rId3"/>
            <a:stretch>
              <a:fillRect/>
            </a:stretch>
          </p:blipFill>
          <p:spPr>
            <a:xfrm>
              <a:off x="1128087" y="2064855"/>
              <a:ext cx="6887819" cy="1850864"/>
            </a:xfrm>
            <a:prstGeom prst="rect">
              <a:avLst/>
            </a:prstGeom>
          </p:spPr>
        </p:pic>
      </p:grpSp>
    </p:spTree>
    <p:extLst>
      <p:ext uri="{BB962C8B-B14F-4D97-AF65-F5344CB8AC3E}">
        <p14:creationId xmlns:p14="http://schemas.microsoft.com/office/powerpoint/2010/main" val="1101745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多项式环的极大理想证明练习解答（二）</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16</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4231D57-57D8-4A04-9608-D84AFF1E8FF4}"/>
                  </a:ext>
                </a:extLst>
              </p:cNvPr>
              <p:cNvSpPr txBox="1"/>
              <p:nvPr/>
            </p:nvSpPr>
            <p:spPr>
              <a:xfrm>
                <a:off x="1068454" y="1175275"/>
                <a:ext cx="3607907" cy="402354"/>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证明</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𝒙</m:t>
                            </m:r>
                          </m:e>
                          <m:sup>
                            <m:r>
                              <a:rPr lang="en-US" altLang="zh-CN" b="1" i="1" smtClean="0">
                                <a:solidFill>
                                  <a:schemeClr val="accent2">
                                    <a:lumMod val="50000"/>
                                  </a:schemeClr>
                                </a:solidFill>
                                <a:latin typeface="Cambria Math" panose="02040503050406030204" pitchFamily="18" charset="0"/>
                              </a:rPr>
                              <m:t>𝟐</m:t>
                            </m:r>
                          </m:sup>
                        </m:s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e>
                    </m:d>
                  </m:oMath>
                </a14:m>
                <a:r>
                  <a:rPr lang="zh-CN" altLang="en-US" b="1">
                    <a:solidFill>
                      <a:schemeClr val="accent2">
                        <a:lumMod val="50000"/>
                      </a:schemeClr>
                    </a:solidFill>
                  </a:rPr>
                  <a:t>是</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ℤ</m:t>
                        </m:r>
                      </m:e>
                      <m:sub>
                        <m:r>
                          <a:rPr lang="en-US" altLang="zh-CN" b="1" i="1" smtClean="0">
                            <a:solidFill>
                              <a:schemeClr val="accent2">
                                <a:lumMod val="50000"/>
                              </a:schemeClr>
                            </a:solidFill>
                            <a:latin typeface="Cambria Math" panose="02040503050406030204" pitchFamily="18" charset="0"/>
                          </a:rPr>
                          <m:t>𝟑</m:t>
                        </m:r>
                      </m:sub>
                    </m:sSub>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的极大理想。</a:t>
                </a:r>
              </a:p>
            </p:txBody>
          </p:sp>
        </mc:Choice>
        <mc:Fallback xmlns="">
          <p:sp>
            <p:nvSpPr>
              <p:cNvPr id="2" name="文本框 1">
                <a:extLst>
                  <a:ext uri="{FF2B5EF4-FFF2-40B4-BE49-F238E27FC236}">
                    <a16:creationId xmlns:a16="http://schemas.microsoft.com/office/drawing/2014/main" id="{54231D57-57D8-4A04-9608-D84AFF1E8FF4}"/>
                  </a:ext>
                </a:extLst>
              </p:cNvPr>
              <p:cNvSpPr txBox="1">
                <a:spLocks noRot="1" noChangeAspect="1" noMove="1" noResize="1" noEditPoints="1" noAdjustHandles="1" noChangeArrowheads="1" noChangeShapeType="1" noTextEdit="1"/>
              </p:cNvSpPr>
              <p:nvPr/>
            </p:nvSpPr>
            <p:spPr>
              <a:xfrm>
                <a:off x="1068454" y="1175275"/>
                <a:ext cx="3607907" cy="402354"/>
              </a:xfrm>
              <a:prstGeom prst="rect">
                <a:avLst/>
              </a:prstGeom>
              <a:blipFill>
                <a:blip r:embed="rId2"/>
                <a:stretch>
                  <a:fillRect l="-1351" t="-3030" r="-1520" b="-21212"/>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900CB71A-1CE3-4CFF-A446-8D8CB76DC38B}"/>
              </a:ext>
            </a:extLst>
          </p:cNvPr>
          <p:cNvGrpSpPr/>
          <p:nvPr/>
        </p:nvGrpSpPr>
        <p:grpSpPr>
          <a:xfrm>
            <a:off x="1068454" y="1817708"/>
            <a:ext cx="7007092" cy="2531994"/>
            <a:chOff x="1068451" y="2025097"/>
            <a:chExt cx="7007092" cy="2531994"/>
          </a:xfrm>
        </p:grpSpPr>
        <p:sp>
          <p:nvSpPr>
            <p:cNvPr id="5" name="矩形: 圆角 4">
              <a:extLst>
                <a:ext uri="{FF2B5EF4-FFF2-40B4-BE49-F238E27FC236}">
                  <a16:creationId xmlns:a16="http://schemas.microsoft.com/office/drawing/2014/main" id="{3EAEEA73-2BA5-491E-B36B-FBC57C450365}"/>
                </a:ext>
              </a:extLst>
            </p:cNvPr>
            <p:cNvSpPr/>
            <p:nvPr/>
          </p:nvSpPr>
          <p:spPr>
            <a:xfrm>
              <a:off x="1068451" y="2025097"/>
              <a:ext cx="7007092" cy="2531994"/>
            </a:xfrm>
            <a:prstGeom prst="roundRect">
              <a:avLst>
                <a:gd name="adj" fmla="val 5661"/>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24752668-3B69-456A-86BC-EE77C30CA37D}"/>
                </a:ext>
              </a:extLst>
            </p:cNvPr>
            <p:cNvPicPr>
              <a:picLocks noChangeAspect="1"/>
            </p:cNvPicPr>
            <p:nvPr/>
          </p:nvPicPr>
          <p:blipFill>
            <a:blip r:embed="rId3"/>
            <a:stretch>
              <a:fillRect/>
            </a:stretch>
          </p:blipFill>
          <p:spPr>
            <a:xfrm>
              <a:off x="1120633" y="2087712"/>
              <a:ext cx="6902727" cy="2408565"/>
            </a:xfrm>
            <a:prstGeom prst="rect">
              <a:avLst/>
            </a:prstGeom>
          </p:spPr>
        </p:pic>
      </p:grpSp>
    </p:spTree>
    <p:extLst>
      <p:ext uri="{BB962C8B-B14F-4D97-AF65-F5344CB8AC3E}">
        <p14:creationId xmlns:p14="http://schemas.microsoft.com/office/powerpoint/2010/main" val="986032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极大理想和域（一）</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17</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AF15379-B0BE-4CCE-93AB-0CBE9FADF503}"/>
                  </a:ext>
                </a:extLst>
              </p:cNvPr>
              <p:cNvSpPr txBox="1"/>
              <p:nvPr/>
            </p:nvSpPr>
            <p:spPr>
              <a:xfrm>
                <a:off x="874643" y="874644"/>
                <a:ext cx="7394713" cy="736612"/>
              </a:xfrm>
              <a:prstGeom prst="rect">
                <a:avLst/>
              </a:prstGeom>
              <a:solidFill>
                <a:schemeClr val="accent5">
                  <a:lumMod val="20000"/>
                  <a:lumOff val="80000"/>
                </a:schemeClr>
              </a:solidFill>
            </p:spPr>
            <p:txBody>
              <a:bodyPr wrap="square" rtlCol="0">
                <a:spAutoFit/>
              </a:bodyPr>
              <a:lstStyle/>
              <a:p>
                <a:pPr>
                  <a:lnSpc>
                    <a:spcPts val="2600"/>
                  </a:lnSpc>
                </a:pPr>
                <a:r>
                  <a:rPr lang="en-US" altLang="zh-CN" b="1">
                    <a:solidFill>
                      <a:srgbClr val="002060"/>
                    </a:solidFill>
                  </a:rPr>
                  <a:t>【</a:t>
                </a:r>
                <a:r>
                  <a:rPr lang="zh-CN" altLang="en-US" b="1">
                    <a:solidFill>
                      <a:srgbClr val="002060"/>
                    </a:solidFill>
                  </a:rPr>
                  <a:t>定理</a:t>
                </a:r>
                <a:r>
                  <a:rPr lang="en-US" altLang="zh-CN" b="1">
                    <a:solidFill>
                      <a:srgbClr val="002060"/>
                    </a:solidFill>
                  </a:rPr>
                  <a:t>】</a:t>
                </a:r>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是有单位元</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𝒆</m:t>
                    </m:r>
                  </m:oMath>
                </a14:m>
                <a:r>
                  <a:rPr lang="zh-CN" altLang="en-US" b="1">
                    <a:solidFill>
                      <a:schemeClr val="accent2">
                        <a:lumMod val="50000"/>
                      </a:schemeClr>
                    </a:solidFill>
                  </a:rPr>
                  <a:t>的交换环，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𝑰</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的理想，则：</a:t>
                </a:r>
                <a14:m>
                  <m:oMath xmlns:m="http://schemas.openxmlformats.org/officeDocument/2006/math">
                    <m:r>
                      <a:rPr lang="en-US" altLang="zh-CN" b="1" i="1" smtClean="0">
                        <a:solidFill>
                          <a:srgbClr val="C00000"/>
                        </a:solidFill>
                        <a:latin typeface="Cambria Math" panose="02040503050406030204" pitchFamily="18" charset="0"/>
                      </a:rPr>
                      <m:t>𝑰</m:t>
                    </m:r>
                  </m:oMath>
                </a14:m>
                <a:r>
                  <a:rPr lang="zh-CN" altLang="en-US" b="1">
                    <a:solidFill>
                      <a:srgbClr val="C00000"/>
                    </a:solidFill>
                  </a:rPr>
                  <a:t>是</a:t>
                </a:r>
                <a14:m>
                  <m:oMath xmlns:m="http://schemas.openxmlformats.org/officeDocument/2006/math">
                    <m:r>
                      <a:rPr lang="en-US" altLang="zh-CN" b="1" i="1" smtClean="0">
                        <a:solidFill>
                          <a:srgbClr val="C00000"/>
                        </a:solidFill>
                        <a:latin typeface="Cambria Math" panose="02040503050406030204" pitchFamily="18" charset="0"/>
                      </a:rPr>
                      <m:t>𝑹</m:t>
                    </m:r>
                  </m:oMath>
                </a14:m>
                <a:r>
                  <a:rPr lang="zh-CN" altLang="en-US" b="1">
                    <a:solidFill>
                      <a:srgbClr val="C00000"/>
                    </a:solidFill>
                  </a:rPr>
                  <a:t>的极大理想</a:t>
                </a:r>
                <a:r>
                  <a:rPr lang="zh-CN" altLang="en-US" b="1">
                    <a:solidFill>
                      <a:schemeClr val="accent2">
                        <a:lumMod val="50000"/>
                      </a:schemeClr>
                    </a:solidFill>
                  </a:rPr>
                  <a:t>当且仅当</a:t>
                </a:r>
                <a14:m>
                  <m:oMath xmlns:m="http://schemas.openxmlformats.org/officeDocument/2006/math">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𝑰</m:t>
                    </m:r>
                  </m:oMath>
                </a14:m>
                <a:r>
                  <a:rPr lang="zh-CN" altLang="en-US" b="1">
                    <a:solidFill>
                      <a:srgbClr val="C00000"/>
                    </a:solidFill>
                  </a:rPr>
                  <a:t>是域</a:t>
                </a:r>
                <a:r>
                  <a:rPr lang="zh-CN" altLang="en-US" b="1">
                    <a:solidFill>
                      <a:schemeClr val="accent2">
                        <a:lumMod val="50000"/>
                      </a:schemeClr>
                    </a:solidFill>
                  </a:rPr>
                  <a:t>。</a:t>
                </a:r>
              </a:p>
            </p:txBody>
          </p:sp>
        </mc:Choice>
        <mc:Fallback xmlns="">
          <p:sp>
            <p:nvSpPr>
              <p:cNvPr id="2" name="文本框 1">
                <a:extLst>
                  <a:ext uri="{FF2B5EF4-FFF2-40B4-BE49-F238E27FC236}">
                    <a16:creationId xmlns:a16="http://schemas.microsoft.com/office/drawing/2014/main" id="{6AF15379-B0BE-4CCE-93AB-0CBE9FADF503}"/>
                  </a:ext>
                </a:extLst>
              </p:cNvPr>
              <p:cNvSpPr txBox="1">
                <a:spLocks noRot="1" noChangeAspect="1" noMove="1" noResize="1" noEditPoints="1" noAdjustHandles="1" noChangeArrowheads="1" noChangeShapeType="1" noTextEdit="1"/>
              </p:cNvSpPr>
              <p:nvPr/>
            </p:nvSpPr>
            <p:spPr>
              <a:xfrm>
                <a:off x="874643" y="874644"/>
                <a:ext cx="7394713" cy="736612"/>
              </a:xfrm>
              <a:prstGeom prst="rect">
                <a:avLst/>
              </a:prstGeom>
              <a:blipFill>
                <a:blip r:embed="rId2"/>
                <a:stretch>
                  <a:fillRect l="-659" r="-659" b="-12397"/>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9D3FFC7E-1886-42A9-9B4D-266B35927550}"/>
              </a:ext>
            </a:extLst>
          </p:cNvPr>
          <p:cNvGrpSpPr/>
          <p:nvPr/>
        </p:nvGrpSpPr>
        <p:grpSpPr>
          <a:xfrm>
            <a:off x="874643" y="1928191"/>
            <a:ext cx="7394713" cy="2529509"/>
            <a:chOff x="874643" y="1928191"/>
            <a:chExt cx="7394713" cy="2529509"/>
          </a:xfrm>
        </p:grpSpPr>
        <p:sp>
          <p:nvSpPr>
            <p:cNvPr id="5" name="矩形: 圆角 4">
              <a:extLst>
                <a:ext uri="{FF2B5EF4-FFF2-40B4-BE49-F238E27FC236}">
                  <a16:creationId xmlns:a16="http://schemas.microsoft.com/office/drawing/2014/main" id="{9ED6C60D-625A-42E7-A4E2-CCF3E83CC85F}"/>
                </a:ext>
              </a:extLst>
            </p:cNvPr>
            <p:cNvSpPr/>
            <p:nvPr/>
          </p:nvSpPr>
          <p:spPr>
            <a:xfrm>
              <a:off x="874643" y="1928191"/>
              <a:ext cx="7394713" cy="2529509"/>
            </a:xfrm>
            <a:prstGeom prst="roundRect">
              <a:avLst>
                <a:gd name="adj" fmla="val 58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2AD91177-4607-4DC9-A6B4-B7F8DC98B437}"/>
                </a:ext>
              </a:extLst>
            </p:cNvPr>
            <p:cNvPicPr>
              <a:picLocks noChangeAspect="1"/>
            </p:cNvPicPr>
            <p:nvPr/>
          </p:nvPicPr>
          <p:blipFill>
            <a:blip r:embed="rId3"/>
            <a:stretch>
              <a:fillRect/>
            </a:stretch>
          </p:blipFill>
          <p:spPr>
            <a:xfrm>
              <a:off x="931790" y="1982503"/>
              <a:ext cx="7280414" cy="2419107"/>
            </a:xfrm>
            <a:prstGeom prst="rect">
              <a:avLst/>
            </a:prstGeom>
          </p:spPr>
        </p:pic>
      </p:grpSp>
    </p:spTree>
    <p:extLst>
      <p:ext uri="{BB962C8B-B14F-4D97-AF65-F5344CB8AC3E}">
        <p14:creationId xmlns:p14="http://schemas.microsoft.com/office/powerpoint/2010/main" val="1870533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极大理想和域（二）</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18</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AF15379-B0BE-4CCE-93AB-0CBE9FADF503}"/>
                  </a:ext>
                </a:extLst>
              </p:cNvPr>
              <p:cNvSpPr txBox="1"/>
              <p:nvPr/>
            </p:nvSpPr>
            <p:spPr>
              <a:xfrm>
                <a:off x="874643" y="874644"/>
                <a:ext cx="7394713" cy="736612"/>
              </a:xfrm>
              <a:prstGeom prst="rect">
                <a:avLst/>
              </a:prstGeom>
              <a:solidFill>
                <a:schemeClr val="accent5">
                  <a:lumMod val="20000"/>
                  <a:lumOff val="80000"/>
                </a:schemeClr>
              </a:solidFill>
            </p:spPr>
            <p:txBody>
              <a:bodyPr wrap="square" rtlCol="0">
                <a:spAutoFit/>
              </a:bodyPr>
              <a:lstStyle/>
              <a:p>
                <a:pPr>
                  <a:lnSpc>
                    <a:spcPts val="2600"/>
                  </a:lnSpc>
                </a:pPr>
                <a:r>
                  <a:rPr lang="en-US" altLang="zh-CN" b="1">
                    <a:solidFill>
                      <a:srgbClr val="002060"/>
                    </a:solidFill>
                  </a:rPr>
                  <a:t>【</a:t>
                </a:r>
                <a:r>
                  <a:rPr lang="zh-CN" altLang="en-US" b="1">
                    <a:solidFill>
                      <a:srgbClr val="002060"/>
                    </a:solidFill>
                  </a:rPr>
                  <a:t>定理</a:t>
                </a:r>
                <a:r>
                  <a:rPr lang="en-US" altLang="zh-CN" b="1">
                    <a:solidFill>
                      <a:srgbClr val="002060"/>
                    </a:solidFill>
                  </a:rPr>
                  <a:t>】</a:t>
                </a:r>
                <a:r>
                  <a:rPr lang="zh-CN" altLang="en-US" b="1">
                    <a:solidFill>
                      <a:schemeClr val="accent2">
                        <a:lumMod val="50000"/>
                      </a:schemeClr>
                    </a:solidFill>
                  </a:rPr>
                  <a:t>设</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是有单位元</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𝒆</m:t>
                    </m:r>
                  </m:oMath>
                </a14:m>
                <a:r>
                  <a:rPr lang="zh-CN" altLang="en-US" b="1">
                    <a:solidFill>
                      <a:schemeClr val="accent2">
                        <a:lumMod val="50000"/>
                      </a:schemeClr>
                    </a:solidFill>
                  </a:rPr>
                  <a:t>的交换环，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𝑰</m:t>
                    </m:r>
                  </m:oMath>
                </a14:m>
                <a:r>
                  <a:rPr lang="zh-CN" altLang="en-US" b="1">
                    <a:solidFill>
                      <a:schemeClr val="accent2">
                        <a:lumMod val="50000"/>
                      </a:schemeClr>
                    </a:solidFill>
                  </a:rPr>
                  <a:t>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的理想，则：</a:t>
                </a:r>
                <a14:m>
                  <m:oMath xmlns:m="http://schemas.openxmlformats.org/officeDocument/2006/math">
                    <m:r>
                      <a:rPr lang="en-US" altLang="zh-CN" b="1" i="1" smtClean="0">
                        <a:solidFill>
                          <a:srgbClr val="C00000"/>
                        </a:solidFill>
                        <a:latin typeface="Cambria Math" panose="02040503050406030204" pitchFamily="18" charset="0"/>
                      </a:rPr>
                      <m:t>𝑰</m:t>
                    </m:r>
                  </m:oMath>
                </a14:m>
                <a:r>
                  <a:rPr lang="zh-CN" altLang="en-US" b="1">
                    <a:solidFill>
                      <a:srgbClr val="C00000"/>
                    </a:solidFill>
                  </a:rPr>
                  <a:t>是</a:t>
                </a:r>
                <a14:m>
                  <m:oMath xmlns:m="http://schemas.openxmlformats.org/officeDocument/2006/math">
                    <m:r>
                      <a:rPr lang="en-US" altLang="zh-CN" b="1" i="1" smtClean="0">
                        <a:solidFill>
                          <a:srgbClr val="C00000"/>
                        </a:solidFill>
                        <a:latin typeface="Cambria Math" panose="02040503050406030204" pitchFamily="18" charset="0"/>
                      </a:rPr>
                      <m:t>𝑹</m:t>
                    </m:r>
                  </m:oMath>
                </a14:m>
                <a:r>
                  <a:rPr lang="zh-CN" altLang="en-US" b="1">
                    <a:solidFill>
                      <a:srgbClr val="C00000"/>
                    </a:solidFill>
                  </a:rPr>
                  <a:t>的极大理想</a:t>
                </a:r>
                <a:r>
                  <a:rPr lang="zh-CN" altLang="en-US" b="1">
                    <a:solidFill>
                      <a:schemeClr val="accent2">
                        <a:lumMod val="50000"/>
                      </a:schemeClr>
                    </a:solidFill>
                  </a:rPr>
                  <a:t>当且仅当</a:t>
                </a:r>
                <a14:m>
                  <m:oMath xmlns:m="http://schemas.openxmlformats.org/officeDocument/2006/math">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𝑰</m:t>
                    </m:r>
                  </m:oMath>
                </a14:m>
                <a:r>
                  <a:rPr lang="zh-CN" altLang="en-US" b="1">
                    <a:solidFill>
                      <a:srgbClr val="C00000"/>
                    </a:solidFill>
                  </a:rPr>
                  <a:t>是域</a:t>
                </a:r>
                <a:r>
                  <a:rPr lang="zh-CN" altLang="en-US" b="1">
                    <a:solidFill>
                      <a:schemeClr val="accent2">
                        <a:lumMod val="50000"/>
                      </a:schemeClr>
                    </a:solidFill>
                  </a:rPr>
                  <a:t>。</a:t>
                </a:r>
              </a:p>
            </p:txBody>
          </p:sp>
        </mc:Choice>
        <mc:Fallback xmlns="">
          <p:sp>
            <p:nvSpPr>
              <p:cNvPr id="2" name="文本框 1">
                <a:extLst>
                  <a:ext uri="{FF2B5EF4-FFF2-40B4-BE49-F238E27FC236}">
                    <a16:creationId xmlns:a16="http://schemas.microsoft.com/office/drawing/2014/main" id="{6AF15379-B0BE-4CCE-93AB-0CBE9FADF503}"/>
                  </a:ext>
                </a:extLst>
              </p:cNvPr>
              <p:cNvSpPr txBox="1">
                <a:spLocks noRot="1" noChangeAspect="1" noMove="1" noResize="1" noEditPoints="1" noAdjustHandles="1" noChangeArrowheads="1" noChangeShapeType="1" noTextEdit="1"/>
              </p:cNvSpPr>
              <p:nvPr/>
            </p:nvSpPr>
            <p:spPr>
              <a:xfrm>
                <a:off x="874643" y="874644"/>
                <a:ext cx="7394713" cy="736612"/>
              </a:xfrm>
              <a:prstGeom prst="rect">
                <a:avLst/>
              </a:prstGeom>
              <a:blipFill>
                <a:blip r:embed="rId2"/>
                <a:stretch>
                  <a:fillRect l="-659" r="-659" b="-12397"/>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567773B8-D139-4B4C-B89C-E258B3881976}"/>
              </a:ext>
            </a:extLst>
          </p:cNvPr>
          <p:cNvGrpSpPr/>
          <p:nvPr/>
        </p:nvGrpSpPr>
        <p:grpSpPr>
          <a:xfrm>
            <a:off x="874640" y="1816346"/>
            <a:ext cx="7394713" cy="1088334"/>
            <a:chOff x="874643" y="1928192"/>
            <a:chExt cx="7394713" cy="1088334"/>
          </a:xfrm>
        </p:grpSpPr>
        <p:sp>
          <p:nvSpPr>
            <p:cNvPr id="5" name="矩形: 圆角 4">
              <a:extLst>
                <a:ext uri="{FF2B5EF4-FFF2-40B4-BE49-F238E27FC236}">
                  <a16:creationId xmlns:a16="http://schemas.microsoft.com/office/drawing/2014/main" id="{9ED6C60D-625A-42E7-A4E2-CCF3E83CC85F}"/>
                </a:ext>
              </a:extLst>
            </p:cNvPr>
            <p:cNvSpPr/>
            <p:nvPr/>
          </p:nvSpPr>
          <p:spPr>
            <a:xfrm>
              <a:off x="874643" y="1928192"/>
              <a:ext cx="7394713" cy="1088334"/>
            </a:xfrm>
            <a:prstGeom prst="roundRect">
              <a:avLst>
                <a:gd name="adj" fmla="val 58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D38A3C28-CD66-4038-90B6-98FC441247BF}"/>
                </a:ext>
              </a:extLst>
            </p:cNvPr>
            <p:cNvPicPr>
              <a:picLocks noChangeAspect="1"/>
            </p:cNvPicPr>
            <p:nvPr/>
          </p:nvPicPr>
          <p:blipFill>
            <a:blip r:embed="rId3"/>
            <a:stretch>
              <a:fillRect/>
            </a:stretch>
          </p:blipFill>
          <p:spPr>
            <a:xfrm>
              <a:off x="919370" y="1973477"/>
              <a:ext cx="7305260" cy="997763"/>
            </a:xfrm>
            <a:prstGeom prst="rect">
              <a:avLst/>
            </a:prstGeom>
          </p:spPr>
        </p:pic>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8F4EEC5-ED5B-4CCD-8680-7250F795AB6C}"/>
                  </a:ext>
                </a:extLst>
              </p:cNvPr>
              <p:cNvSpPr txBox="1"/>
              <p:nvPr/>
            </p:nvSpPr>
            <p:spPr>
              <a:xfrm>
                <a:off x="874640" y="3084373"/>
                <a:ext cx="7394713" cy="1073114"/>
              </a:xfrm>
              <a:prstGeom prst="rect">
                <a:avLst/>
              </a:prstGeom>
              <a:solidFill>
                <a:schemeClr val="accent4">
                  <a:lumMod val="20000"/>
                  <a:lumOff val="80000"/>
                </a:schemeClr>
              </a:solidFill>
            </p:spPr>
            <p:txBody>
              <a:bodyPr wrap="square" rtlCol="0">
                <a:spAutoFit/>
              </a:bodyPr>
              <a:lstStyle/>
              <a:p>
                <a:pPr marL="285750" indent="-285750">
                  <a:lnSpc>
                    <a:spcPts val="1800"/>
                  </a:lnSpc>
                  <a:spcBef>
                    <a:spcPts val="600"/>
                  </a:spcBef>
                  <a:buFont typeface="Arial" panose="020B0604020202020204" pitchFamily="34" charset="0"/>
                  <a:buChar char="•"/>
                </a:pPr>
                <a:r>
                  <a:rPr lang="zh-CN" altLang="en-US" sz="1400" b="1">
                    <a:solidFill>
                      <a:schemeClr val="accent2">
                        <a:lumMod val="50000"/>
                      </a:schemeClr>
                    </a:solidFill>
                    <a:latin typeface="楷体" panose="02010609060101010101" pitchFamily="49" charset="-122"/>
                    <a:ea typeface="楷体" panose="02010609060101010101" pitchFamily="49" charset="-122"/>
                  </a:rPr>
                  <a:t>在交换环</a:t>
                </a:r>
                <a14:m>
                  <m:oMath xmlns:m="http://schemas.openxmlformats.org/officeDocument/2006/math">
                    <m:r>
                      <a:rPr lang="en-US" altLang="zh-CN" sz="1400" b="1" i="1">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中，</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𝑰</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的素理想当且仅当在</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𝑰</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中</a:t>
                </a:r>
                <a14:m>
                  <m:oMath xmlns:m="http://schemas.openxmlformats.org/officeDocument/2006/math">
                    <m:bar>
                      <m:barPr>
                        <m:pos m:val="top"/>
                        <m:ctrlPr>
                          <a:rPr lang="en-US" altLang="zh-CN" sz="1400" b="1" i="1" smtClean="0">
                            <a:solidFill>
                              <a:schemeClr val="accent2">
                                <a:lumMod val="50000"/>
                              </a:schemeClr>
                            </a:solidFill>
                            <a:latin typeface="Cambria Math" panose="02040503050406030204" pitchFamily="18" charset="0"/>
                          </a:rPr>
                        </m:ctrlPr>
                      </m:barPr>
                      <m:e>
                        <m:r>
                          <a:rPr lang="en-US" altLang="zh-CN" sz="1400" b="1" i="1" smtClean="0">
                            <a:solidFill>
                              <a:schemeClr val="accent2">
                                <a:lumMod val="50000"/>
                              </a:schemeClr>
                            </a:solidFill>
                            <a:latin typeface="Cambria Math" panose="02040503050406030204" pitchFamily="18" charset="0"/>
                          </a:rPr>
                          <m:t>𝒂</m:t>
                        </m:r>
                      </m:e>
                    </m:bar>
                    <m:bar>
                      <m:barPr>
                        <m:pos m:val="top"/>
                        <m:ctrlPr>
                          <a:rPr lang="en-US" altLang="zh-CN" sz="1400" b="1" i="1" smtClean="0">
                            <a:solidFill>
                              <a:schemeClr val="accent2">
                                <a:lumMod val="50000"/>
                              </a:schemeClr>
                            </a:solidFill>
                            <a:latin typeface="Cambria Math" panose="02040503050406030204" pitchFamily="18" charset="0"/>
                          </a:rPr>
                        </m:ctrlPr>
                      </m:barPr>
                      <m:e>
                        <m:r>
                          <a:rPr lang="en-US" altLang="zh-CN" sz="1400" b="1" i="1" smtClean="0">
                            <a:solidFill>
                              <a:schemeClr val="accent2">
                                <a:lumMod val="50000"/>
                              </a:schemeClr>
                            </a:solidFill>
                            <a:latin typeface="Cambria Math" panose="02040503050406030204" pitchFamily="18" charset="0"/>
                          </a:rPr>
                          <m:t>𝒃</m:t>
                        </m:r>
                      </m:e>
                    </m:bar>
                    <m:r>
                      <a:rPr lang="en-US" altLang="zh-CN" sz="1400" b="1" i="1" smtClean="0">
                        <a:solidFill>
                          <a:schemeClr val="accent2">
                            <a:lumMod val="50000"/>
                          </a:schemeClr>
                        </a:solidFill>
                        <a:latin typeface="Cambria Math" panose="02040503050406030204" pitchFamily="18" charset="0"/>
                      </a:rPr>
                      <m:t>=</m:t>
                    </m:r>
                    <m:bar>
                      <m:barPr>
                        <m:pos m:val="top"/>
                        <m:ctrlPr>
                          <a:rPr lang="en-US" altLang="zh-CN" sz="1400" b="1" i="1" smtClean="0">
                            <a:solidFill>
                              <a:schemeClr val="accent2">
                                <a:lumMod val="50000"/>
                              </a:schemeClr>
                            </a:solidFill>
                            <a:latin typeface="Cambria Math" panose="02040503050406030204" pitchFamily="18" charset="0"/>
                          </a:rPr>
                        </m:ctrlPr>
                      </m:barPr>
                      <m:e>
                        <m:r>
                          <a:rPr lang="en-US" altLang="zh-CN" sz="1400" b="1" i="1" smtClean="0">
                            <a:solidFill>
                              <a:schemeClr val="accent2">
                                <a:lumMod val="50000"/>
                              </a:schemeClr>
                            </a:solidFill>
                            <a:latin typeface="Cambria Math" panose="02040503050406030204" pitchFamily="18" charset="0"/>
                          </a:rPr>
                          <m:t>𝟎</m:t>
                        </m:r>
                      </m:e>
                    </m:bar>
                  </m:oMath>
                </a14:m>
                <a:r>
                  <a:rPr lang="zh-CN" altLang="en-US" sz="1400" b="1">
                    <a:solidFill>
                      <a:schemeClr val="accent2">
                        <a:lumMod val="50000"/>
                      </a:schemeClr>
                    </a:solidFill>
                    <a:latin typeface="楷体" panose="02010609060101010101" pitchFamily="49" charset="-122"/>
                    <a:ea typeface="楷体" panose="02010609060101010101" pitchFamily="49" charset="-122"/>
                  </a:rPr>
                  <a:t>蕴涵</a:t>
                </a:r>
                <a14:m>
                  <m:oMath xmlns:m="http://schemas.openxmlformats.org/officeDocument/2006/math">
                    <m:bar>
                      <m:barPr>
                        <m:pos m:val="top"/>
                        <m:ctrlPr>
                          <a:rPr lang="en-US" altLang="zh-CN" sz="1400" b="1" i="1" smtClean="0">
                            <a:solidFill>
                              <a:schemeClr val="accent2">
                                <a:lumMod val="50000"/>
                              </a:schemeClr>
                            </a:solidFill>
                            <a:latin typeface="Cambria Math" panose="02040503050406030204" pitchFamily="18" charset="0"/>
                          </a:rPr>
                        </m:ctrlPr>
                      </m:barPr>
                      <m:e>
                        <m:r>
                          <a:rPr lang="en-US" altLang="zh-CN" sz="1400" b="1" i="1" smtClean="0">
                            <a:solidFill>
                              <a:schemeClr val="accent2">
                                <a:lumMod val="50000"/>
                              </a:schemeClr>
                            </a:solidFill>
                            <a:latin typeface="Cambria Math" panose="02040503050406030204" pitchFamily="18" charset="0"/>
                          </a:rPr>
                          <m:t>𝒂</m:t>
                        </m:r>
                      </m:e>
                    </m:bar>
                    <m:r>
                      <a:rPr lang="en-US" altLang="zh-CN" sz="1400" b="1" i="1" smtClean="0">
                        <a:solidFill>
                          <a:schemeClr val="accent2">
                            <a:lumMod val="50000"/>
                          </a:schemeClr>
                        </a:solidFill>
                        <a:latin typeface="Cambria Math" panose="02040503050406030204" pitchFamily="18" charset="0"/>
                      </a:rPr>
                      <m:t>=</m:t>
                    </m:r>
                    <m:bar>
                      <m:barPr>
                        <m:pos m:val="top"/>
                        <m:ctrlPr>
                          <a:rPr lang="en-US" altLang="zh-CN" sz="1400" b="1" i="1" smtClean="0">
                            <a:solidFill>
                              <a:schemeClr val="accent2">
                                <a:lumMod val="50000"/>
                              </a:schemeClr>
                            </a:solidFill>
                            <a:latin typeface="Cambria Math" panose="02040503050406030204" pitchFamily="18" charset="0"/>
                          </a:rPr>
                        </m:ctrlPr>
                      </m:barPr>
                      <m:e>
                        <m:r>
                          <a:rPr lang="en-US" altLang="zh-CN" sz="1400" b="1" i="1" smtClean="0">
                            <a:solidFill>
                              <a:schemeClr val="accent2">
                                <a:lumMod val="50000"/>
                              </a:schemeClr>
                            </a:solidFill>
                            <a:latin typeface="Cambria Math" panose="02040503050406030204" pitchFamily="18" charset="0"/>
                          </a:rPr>
                          <m:t>𝟎</m:t>
                        </m:r>
                      </m:e>
                    </m:bar>
                  </m:oMath>
                </a14:m>
                <a:r>
                  <a:rPr lang="zh-CN" altLang="en-US" sz="1400" b="1">
                    <a:solidFill>
                      <a:schemeClr val="accent2">
                        <a:lumMod val="50000"/>
                      </a:schemeClr>
                    </a:solidFill>
                    <a:latin typeface="楷体" panose="02010609060101010101" pitchFamily="49" charset="-122"/>
                    <a:ea typeface="楷体" panose="02010609060101010101" pitchFamily="49" charset="-122"/>
                  </a:rPr>
                  <a:t>或</a:t>
                </a:r>
                <a14:m>
                  <m:oMath xmlns:m="http://schemas.openxmlformats.org/officeDocument/2006/math">
                    <m:bar>
                      <m:barPr>
                        <m:pos m:val="top"/>
                        <m:ctrlPr>
                          <a:rPr lang="en-US" altLang="zh-CN" sz="1400" b="1" i="1" smtClean="0">
                            <a:solidFill>
                              <a:schemeClr val="accent2">
                                <a:lumMod val="50000"/>
                              </a:schemeClr>
                            </a:solidFill>
                            <a:latin typeface="Cambria Math" panose="02040503050406030204" pitchFamily="18" charset="0"/>
                          </a:rPr>
                        </m:ctrlPr>
                      </m:barPr>
                      <m:e>
                        <m:r>
                          <a:rPr lang="en-US" altLang="zh-CN" sz="1400" b="1" i="1" smtClean="0">
                            <a:solidFill>
                              <a:schemeClr val="accent2">
                                <a:lumMod val="50000"/>
                              </a:schemeClr>
                            </a:solidFill>
                            <a:latin typeface="Cambria Math" panose="02040503050406030204" pitchFamily="18" charset="0"/>
                          </a:rPr>
                          <m:t>𝒃</m:t>
                        </m:r>
                      </m:e>
                    </m:bar>
                    <m:r>
                      <a:rPr lang="en-US" altLang="zh-CN" sz="1400" b="1" i="1" smtClean="0">
                        <a:solidFill>
                          <a:schemeClr val="accent2">
                            <a:lumMod val="50000"/>
                          </a:schemeClr>
                        </a:solidFill>
                        <a:latin typeface="Cambria Math" panose="02040503050406030204" pitchFamily="18" charset="0"/>
                      </a:rPr>
                      <m:t>=</m:t>
                    </m:r>
                    <m:bar>
                      <m:barPr>
                        <m:pos m:val="top"/>
                        <m:ctrlPr>
                          <a:rPr lang="en-US" altLang="zh-CN" sz="1400" b="1" i="1" smtClean="0">
                            <a:solidFill>
                              <a:schemeClr val="accent2">
                                <a:lumMod val="50000"/>
                              </a:schemeClr>
                            </a:solidFill>
                            <a:latin typeface="Cambria Math" panose="02040503050406030204" pitchFamily="18" charset="0"/>
                          </a:rPr>
                        </m:ctrlPr>
                      </m:barPr>
                      <m:e>
                        <m:r>
                          <a:rPr lang="en-US" altLang="zh-CN" sz="1400" b="1" i="1" smtClean="0">
                            <a:solidFill>
                              <a:schemeClr val="accent2">
                                <a:lumMod val="50000"/>
                              </a:schemeClr>
                            </a:solidFill>
                            <a:latin typeface="Cambria Math" panose="02040503050406030204" pitchFamily="18" charset="0"/>
                          </a:rPr>
                          <m:t>𝟎</m:t>
                        </m:r>
                      </m:e>
                    </m:bar>
                  </m:oMath>
                </a14:m>
                <a:r>
                  <a:rPr lang="zh-CN" altLang="en-US" sz="1400" b="1">
                    <a:solidFill>
                      <a:schemeClr val="accent2">
                        <a:lumMod val="50000"/>
                      </a:schemeClr>
                    </a:solidFill>
                    <a:latin typeface="楷体" panose="02010609060101010101" pitchFamily="49" charset="-122"/>
                    <a:ea typeface="楷体" panose="02010609060101010101" pitchFamily="49" charset="-122"/>
                  </a:rPr>
                  <a:t>，当且仅当</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r>
                      <a:rPr lang="en-US" altLang="zh-CN" sz="1400" b="1" i="1" smtClean="0">
                        <a:solidFill>
                          <a:schemeClr val="accent2">
                            <a:lumMod val="50000"/>
                          </a:schemeClr>
                        </a:solidFill>
                        <a:latin typeface="Cambria Math" panose="02040503050406030204" pitchFamily="18" charset="0"/>
                      </a:rPr>
                      <m:t>/</m:t>
                    </m:r>
                    <m:r>
                      <a:rPr lang="en-US" altLang="zh-CN" sz="1400" b="1" i="1" smtClean="0">
                        <a:solidFill>
                          <a:schemeClr val="accent2">
                            <a:lumMod val="50000"/>
                          </a:schemeClr>
                        </a:solidFill>
                        <a:latin typeface="Cambria Math" panose="02040503050406030204" pitchFamily="18" charset="0"/>
                      </a:rPr>
                      <m:t>𝑰</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的每个元素不是零因子</a:t>
                </a:r>
                <a:endParaRPr lang="en-US" altLang="zh-CN" sz="1400" b="1">
                  <a:solidFill>
                    <a:schemeClr val="accent2">
                      <a:lumMod val="50000"/>
                    </a:schemeClr>
                  </a:solidFill>
                  <a:latin typeface="楷体" panose="02010609060101010101" pitchFamily="49" charset="-122"/>
                  <a:ea typeface="楷体" panose="02010609060101010101" pitchFamily="49" charset="-122"/>
                </a:endParaRPr>
              </a:p>
              <a:p>
                <a:pPr marL="285750" indent="-285750">
                  <a:lnSpc>
                    <a:spcPts val="1800"/>
                  </a:lnSpc>
                  <a:spcBef>
                    <a:spcPts val="600"/>
                  </a:spcBef>
                  <a:buFont typeface="Arial" panose="020B0604020202020204" pitchFamily="34" charset="0"/>
                  <a:buChar char="•"/>
                </a:pPr>
                <a:r>
                  <a:rPr lang="zh-CN" altLang="en-US" sz="1400" b="1">
                    <a:solidFill>
                      <a:schemeClr val="accent2">
                        <a:lumMod val="50000"/>
                      </a:schemeClr>
                    </a:solidFill>
                    <a:latin typeface="楷体" panose="02010609060101010101" pitchFamily="49" charset="-122"/>
                    <a:ea typeface="楷体" panose="02010609060101010101" pitchFamily="49" charset="-122"/>
                  </a:rPr>
                  <a:t>在有单位元交换环</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中，</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𝑰</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的极大理想当且仅当每个真包含</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𝑰</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的理想都包含</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的单位元（从而就包含</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latin typeface="楷体" panose="02010609060101010101" pitchFamily="49" charset="-122"/>
                    <a:ea typeface="楷体" panose="02010609060101010101" pitchFamily="49" charset="-122"/>
                  </a:rPr>
                  <a:t>的所有元素）</a:t>
                </a:r>
              </a:p>
            </p:txBody>
          </p:sp>
        </mc:Choice>
        <mc:Fallback xmlns="">
          <p:sp>
            <p:nvSpPr>
              <p:cNvPr id="8" name="文本框 7">
                <a:extLst>
                  <a:ext uri="{FF2B5EF4-FFF2-40B4-BE49-F238E27FC236}">
                    <a16:creationId xmlns:a16="http://schemas.microsoft.com/office/drawing/2014/main" id="{F8F4EEC5-ED5B-4CCD-8680-7250F795AB6C}"/>
                  </a:ext>
                </a:extLst>
              </p:cNvPr>
              <p:cNvSpPr txBox="1">
                <a:spLocks noRot="1" noChangeAspect="1" noMove="1" noResize="1" noEditPoints="1" noAdjustHandles="1" noChangeArrowheads="1" noChangeShapeType="1" noTextEdit="1"/>
              </p:cNvSpPr>
              <p:nvPr/>
            </p:nvSpPr>
            <p:spPr>
              <a:xfrm>
                <a:off x="874640" y="3084373"/>
                <a:ext cx="7394713" cy="1073114"/>
              </a:xfrm>
              <a:prstGeom prst="rect">
                <a:avLst/>
              </a:prstGeom>
              <a:blipFill>
                <a:blip r:embed="rId4"/>
                <a:stretch>
                  <a:fillRect l="-82" t="-568" b="-3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5E423D9-8229-4646-A52B-0A5427B7E9D5}"/>
                  </a:ext>
                </a:extLst>
              </p:cNvPr>
              <p:cNvSpPr txBox="1"/>
              <p:nvPr/>
            </p:nvSpPr>
            <p:spPr>
              <a:xfrm>
                <a:off x="874640" y="4317599"/>
                <a:ext cx="7394713" cy="307777"/>
              </a:xfrm>
              <a:prstGeom prst="rect">
                <a:avLst/>
              </a:prstGeom>
              <a:solidFill>
                <a:schemeClr val="accent5">
                  <a:lumMod val="20000"/>
                  <a:lumOff val="80000"/>
                </a:schemeClr>
              </a:solidFill>
            </p:spPr>
            <p:txBody>
              <a:bodyPr wrap="square" rtlCol="0">
                <a:spAutoFit/>
              </a:bodyPr>
              <a:lstStyle/>
              <a:p>
                <a:r>
                  <a:rPr lang="en-US" altLang="zh-CN" sz="1400" b="1">
                    <a:solidFill>
                      <a:schemeClr val="accent2">
                        <a:lumMod val="50000"/>
                      </a:schemeClr>
                    </a:solidFill>
                  </a:rPr>
                  <a:t>【</a:t>
                </a:r>
                <a:r>
                  <a:rPr lang="zh-CN" altLang="en-US" sz="1400" b="1">
                    <a:solidFill>
                      <a:schemeClr val="accent2">
                        <a:lumMod val="50000"/>
                      </a:schemeClr>
                    </a:solidFill>
                  </a:rPr>
                  <a:t>推论</a:t>
                </a:r>
                <a:r>
                  <a:rPr lang="en-US" altLang="zh-CN" sz="1400" b="1">
                    <a:solidFill>
                      <a:schemeClr val="accent2">
                        <a:lumMod val="50000"/>
                      </a:schemeClr>
                    </a:solidFill>
                  </a:rPr>
                  <a:t>】</a:t>
                </a:r>
                <a:r>
                  <a:rPr lang="zh-CN" altLang="en-US" sz="1400" b="1">
                    <a:solidFill>
                      <a:schemeClr val="accent2">
                        <a:lumMod val="50000"/>
                      </a:schemeClr>
                    </a:solidFill>
                  </a:rPr>
                  <a:t>设</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rPr>
                  <a:t>是有单位元的交换环，由于域都是整环，因此</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rPr>
                  <a:t>的每个极大理想都是</a:t>
                </a:r>
                <a14:m>
                  <m:oMath xmlns:m="http://schemas.openxmlformats.org/officeDocument/2006/math">
                    <m:r>
                      <a:rPr lang="en-US" altLang="zh-CN" sz="1400" b="1" i="1" smtClean="0">
                        <a:solidFill>
                          <a:schemeClr val="accent2">
                            <a:lumMod val="50000"/>
                          </a:schemeClr>
                        </a:solidFill>
                        <a:latin typeface="Cambria Math" panose="02040503050406030204" pitchFamily="18" charset="0"/>
                      </a:rPr>
                      <m:t>𝑹</m:t>
                    </m:r>
                  </m:oMath>
                </a14:m>
                <a:r>
                  <a:rPr lang="zh-CN" altLang="en-US" sz="1400" b="1">
                    <a:solidFill>
                      <a:schemeClr val="accent2">
                        <a:lumMod val="50000"/>
                      </a:schemeClr>
                    </a:solidFill>
                  </a:rPr>
                  <a:t>的素理想。</a:t>
                </a:r>
              </a:p>
            </p:txBody>
          </p:sp>
        </mc:Choice>
        <mc:Fallback xmlns="">
          <p:sp>
            <p:nvSpPr>
              <p:cNvPr id="9" name="文本框 8">
                <a:extLst>
                  <a:ext uri="{FF2B5EF4-FFF2-40B4-BE49-F238E27FC236}">
                    <a16:creationId xmlns:a16="http://schemas.microsoft.com/office/drawing/2014/main" id="{C5E423D9-8229-4646-A52B-0A5427B7E9D5}"/>
                  </a:ext>
                </a:extLst>
              </p:cNvPr>
              <p:cNvSpPr txBox="1">
                <a:spLocks noRot="1" noChangeAspect="1" noMove="1" noResize="1" noEditPoints="1" noAdjustHandles="1" noChangeArrowheads="1" noChangeShapeType="1" noTextEdit="1"/>
              </p:cNvSpPr>
              <p:nvPr/>
            </p:nvSpPr>
            <p:spPr>
              <a:xfrm>
                <a:off x="874640" y="4317599"/>
                <a:ext cx="7394713" cy="307777"/>
              </a:xfrm>
              <a:prstGeom prst="rect">
                <a:avLst/>
              </a:prstGeom>
              <a:blipFill>
                <a:blip r:embed="rId5"/>
                <a:stretch>
                  <a:fillRect l="-247" t="-1961" r="-2636" b="-196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489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极大理想与素理想之间的关系</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19</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6161E3E-4D1C-44FA-9352-248E2D863C3D}"/>
                  </a:ext>
                </a:extLst>
              </p:cNvPr>
              <p:cNvSpPr txBox="1"/>
              <p:nvPr/>
            </p:nvSpPr>
            <p:spPr>
              <a:xfrm>
                <a:off x="854762" y="1092042"/>
                <a:ext cx="6484410" cy="769441"/>
              </a:xfrm>
              <a:prstGeom prst="rect">
                <a:avLst/>
              </a:prstGeom>
              <a:solidFill>
                <a:schemeClr val="accent4">
                  <a:lumMod val="20000"/>
                  <a:lumOff val="80000"/>
                </a:schemeClr>
              </a:solidFill>
            </p:spPr>
            <p:txBody>
              <a:bodyPr wrap="square">
                <a:spAutoFit/>
              </a:bodyPr>
              <a:lstStyle/>
              <a:p>
                <a:pPr>
                  <a:spcBef>
                    <a:spcPts val="600"/>
                  </a:spcBef>
                  <a:spcAft>
                    <a:spcPts val="600"/>
                  </a:spcAft>
                </a:pPr>
                <a:r>
                  <a:rPr lang="zh-CN" altLang="en-US" b="1">
                    <a:solidFill>
                      <a:schemeClr val="accent2">
                        <a:lumMod val="50000"/>
                      </a:schemeClr>
                    </a:solidFill>
                  </a:rPr>
                  <a:t>如果没有单位元，则极大理想不一定是素理想</a:t>
                </a:r>
                <a:endParaRPr lang="en-US" altLang="zh-CN" b="1">
                  <a:solidFill>
                    <a:schemeClr val="accent2">
                      <a:lumMod val="50000"/>
                    </a:schemeClr>
                  </a:solidFill>
                </a:endParaRPr>
              </a:p>
              <a:p>
                <a:pPr marL="285750" indent="-285750">
                  <a:spcBef>
                    <a:spcPts val="600"/>
                  </a:spcBef>
                  <a:spcAft>
                    <a:spcPts val="600"/>
                  </a:spcAft>
                  <a:buFont typeface="Arial" panose="020B0604020202020204" pitchFamily="34" charset="0"/>
                  <a:buChar char="•"/>
                </a:pPr>
                <a:r>
                  <a:rPr lang="zh-CN" altLang="en-US" sz="1600" b="1">
                    <a:solidFill>
                      <a:schemeClr val="accent6">
                        <a:lumMod val="50000"/>
                      </a:schemeClr>
                    </a:solidFill>
                    <a:latin typeface="楷体" panose="02010609060101010101" pitchFamily="49" charset="-122"/>
                    <a:ea typeface="楷体" panose="02010609060101010101" pitchFamily="49" charset="-122"/>
                  </a:rPr>
                  <a:t>例如对于</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𝑹</m:t>
                    </m:r>
                    <m:r>
                      <a:rPr lang="en-US" altLang="zh-CN" sz="1600" b="1" i="1" smtClean="0">
                        <a:solidFill>
                          <a:schemeClr val="accent6">
                            <a:lumMod val="50000"/>
                          </a:schemeClr>
                        </a:solidFill>
                        <a:latin typeface="Cambria Math" panose="02040503050406030204" pitchFamily="18" charset="0"/>
                      </a:rPr>
                      <m:t> = </m:t>
                    </m:r>
                    <m:r>
                      <a:rPr lang="en-US" altLang="zh-CN" sz="1600" b="1" i="1" smtClean="0">
                        <a:solidFill>
                          <a:schemeClr val="accent6">
                            <a:lumMod val="50000"/>
                          </a:schemeClr>
                        </a:solidFill>
                        <a:latin typeface="Cambria Math" panose="02040503050406030204" pitchFamily="18" charset="0"/>
                      </a:rPr>
                      <m:t>𝟐</m:t>
                    </m:r>
                    <m:r>
                      <a:rPr lang="en-US" altLang="zh-CN" sz="1600" b="1" i="1" smtClean="0">
                        <a:solidFill>
                          <a:schemeClr val="accent6">
                            <a:lumMod val="50000"/>
                          </a:schemeClr>
                        </a:solidFill>
                        <a:latin typeface="Cambria Math" panose="02040503050406030204" pitchFamily="18" charset="0"/>
                      </a:rPr>
                      <m:t>ℤ</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𝑰</m:t>
                    </m:r>
                    <m:r>
                      <a:rPr lang="en-US" altLang="zh-CN" sz="1600" b="1" i="1" smtClean="0">
                        <a:solidFill>
                          <a:schemeClr val="accent6">
                            <a:lumMod val="50000"/>
                          </a:schemeClr>
                        </a:solidFill>
                        <a:latin typeface="Cambria Math" panose="02040503050406030204" pitchFamily="18" charset="0"/>
                      </a:rPr>
                      <m:t> = </m:t>
                    </m:r>
                    <m:r>
                      <a:rPr lang="en-US" altLang="zh-CN" sz="1600" b="1" i="1" smtClean="0">
                        <a:solidFill>
                          <a:schemeClr val="accent6">
                            <a:lumMod val="50000"/>
                          </a:schemeClr>
                        </a:solidFill>
                        <a:latin typeface="Cambria Math" panose="02040503050406030204" pitchFamily="18" charset="0"/>
                      </a:rPr>
                      <m:t>𝟒</m:t>
                    </m:r>
                    <m:r>
                      <a:rPr lang="en-US" altLang="zh-CN" sz="1600" b="1" i="1" smtClean="0">
                        <a:solidFill>
                          <a:schemeClr val="accent6">
                            <a:lumMod val="50000"/>
                          </a:schemeClr>
                        </a:solidFill>
                        <a:latin typeface="Cambria Math" panose="02040503050406030204" pitchFamily="18" charset="0"/>
                      </a:rPr>
                      <m:t>ℤ</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𝑰</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𝑹</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的极大理想，但</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𝑰</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不是</a:t>
                </a:r>
                <a14:m>
                  <m:oMath xmlns:m="http://schemas.openxmlformats.org/officeDocument/2006/math">
                    <m:r>
                      <a:rPr lang="en-US" altLang="zh-CN" sz="1600" b="1" i="1" smtClean="0">
                        <a:solidFill>
                          <a:schemeClr val="accent6">
                            <a:lumMod val="50000"/>
                          </a:schemeClr>
                        </a:solidFill>
                        <a:latin typeface="Cambria Math" panose="02040503050406030204" pitchFamily="18" charset="0"/>
                      </a:rPr>
                      <m:t>𝑹</m:t>
                    </m:r>
                  </m:oMath>
                </a14:m>
                <a:r>
                  <a:rPr lang="zh-CN" altLang="en-US" sz="1600" b="1">
                    <a:solidFill>
                      <a:schemeClr val="accent6">
                        <a:lumMod val="50000"/>
                      </a:schemeClr>
                    </a:solidFill>
                    <a:latin typeface="楷体" panose="02010609060101010101" pitchFamily="49" charset="-122"/>
                    <a:ea typeface="楷体" panose="02010609060101010101" pitchFamily="49" charset="-122"/>
                  </a:rPr>
                  <a:t>的素理想</a:t>
                </a:r>
              </a:p>
            </p:txBody>
          </p:sp>
        </mc:Choice>
        <mc:Fallback xmlns="">
          <p:sp>
            <p:nvSpPr>
              <p:cNvPr id="18" name="文本框 17">
                <a:extLst>
                  <a:ext uri="{FF2B5EF4-FFF2-40B4-BE49-F238E27FC236}">
                    <a16:creationId xmlns:a16="http://schemas.microsoft.com/office/drawing/2014/main" id="{A6161E3E-4D1C-44FA-9352-248E2D863C3D}"/>
                  </a:ext>
                </a:extLst>
              </p:cNvPr>
              <p:cNvSpPr txBox="1">
                <a:spLocks noRot="1" noChangeAspect="1" noMove="1" noResize="1" noEditPoints="1" noAdjustHandles="1" noChangeArrowheads="1" noChangeShapeType="1" noTextEdit="1"/>
              </p:cNvSpPr>
              <p:nvPr/>
            </p:nvSpPr>
            <p:spPr>
              <a:xfrm>
                <a:off x="854762" y="1092042"/>
                <a:ext cx="6484410" cy="769441"/>
              </a:xfrm>
              <a:prstGeom prst="rect">
                <a:avLst/>
              </a:prstGeom>
              <a:blipFill>
                <a:blip r:embed="rId2"/>
                <a:stretch>
                  <a:fillRect l="-752" t="-3968" r="-94" b="-8730"/>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F344886D-C516-4D89-A630-586F075FD259}"/>
              </a:ext>
            </a:extLst>
          </p:cNvPr>
          <p:cNvSpPr txBox="1"/>
          <p:nvPr/>
        </p:nvSpPr>
        <p:spPr>
          <a:xfrm>
            <a:off x="854762" y="2337617"/>
            <a:ext cx="5704187" cy="369332"/>
          </a:xfrm>
          <a:prstGeom prst="rect">
            <a:avLst/>
          </a:prstGeom>
          <a:solidFill>
            <a:schemeClr val="accent4">
              <a:lumMod val="20000"/>
              <a:lumOff val="80000"/>
            </a:schemeClr>
          </a:solidFill>
        </p:spPr>
        <p:txBody>
          <a:bodyPr wrap="square">
            <a:spAutoFit/>
          </a:bodyPr>
          <a:lstStyle/>
          <a:p>
            <a:pPr>
              <a:spcBef>
                <a:spcPts val="600"/>
              </a:spcBef>
              <a:spcAft>
                <a:spcPts val="600"/>
              </a:spcAft>
            </a:pPr>
            <a:r>
              <a:rPr lang="zh-CN" altLang="en-US" b="1">
                <a:solidFill>
                  <a:schemeClr val="accent2">
                    <a:lumMod val="50000"/>
                  </a:schemeClr>
                </a:solidFill>
              </a:rPr>
              <a:t>一个素理想（即使是非零素理想）也不一定是极大理想</a:t>
            </a:r>
            <a:endParaRPr lang="en-US" altLang="zh-CN" b="1">
              <a:solidFill>
                <a:schemeClr val="accent2">
                  <a:lumMod val="50000"/>
                </a:schemeClr>
              </a:solidFill>
            </a:endParaRPr>
          </a:p>
        </p:txBody>
      </p:sp>
      <p:grpSp>
        <p:nvGrpSpPr>
          <p:cNvPr id="21" name="组合 20">
            <a:extLst>
              <a:ext uri="{FF2B5EF4-FFF2-40B4-BE49-F238E27FC236}">
                <a16:creationId xmlns:a16="http://schemas.microsoft.com/office/drawing/2014/main" id="{35040B1B-55FB-47FB-B689-D7365C17BAFE}"/>
              </a:ext>
            </a:extLst>
          </p:cNvPr>
          <p:cNvGrpSpPr/>
          <p:nvPr/>
        </p:nvGrpSpPr>
        <p:grpSpPr>
          <a:xfrm>
            <a:off x="854762" y="2882955"/>
            <a:ext cx="7434469" cy="1364607"/>
            <a:chOff x="854762" y="2882955"/>
            <a:chExt cx="7434469" cy="1364607"/>
          </a:xfrm>
        </p:grpSpPr>
        <p:sp>
          <p:nvSpPr>
            <p:cNvPr id="17" name="矩形: 圆角 16">
              <a:extLst>
                <a:ext uri="{FF2B5EF4-FFF2-40B4-BE49-F238E27FC236}">
                  <a16:creationId xmlns:a16="http://schemas.microsoft.com/office/drawing/2014/main" id="{159F2A0F-BC45-4B40-8573-3130261BF80E}"/>
                </a:ext>
              </a:extLst>
            </p:cNvPr>
            <p:cNvSpPr/>
            <p:nvPr/>
          </p:nvSpPr>
          <p:spPr>
            <a:xfrm>
              <a:off x="854762" y="2882955"/>
              <a:ext cx="7434469" cy="1364607"/>
            </a:xfrm>
            <a:prstGeom prst="roundRect">
              <a:avLst>
                <a:gd name="adj" fmla="val 8291"/>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754B75BA-4141-4CF3-87A7-CC15D623F276}"/>
                </a:ext>
              </a:extLst>
            </p:cNvPr>
            <p:cNvPicPr>
              <a:picLocks noChangeAspect="1"/>
            </p:cNvPicPr>
            <p:nvPr/>
          </p:nvPicPr>
          <p:blipFill>
            <a:blip r:embed="rId3"/>
            <a:stretch>
              <a:fillRect/>
            </a:stretch>
          </p:blipFill>
          <p:spPr>
            <a:xfrm>
              <a:off x="904457" y="2941354"/>
              <a:ext cx="7335078" cy="1253462"/>
            </a:xfrm>
            <a:prstGeom prst="rect">
              <a:avLst/>
            </a:prstGeom>
          </p:spPr>
        </p:pic>
      </p:grpSp>
    </p:spTree>
    <p:extLst>
      <p:ext uri="{BB962C8B-B14F-4D97-AF65-F5344CB8AC3E}">
        <p14:creationId xmlns:p14="http://schemas.microsoft.com/office/powerpoint/2010/main" val="1182058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高斯整环上的极大理想例子</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20</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grpSp>
        <p:nvGrpSpPr>
          <p:cNvPr id="5" name="组合 4">
            <a:extLst>
              <a:ext uri="{FF2B5EF4-FFF2-40B4-BE49-F238E27FC236}">
                <a16:creationId xmlns:a16="http://schemas.microsoft.com/office/drawing/2014/main" id="{CB30B827-D20E-46E6-A7AD-A7197BE9A653}"/>
              </a:ext>
            </a:extLst>
          </p:cNvPr>
          <p:cNvGrpSpPr/>
          <p:nvPr/>
        </p:nvGrpSpPr>
        <p:grpSpPr>
          <a:xfrm>
            <a:off x="641074" y="1590261"/>
            <a:ext cx="7851913" cy="1704561"/>
            <a:chOff x="641074" y="1590261"/>
            <a:chExt cx="7851913" cy="1704561"/>
          </a:xfrm>
        </p:grpSpPr>
        <p:sp>
          <p:nvSpPr>
            <p:cNvPr id="4" name="矩形: 圆角 3">
              <a:extLst>
                <a:ext uri="{FF2B5EF4-FFF2-40B4-BE49-F238E27FC236}">
                  <a16:creationId xmlns:a16="http://schemas.microsoft.com/office/drawing/2014/main" id="{DFA6ED7F-4DFC-4BAF-899D-2ABE71159658}"/>
                </a:ext>
              </a:extLst>
            </p:cNvPr>
            <p:cNvSpPr/>
            <p:nvPr/>
          </p:nvSpPr>
          <p:spPr>
            <a:xfrm>
              <a:off x="641074" y="1590261"/>
              <a:ext cx="7851913" cy="1704561"/>
            </a:xfrm>
            <a:prstGeom prst="roundRect">
              <a:avLst>
                <a:gd name="adj" fmla="val 8795"/>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0B07FB0B-514A-45ED-B883-75F4864BB5CF}"/>
                </a:ext>
              </a:extLst>
            </p:cNvPr>
            <p:cNvPicPr>
              <a:picLocks noChangeAspect="1"/>
            </p:cNvPicPr>
            <p:nvPr/>
          </p:nvPicPr>
          <p:blipFill>
            <a:blip r:embed="rId2"/>
            <a:stretch>
              <a:fillRect/>
            </a:stretch>
          </p:blipFill>
          <p:spPr>
            <a:xfrm>
              <a:off x="706917" y="1655397"/>
              <a:ext cx="7730159" cy="1583799"/>
            </a:xfrm>
            <a:prstGeom prst="rect">
              <a:avLst/>
            </a:prstGeom>
          </p:spPr>
        </p:pic>
      </p:grpSp>
    </p:spTree>
    <p:extLst>
      <p:ext uri="{BB962C8B-B14F-4D97-AF65-F5344CB8AC3E}">
        <p14:creationId xmlns:p14="http://schemas.microsoft.com/office/powerpoint/2010/main" val="1622117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8270469-641D-4780-A2E8-F060C8507913}"/>
              </a:ext>
            </a:extLst>
          </p:cNvPr>
          <p:cNvSpPr/>
          <p:nvPr/>
        </p:nvSpPr>
        <p:spPr>
          <a:xfrm>
            <a:off x="914400" y="949187"/>
            <a:ext cx="5551004" cy="392596"/>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高斯整环上极大理想的证明练习（一）</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21</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pic>
        <p:nvPicPr>
          <p:cNvPr id="3" name="图片 2">
            <a:extLst>
              <a:ext uri="{FF2B5EF4-FFF2-40B4-BE49-F238E27FC236}">
                <a16:creationId xmlns:a16="http://schemas.microsoft.com/office/drawing/2014/main" id="{4BC4E290-A80F-43DF-AFC5-5045FF76D062}"/>
              </a:ext>
            </a:extLst>
          </p:cNvPr>
          <p:cNvPicPr>
            <a:picLocks noChangeAspect="1"/>
          </p:cNvPicPr>
          <p:nvPr/>
        </p:nvPicPr>
        <p:blipFill>
          <a:blip r:embed="rId2"/>
          <a:stretch>
            <a:fillRect/>
          </a:stretch>
        </p:blipFill>
        <p:spPr>
          <a:xfrm>
            <a:off x="959126" y="1009582"/>
            <a:ext cx="5461014" cy="291642"/>
          </a:xfrm>
          <a:prstGeom prst="rect">
            <a:avLst/>
          </a:prstGeom>
        </p:spPr>
      </p:pic>
    </p:spTree>
    <p:extLst>
      <p:ext uri="{BB962C8B-B14F-4D97-AF65-F5344CB8AC3E}">
        <p14:creationId xmlns:p14="http://schemas.microsoft.com/office/powerpoint/2010/main" val="2705631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8270469-641D-4780-A2E8-F060C8507913}"/>
              </a:ext>
            </a:extLst>
          </p:cNvPr>
          <p:cNvSpPr/>
          <p:nvPr/>
        </p:nvSpPr>
        <p:spPr>
          <a:xfrm>
            <a:off x="914400" y="949187"/>
            <a:ext cx="5551004" cy="392596"/>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高斯整环上极大理想的证明练习解答（一）</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22</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pic>
        <p:nvPicPr>
          <p:cNvPr id="3" name="图片 2">
            <a:extLst>
              <a:ext uri="{FF2B5EF4-FFF2-40B4-BE49-F238E27FC236}">
                <a16:creationId xmlns:a16="http://schemas.microsoft.com/office/drawing/2014/main" id="{4BC4E290-A80F-43DF-AFC5-5045FF76D062}"/>
              </a:ext>
            </a:extLst>
          </p:cNvPr>
          <p:cNvPicPr>
            <a:picLocks noChangeAspect="1"/>
          </p:cNvPicPr>
          <p:nvPr/>
        </p:nvPicPr>
        <p:blipFill>
          <a:blip r:embed="rId2"/>
          <a:stretch>
            <a:fillRect/>
          </a:stretch>
        </p:blipFill>
        <p:spPr>
          <a:xfrm>
            <a:off x="959126" y="1009582"/>
            <a:ext cx="5461014" cy="291642"/>
          </a:xfrm>
          <a:prstGeom prst="rect">
            <a:avLst/>
          </a:prstGeom>
        </p:spPr>
      </p:pic>
      <p:grpSp>
        <p:nvGrpSpPr>
          <p:cNvPr id="8" name="组合 7">
            <a:extLst>
              <a:ext uri="{FF2B5EF4-FFF2-40B4-BE49-F238E27FC236}">
                <a16:creationId xmlns:a16="http://schemas.microsoft.com/office/drawing/2014/main" id="{1A6E3A44-D23B-460B-8507-DB32BEB76C4C}"/>
              </a:ext>
            </a:extLst>
          </p:cNvPr>
          <p:cNvGrpSpPr/>
          <p:nvPr/>
        </p:nvGrpSpPr>
        <p:grpSpPr>
          <a:xfrm>
            <a:off x="914400" y="1709530"/>
            <a:ext cx="7315200" cy="2648779"/>
            <a:chOff x="914400" y="1709530"/>
            <a:chExt cx="7315200" cy="2648779"/>
          </a:xfrm>
        </p:grpSpPr>
        <p:sp>
          <p:nvSpPr>
            <p:cNvPr id="7" name="矩形: 圆角 6">
              <a:extLst>
                <a:ext uri="{FF2B5EF4-FFF2-40B4-BE49-F238E27FC236}">
                  <a16:creationId xmlns:a16="http://schemas.microsoft.com/office/drawing/2014/main" id="{903A903B-96EB-4A03-A21D-9148E01BB831}"/>
                </a:ext>
              </a:extLst>
            </p:cNvPr>
            <p:cNvSpPr/>
            <p:nvPr/>
          </p:nvSpPr>
          <p:spPr>
            <a:xfrm>
              <a:off x="914400" y="1709530"/>
              <a:ext cx="7315200" cy="2648779"/>
            </a:xfrm>
            <a:prstGeom prst="roundRect">
              <a:avLst>
                <a:gd name="adj" fmla="val 4660"/>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4222B42B-88E4-42E5-A08C-C6796C025586}"/>
                </a:ext>
              </a:extLst>
            </p:cNvPr>
            <p:cNvPicPr>
              <a:picLocks noChangeAspect="1"/>
            </p:cNvPicPr>
            <p:nvPr/>
          </p:nvPicPr>
          <p:blipFill>
            <a:blip r:embed="rId3"/>
            <a:stretch>
              <a:fillRect/>
            </a:stretch>
          </p:blipFill>
          <p:spPr>
            <a:xfrm>
              <a:off x="959126" y="1757275"/>
              <a:ext cx="7225748" cy="2553288"/>
            </a:xfrm>
            <a:prstGeom prst="rect">
              <a:avLst/>
            </a:prstGeom>
          </p:spPr>
        </p:pic>
      </p:grpSp>
    </p:spTree>
    <p:extLst>
      <p:ext uri="{BB962C8B-B14F-4D97-AF65-F5344CB8AC3E}">
        <p14:creationId xmlns:p14="http://schemas.microsoft.com/office/powerpoint/2010/main" val="1456276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8270469-641D-4780-A2E8-F060C8507913}"/>
              </a:ext>
            </a:extLst>
          </p:cNvPr>
          <p:cNvSpPr/>
          <p:nvPr/>
        </p:nvSpPr>
        <p:spPr>
          <a:xfrm>
            <a:off x="914400" y="949187"/>
            <a:ext cx="5551004" cy="392596"/>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高斯整环上极大理想的证明练习解答（二）</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23</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pic>
        <p:nvPicPr>
          <p:cNvPr id="3" name="图片 2">
            <a:extLst>
              <a:ext uri="{FF2B5EF4-FFF2-40B4-BE49-F238E27FC236}">
                <a16:creationId xmlns:a16="http://schemas.microsoft.com/office/drawing/2014/main" id="{4BC4E290-A80F-43DF-AFC5-5045FF76D062}"/>
              </a:ext>
            </a:extLst>
          </p:cNvPr>
          <p:cNvPicPr>
            <a:picLocks noChangeAspect="1"/>
          </p:cNvPicPr>
          <p:nvPr/>
        </p:nvPicPr>
        <p:blipFill>
          <a:blip r:embed="rId2"/>
          <a:stretch>
            <a:fillRect/>
          </a:stretch>
        </p:blipFill>
        <p:spPr>
          <a:xfrm>
            <a:off x="959126" y="1009582"/>
            <a:ext cx="5461014" cy="291642"/>
          </a:xfrm>
          <a:prstGeom prst="rect">
            <a:avLst/>
          </a:prstGeom>
        </p:spPr>
      </p:pic>
      <p:grpSp>
        <p:nvGrpSpPr>
          <p:cNvPr id="8" name="组合 7">
            <a:extLst>
              <a:ext uri="{FF2B5EF4-FFF2-40B4-BE49-F238E27FC236}">
                <a16:creationId xmlns:a16="http://schemas.microsoft.com/office/drawing/2014/main" id="{283F27BA-2B3A-4423-A0C7-F98347C7CD84}"/>
              </a:ext>
            </a:extLst>
          </p:cNvPr>
          <p:cNvGrpSpPr/>
          <p:nvPr/>
        </p:nvGrpSpPr>
        <p:grpSpPr>
          <a:xfrm>
            <a:off x="914400" y="1709531"/>
            <a:ext cx="7315200" cy="2484782"/>
            <a:chOff x="914400" y="1709531"/>
            <a:chExt cx="7315200" cy="2484782"/>
          </a:xfrm>
        </p:grpSpPr>
        <p:sp>
          <p:nvSpPr>
            <p:cNvPr id="7" name="矩形: 圆角 6">
              <a:extLst>
                <a:ext uri="{FF2B5EF4-FFF2-40B4-BE49-F238E27FC236}">
                  <a16:creationId xmlns:a16="http://schemas.microsoft.com/office/drawing/2014/main" id="{903A903B-96EB-4A03-A21D-9148E01BB831}"/>
                </a:ext>
              </a:extLst>
            </p:cNvPr>
            <p:cNvSpPr/>
            <p:nvPr/>
          </p:nvSpPr>
          <p:spPr>
            <a:xfrm>
              <a:off x="914400" y="1709531"/>
              <a:ext cx="7315200" cy="2484782"/>
            </a:xfrm>
            <a:prstGeom prst="roundRect">
              <a:avLst>
                <a:gd name="adj" fmla="val 4660"/>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960CCA3-2BD6-49C7-9D6C-FD4F16D1777C}"/>
                </a:ext>
              </a:extLst>
            </p:cNvPr>
            <p:cNvPicPr>
              <a:picLocks noChangeAspect="1"/>
            </p:cNvPicPr>
            <p:nvPr/>
          </p:nvPicPr>
          <p:blipFill>
            <a:blip r:embed="rId3"/>
            <a:stretch>
              <a:fillRect/>
            </a:stretch>
          </p:blipFill>
          <p:spPr>
            <a:xfrm>
              <a:off x="959126" y="1757025"/>
              <a:ext cx="7225748" cy="2387588"/>
            </a:xfrm>
            <a:prstGeom prst="rect">
              <a:avLst/>
            </a:prstGeom>
          </p:spPr>
        </p:pic>
      </p:grpSp>
    </p:spTree>
    <p:extLst>
      <p:ext uri="{BB962C8B-B14F-4D97-AF65-F5344CB8AC3E}">
        <p14:creationId xmlns:p14="http://schemas.microsoft.com/office/powerpoint/2010/main" val="2384143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8270469-641D-4780-A2E8-F060C8507913}"/>
              </a:ext>
            </a:extLst>
          </p:cNvPr>
          <p:cNvSpPr/>
          <p:nvPr/>
        </p:nvSpPr>
        <p:spPr>
          <a:xfrm>
            <a:off x="914400" y="949187"/>
            <a:ext cx="5551004" cy="392596"/>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高斯整环上极大理想的证明练习解答（三）</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24</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pic>
        <p:nvPicPr>
          <p:cNvPr id="3" name="图片 2">
            <a:extLst>
              <a:ext uri="{FF2B5EF4-FFF2-40B4-BE49-F238E27FC236}">
                <a16:creationId xmlns:a16="http://schemas.microsoft.com/office/drawing/2014/main" id="{4BC4E290-A80F-43DF-AFC5-5045FF76D062}"/>
              </a:ext>
            </a:extLst>
          </p:cNvPr>
          <p:cNvPicPr>
            <a:picLocks noChangeAspect="1"/>
          </p:cNvPicPr>
          <p:nvPr/>
        </p:nvPicPr>
        <p:blipFill>
          <a:blip r:embed="rId2"/>
          <a:stretch>
            <a:fillRect/>
          </a:stretch>
        </p:blipFill>
        <p:spPr>
          <a:xfrm>
            <a:off x="959126" y="1009582"/>
            <a:ext cx="5461014" cy="291642"/>
          </a:xfrm>
          <a:prstGeom prst="rect">
            <a:avLst/>
          </a:prstGeom>
        </p:spPr>
      </p:pic>
      <p:grpSp>
        <p:nvGrpSpPr>
          <p:cNvPr id="8" name="组合 7">
            <a:extLst>
              <a:ext uri="{FF2B5EF4-FFF2-40B4-BE49-F238E27FC236}">
                <a16:creationId xmlns:a16="http://schemas.microsoft.com/office/drawing/2014/main" id="{3D7707F1-2B28-465A-B1D9-A81E6D899724}"/>
              </a:ext>
            </a:extLst>
          </p:cNvPr>
          <p:cNvGrpSpPr/>
          <p:nvPr/>
        </p:nvGrpSpPr>
        <p:grpSpPr>
          <a:xfrm>
            <a:off x="914400" y="1709531"/>
            <a:ext cx="7315200" cy="2424387"/>
            <a:chOff x="914400" y="1709531"/>
            <a:chExt cx="7315200" cy="2424387"/>
          </a:xfrm>
        </p:grpSpPr>
        <p:sp>
          <p:nvSpPr>
            <p:cNvPr id="7" name="矩形: 圆角 6">
              <a:extLst>
                <a:ext uri="{FF2B5EF4-FFF2-40B4-BE49-F238E27FC236}">
                  <a16:creationId xmlns:a16="http://schemas.microsoft.com/office/drawing/2014/main" id="{903A903B-96EB-4A03-A21D-9148E01BB831}"/>
                </a:ext>
              </a:extLst>
            </p:cNvPr>
            <p:cNvSpPr/>
            <p:nvPr/>
          </p:nvSpPr>
          <p:spPr>
            <a:xfrm>
              <a:off x="914400" y="1709531"/>
              <a:ext cx="7315200" cy="2424387"/>
            </a:xfrm>
            <a:prstGeom prst="roundRect">
              <a:avLst>
                <a:gd name="adj" fmla="val 4660"/>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B129139E-0EAF-47F8-8856-2F6F3F04B04C}"/>
                </a:ext>
              </a:extLst>
            </p:cNvPr>
            <p:cNvPicPr>
              <a:picLocks noChangeAspect="1"/>
            </p:cNvPicPr>
            <p:nvPr/>
          </p:nvPicPr>
          <p:blipFill>
            <a:blip r:embed="rId3"/>
            <a:stretch>
              <a:fillRect/>
            </a:stretch>
          </p:blipFill>
          <p:spPr>
            <a:xfrm>
              <a:off x="959123" y="1753712"/>
              <a:ext cx="7225748" cy="2326839"/>
            </a:xfrm>
            <a:prstGeom prst="rect">
              <a:avLst/>
            </a:prstGeom>
          </p:spPr>
        </p:pic>
      </p:grpSp>
    </p:spTree>
    <p:extLst>
      <p:ext uri="{BB962C8B-B14F-4D97-AF65-F5344CB8AC3E}">
        <p14:creationId xmlns:p14="http://schemas.microsoft.com/office/powerpoint/2010/main" val="2750013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8270469-641D-4780-A2E8-F060C8507913}"/>
              </a:ext>
            </a:extLst>
          </p:cNvPr>
          <p:cNvSpPr/>
          <p:nvPr/>
        </p:nvSpPr>
        <p:spPr>
          <a:xfrm>
            <a:off x="914400" y="949187"/>
            <a:ext cx="5551004" cy="392596"/>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高斯整环上极大理想的证明练习解答（四）</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25</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pic>
        <p:nvPicPr>
          <p:cNvPr id="3" name="图片 2">
            <a:extLst>
              <a:ext uri="{FF2B5EF4-FFF2-40B4-BE49-F238E27FC236}">
                <a16:creationId xmlns:a16="http://schemas.microsoft.com/office/drawing/2014/main" id="{4BC4E290-A80F-43DF-AFC5-5045FF76D062}"/>
              </a:ext>
            </a:extLst>
          </p:cNvPr>
          <p:cNvPicPr>
            <a:picLocks noChangeAspect="1"/>
          </p:cNvPicPr>
          <p:nvPr/>
        </p:nvPicPr>
        <p:blipFill>
          <a:blip r:embed="rId2"/>
          <a:stretch>
            <a:fillRect/>
          </a:stretch>
        </p:blipFill>
        <p:spPr>
          <a:xfrm>
            <a:off x="959126" y="1009582"/>
            <a:ext cx="5461014" cy="291642"/>
          </a:xfrm>
          <a:prstGeom prst="rect">
            <a:avLst/>
          </a:prstGeom>
        </p:spPr>
      </p:pic>
      <p:grpSp>
        <p:nvGrpSpPr>
          <p:cNvPr id="8" name="组合 7">
            <a:extLst>
              <a:ext uri="{FF2B5EF4-FFF2-40B4-BE49-F238E27FC236}">
                <a16:creationId xmlns:a16="http://schemas.microsoft.com/office/drawing/2014/main" id="{FB62BE29-8ED3-469F-BEA7-0FBC72AD178A}"/>
              </a:ext>
            </a:extLst>
          </p:cNvPr>
          <p:cNvGrpSpPr/>
          <p:nvPr/>
        </p:nvGrpSpPr>
        <p:grpSpPr>
          <a:xfrm>
            <a:off x="914400" y="1709531"/>
            <a:ext cx="7315200" cy="2763078"/>
            <a:chOff x="914400" y="1709531"/>
            <a:chExt cx="7315200" cy="2763078"/>
          </a:xfrm>
        </p:grpSpPr>
        <p:sp>
          <p:nvSpPr>
            <p:cNvPr id="7" name="矩形: 圆角 6">
              <a:extLst>
                <a:ext uri="{FF2B5EF4-FFF2-40B4-BE49-F238E27FC236}">
                  <a16:creationId xmlns:a16="http://schemas.microsoft.com/office/drawing/2014/main" id="{903A903B-96EB-4A03-A21D-9148E01BB831}"/>
                </a:ext>
              </a:extLst>
            </p:cNvPr>
            <p:cNvSpPr/>
            <p:nvPr/>
          </p:nvSpPr>
          <p:spPr>
            <a:xfrm>
              <a:off x="914400" y="1709531"/>
              <a:ext cx="7315200" cy="2763078"/>
            </a:xfrm>
            <a:prstGeom prst="roundRect">
              <a:avLst>
                <a:gd name="adj" fmla="val 4660"/>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C5D94476-E519-43BC-BB9E-D31D96D42016}"/>
                </a:ext>
              </a:extLst>
            </p:cNvPr>
            <p:cNvPicPr>
              <a:picLocks noChangeAspect="1"/>
            </p:cNvPicPr>
            <p:nvPr/>
          </p:nvPicPr>
          <p:blipFill>
            <a:blip r:embed="rId3"/>
            <a:stretch>
              <a:fillRect/>
            </a:stretch>
          </p:blipFill>
          <p:spPr>
            <a:xfrm>
              <a:off x="959126" y="1757518"/>
              <a:ext cx="7225748" cy="2659715"/>
            </a:xfrm>
            <a:prstGeom prst="rect">
              <a:avLst/>
            </a:prstGeom>
          </p:spPr>
        </p:pic>
      </p:grpSp>
    </p:spTree>
    <p:extLst>
      <p:ext uri="{BB962C8B-B14F-4D97-AF65-F5344CB8AC3E}">
        <p14:creationId xmlns:p14="http://schemas.microsoft.com/office/powerpoint/2010/main" val="2191160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多项式环关于极大理想的商环（一）</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26</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grpSp>
        <p:nvGrpSpPr>
          <p:cNvPr id="5" name="组合 4">
            <a:extLst>
              <a:ext uri="{FF2B5EF4-FFF2-40B4-BE49-F238E27FC236}">
                <a16:creationId xmlns:a16="http://schemas.microsoft.com/office/drawing/2014/main" id="{B7E33F25-4E23-4C7B-9091-53FFFDB47B98}"/>
              </a:ext>
            </a:extLst>
          </p:cNvPr>
          <p:cNvGrpSpPr/>
          <p:nvPr/>
        </p:nvGrpSpPr>
        <p:grpSpPr>
          <a:xfrm>
            <a:off x="790161" y="909430"/>
            <a:ext cx="7548769" cy="3543300"/>
            <a:chOff x="790161" y="909430"/>
            <a:chExt cx="7548769" cy="3543300"/>
          </a:xfrm>
        </p:grpSpPr>
        <p:sp>
          <p:nvSpPr>
            <p:cNvPr id="4" name="矩形: 圆角 3">
              <a:extLst>
                <a:ext uri="{FF2B5EF4-FFF2-40B4-BE49-F238E27FC236}">
                  <a16:creationId xmlns:a16="http://schemas.microsoft.com/office/drawing/2014/main" id="{F5ABE258-8839-4C82-9893-4BE2E79A395E}"/>
                </a:ext>
              </a:extLst>
            </p:cNvPr>
            <p:cNvSpPr/>
            <p:nvPr/>
          </p:nvSpPr>
          <p:spPr>
            <a:xfrm>
              <a:off x="790161" y="909430"/>
              <a:ext cx="7548769" cy="3543300"/>
            </a:xfrm>
            <a:prstGeom prst="roundRect">
              <a:avLst>
                <a:gd name="adj" fmla="val 4605"/>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1416ECE9-E95B-48F7-930E-70F45451FF99}"/>
                </a:ext>
              </a:extLst>
            </p:cNvPr>
            <p:cNvPicPr>
              <a:picLocks noChangeAspect="1"/>
            </p:cNvPicPr>
            <p:nvPr/>
          </p:nvPicPr>
          <p:blipFill>
            <a:blip r:embed="rId2"/>
            <a:stretch>
              <a:fillRect/>
            </a:stretch>
          </p:blipFill>
          <p:spPr>
            <a:xfrm>
              <a:off x="839858" y="957213"/>
              <a:ext cx="7464284" cy="3438670"/>
            </a:xfrm>
            <a:prstGeom prst="rect">
              <a:avLst/>
            </a:prstGeom>
          </p:spPr>
        </p:pic>
      </p:grpSp>
    </p:spTree>
    <p:extLst>
      <p:ext uri="{BB962C8B-B14F-4D97-AF65-F5344CB8AC3E}">
        <p14:creationId xmlns:p14="http://schemas.microsoft.com/office/powerpoint/2010/main" val="132149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多项式环关于极大理想的商环（二）</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27</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grpSp>
        <p:nvGrpSpPr>
          <p:cNvPr id="7" name="组合 6">
            <a:extLst>
              <a:ext uri="{FF2B5EF4-FFF2-40B4-BE49-F238E27FC236}">
                <a16:creationId xmlns:a16="http://schemas.microsoft.com/office/drawing/2014/main" id="{9E4017B3-6316-44C2-86A2-729042BDD88A}"/>
              </a:ext>
            </a:extLst>
          </p:cNvPr>
          <p:cNvGrpSpPr/>
          <p:nvPr/>
        </p:nvGrpSpPr>
        <p:grpSpPr>
          <a:xfrm>
            <a:off x="790161" y="909429"/>
            <a:ext cx="7548769" cy="3622814"/>
            <a:chOff x="790161" y="909429"/>
            <a:chExt cx="7548769" cy="3622814"/>
          </a:xfrm>
        </p:grpSpPr>
        <p:sp>
          <p:nvSpPr>
            <p:cNvPr id="4" name="矩形: 圆角 3">
              <a:extLst>
                <a:ext uri="{FF2B5EF4-FFF2-40B4-BE49-F238E27FC236}">
                  <a16:creationId xmlns:a16="http://schemas.microsoft.com/office/drawing/2014/main" id="{F5ABE258-8839-4C82-9893-4BE2E79A395E}"/>
                </a:ext>
              </a:extLst>
            </p:cNvPr>
            <p:cNvSpPr/>
            <p:nvPr/>
          </p:nvSpPr>
          <p:spPr>
            <a:xfrm>
              <a:off x="790161" y="909429"/>
              <a:ext cx="7548769" cy="3622814"/>
            </a:xfrm>
            <a:prstGeom prst="roundRect">
              <a:avLst>
                <a:gd name="adj" fmla="val 4605"/>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8DF25EAA-BF79-4C51-B36E-F7B57E6C5746}"/>
                </a:ext>
              </a:extLst>
            </p:cNvPr>
            <p:cNvPicPr>
              <a:picLocks noChangeAspect="1"/>
            </p:cNvPicPr>
            <p:nvPr/>
          </p:nvPicPr>
          <p:blipFill>
            <a:blip r:embed="rId2"/>
            <a:stretch>
              <a:fillRect/>
            </a:stretch>
          </p:blipFill>
          <p:spPr>
            <a:xfrm>
              <a:off x="857246" y="976950"/>
              <a:ext cx="7429501" cy="3480750"/>
            </a:xfrm>
            <a:prstGeom prst="rect">
              <a:avLst/>
            </a:prstGeom>
          </p:spPr>
        </p:pic>
      </p:grpSp>
    </p:spTree>
    <p:extLst>
      <p:ext uri="{BB962C8B-B14F-4D97-AF65-F5344CB8AC3E}">
        <p14:creationId xmlns:p14="http://schemas.microsoft.com/office/powerpoint/2010/main" val="2096141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多项式环关于极大理想的商环（三）</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28</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grpSp>
        <p:nvGrpSpPr>
          <p:cNvPr id="7" name="组合 6">
            <a:extLst>
              <a:ext uri="{FF2B5EF4-FFF2-40B4-BE49-F238E27FC236}">
                <a16:creationId xmlns:a16="http://schemas.microsoft.com/office/drawing/2014/main" id="{79B8E61D-D102-4A2D-81F0-2EE9831B9FA2}"/>
              </a:ext>
            </a:extLst>
          </p:cNvPr>
          <p:cNvGrpSpPr/>
          <p:nvPr/>
        </p:nvGrpSpPr>
        <p:grpSpPr>
          <a:xfrm>
            <a:off x="797615" y="855648"/>
            <a:ext cx="7548769" cy="3662569"/>
            <a:chOff x="797615" y="834887"/>
            <a:chExt cx="7548769" cy="3662569"/>
          </a:xfrm>
        </p:grpSpPr>
        <p:sp>
          <p:nvSpPr>
            <p:cNvPr id="4" name="矩形: 圆角 3">
              <a:extLst>
                <a:ext uri="{FF2B5EF4-FFF2-40B4-BE49-F238E27FC236}">
                  <a16:creationId xmlns:a16="http://schemas.microsoft.com/office/drawing/2014/main" id="{F5ABE258-8839-4C82-9893-4BE2E79A395E}"/>
                </a:ext>
              </a:extLst>
            </p:cNvPr>
            <p:cNvSpPr/>
            <p:nvPr/>
          </p:nvSpPr>
          <p:spPr>
            <a:xfrm>
              <a:off x="797615" y="834887"/>
              <a:ext cx="7548769" cy="3662569"/>
            </a:xfrm>
            <a:prstGeom prst="roundRect">
              <a:avLst>
                <a:gd name="adj" fmla="val 4605"/>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D1AC8F6E-FC03-4F9C-9BC0-D79CFB23CA17}"/>
                </a:ext>
              </a:extLst>
            </p:cNvPr>
            <p:cNvPicPr>
              <a:picLocks noChangeAspect="1"/>
            </p:cNvPicPr>
            <p:nvPr/>
          </p:nvPicPr>
          <p:blipFill>
            <a:blip r:embed="rId2"/>
            <a:stretch>
              <a:fillRect/>
            </a:stretch>
          </p:blipFill>
          <p:spPr>
            <a:xfrm>
              <a:off x="859731" y="889371"/>
              <a:ext cx="7439440" cy="1374424"/>
            </a:xfrm>
            <a:prstGeom prst="rect">
              <a:avLst/>
            </a:prstGeom>
          </p:spPr>
        </p:pic>
        <p:pic>
          <p:nvPicPr>
            <p:cNvPr id="3" name="图片 2">
              <a:extLst>
                <a:ext uri="{FF2B5EF4-FFF2-40B4-BE49-F238E27FC236}">
                  <a16:creationId xmlns:a16="http://schemas.microsoft.com/office/drawing/2014/main" id="{4A62B255-3A50-4011-913B-43FCF87418AE}"/>
                </a:ext>
              </a:extLst>
            </p:cNvPr>
            <p:cNvPicPr>
              <a:picLocks noChangeAspect="1"/>
            </p:cNvPicPr>
            <p:nvPr/>
          </p:nvPicPr>
          <p:blipFill>
            <a:blip r:embed="rId3"/>
            <a:stretch>
              <a:fillRect/>
            </a:stretch>
          </p:blipFill>
          <p:spPr>
            <a:xfrm>
              <a:off x="859731" y="2189069"/>
              <a:ext cx="7439439" cy="2261636"/>
            </a:xfrm>
            <a:prstGeom prst="rect">
              <a:avLst/>
            </a:prstGeom>
          </p:spPr>
        </p:pic>
      </p:grpSp>
    </p:spTree>
    <p:extLst>
      <p:ext uri="{BB962C8B-B14F-4D97-AF65-F5344CB8AC3E}">
        <p14:creationId xmlns:p14="http://schemas.microsoft.com/office/powerpoint/2010/main" val="2288169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高斯整环上极大理想的证明练习（二）</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29</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A0D2299-C435-4255-B736-3F6DCB397A73}"/>
                  </a:ext>
                </a:extLst>
              </p:cNvPr>
              <p:cNvSpPr txBox="1"/>
              <p:nvPr/>
            </p:nvSpPr>
            <p:spPr>
              <a:xfrm>
                <a:off x="884583" y="891103"/>
                <a:ext cx="4512365"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证明高斯整环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ℤ</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0" smtClean="0">
                            <a:solidFill>
                              <a:schemeClr val="accent2">
                                <a:lumMod val="50000"/>
                              </a:schemeClr>
                            </a:solidFill>
                            <a:latin typeface="Cambria Math" panose="02040503050406030204" pitchFamily="18" charset="0"/>
                          </a:rPr>
                          <m:t>𝐢</m:t>
                        </m:r>
                      </m:e>
                    </m:d>
                  </m:oMath>
                </a14:m>
                <a:r>
                  <a:rPr lang="zh-CN" altLang="en-US" b="1">
                    <a:solidFill>
                      <a:schemeClr val="accent2">
                        <a:lumMod val="50000"/>
                      </a:schemeClr>
                    </a:solidFill>
                  </a:rPr>
                  <a:t>的主理想</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𝟑</m:t>
                        </m:r>
                      </m:e>
                    </m:d>
                  </m:oMath>
                </a14:m>
                <a:r>
                  <a:rPr lang="zh-CN" altLang="en-US" b="1">
                    <a:solidFill>
                      <a:schemeClr val="accent2">
                        <a:lumMod val="50000"/>
                      </a:schemeClr>
                    </a:solidFill>
                  </a:rPr>
                  <a:t>是极大理想。</a:t>
                </a:r>
              </a:p>
            </p:txBody>
          </p:sp>
        </mc:Choice>
        <mc:Fallback xmlns="">
          <p:sp>
            <p:nvSpPr>
              <p:cNvPr id="2" name="文本框 1">
                <a:extLst>
                  <a:ext uri="{FF2B5EF4-FFF2-40B4-BE49-F238E27FC236}">
                    <a16:creationId xmlns:a16="http://schemas.microsoft.com/office/drawing/2014/main" id="{DA0D2299-C435-4255-B736-3F6DCB397A73}"/>
                  </a:ext>
                </a:extLst>
              </p:cNvPr>
              <p:cNvSpPr txBox="1">
                <a:spLocks noRot="1" noChangeAspect="1" noMove="1" noResize="1" noEditPoints="1" noAdjustHandles="1" noChangeArrowheads="1" noChangeShapeType="1" noTextEdit="1"/>
              </p:cNvSpPr>
              <p:nvPr/>
            </p:nvSpPr>
            <p:spPr>
              <a:xfrm>
                <a:off x="884583" y="891103"/>
                <a:ext cx="4512365" cy="369332"/>
              </a:xfrm>
              <a:prstGeom prst="rect">
                <a:avLst/>
              </a:prstGeom>
              <a:blipFill>
                <a:blip r:embed="rId2"/>
                <a:stretch>
                  <a:fillRect l="-1081" t="-8197" r="-6216"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0324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5A3E6D2-036D-4982-BA42-15051B53D5B3}"/>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极大理想</a:t>
            </a:r>
          </a:p>
        </p:txBody>
      </p:sp>
      <p:sp>
        <p:nvSpPr>
          <p:cNvPr id="12" name="矩形 11">
            <a:extLst>
              <a:ext uri="{FF2B5EF4-FFF2-40B4-BE49-F238E27FC236}">
                <a16:creationId xmlns:a16="http://schemas.microsoft.com/office/drawing/2014/main" id="{8869BEB9-B7B2-43EA-B6DD-A4266D064F1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7C3FD11A-46B8-4292-86B3-6F7A09EBDC5B}"/>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高斯整环上极大理想的证明练习（二）</a:t>
            </a:r>
          </a:p>
        </p:txBody>
      </p:sp>
      <p:sp>
        <p:nvSpPr>
          <p:cNvPr id="14" name="矩形 13">
            <a:extLst>
              <a:ext uri="{FF2B5EF4-FFF2-40B4-BE49-F238E27FC236}">
                <a16:creationId xmlns:a16="http://schemas.microsoft.com/office/drawing/2014/main" id="{DDC574CF-F156-4614-AC17-10B0AB2E5601}"/>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C26F7A16-F223-474E-A8D5-13B2EEAA0B52}"/>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9645EAFE-C91F-4DCE-817A-669EA977D274}"/>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201F7661-F374-4557-9C7E-3BA007C4B471}" type="slidenum">
              <a:rPr lang="en-US" altLang="zh-CN" sz="1400" smtClean="0">
                <a:latin typeface="Arial" panose="020B0604020202020204" pitchFamily="34" charset="0"/>
                <a:ea typeface="楷体" panose="02010609060101010101" pitchFamily="49" charset="-122"/>
                <a:cs typeface="Arial" panose="020B0604020202020204" pitchFamily="34" charset="0"/>
              </a:rPr>
              <a:t>30</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A0D2299-C435-4255-B736-3F6DCB397A73}"/>
                  </a:ext>
                </a:extLst>
              </p:cNvPr>
              <p:cNvSpPr txBox="1"/>
              <p:nvPr/>
            </p:nvSpPr>
            <p:spPr>
              <a:xfrm>
                <a:off x="884583" y="891103"/>
                <a:ext cx="4512365" cy="369332"/>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证明高斯整环</a:t>
                </a:r>
                <a14:m>
                  <m:oMath xmlns:m="http://schemas.openxmlformats.org/officeDocument/2006/math">
                    <m:r>
                      <a:rPr lang="en-US" altLang="zh-CN" b="1" i="1" smtClean="0">
                        <a:solidFill>
                          <a:schemeClr val="accent2">
                            <a:lumMod val="50000"/>
                          </a:schemeClr>
                        </a:solidFill>
                        <a:latin typeface="Cambria Math" panose="02040503050406030204" pitchFamily="18" charset="0"/>
                      </a:rPr>
                      <m:t>ℤ</m:t>
                    </m:r>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0" smtClean="0">
                            <a:solidFill>
                              <a:schemeClr val="accent2">
                                <a:lumMod val="50000"/>
                              </a:schemeClr>
                            </a:solidFill>
                            <a:latin typeface="Cambria Math" panose="02040503050406030204" pitchFamily="18" charset="0"/>
                          </a:rPr>
                          <m:t>𝐢</m:t>
                        </m:r>
                      </m:e>
                    </m:d>
                  </m:oMath>
                </a14:m>
                <a:r>
                  <a:rPr lang="zh-CN" altLang="en-US" b="1">
                    <a:solidFill>
                      <a:schemeClr val="accent2">
                        <a:lumMod val="50000"/>
                      </a:schemeClr>
                    </a:solidFill>
                  </a:rPr>
                  <a:t>的主理想</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𝟑</m:t>
                        </m:r>
                      </m:e>
                    </m:d>
                  </m:oMath>
                </a14:m>
                <a:r>
                  <a:rPr lang="zh-CN" altLang="en-US" b="1">
                    <a:solidFill>
                      <a:schemeClr val="accent2">
                        <a:lumMod val="50000"/>
                      </a:schemeClr>
                    </a:solidFill>
                  </a:rPr>
                  <a:t>是极大理想。</a:t>
                </a:r>
              </a:p>
            </p:txBody>
          </p:sp>
        </mc:Choice>
        <mc:Fallback xmlns="">
          <p:sp>
            <p:nvSpPr>
              <p:cNvPr id="2" name="文本框 1">
                <a:extLst>
                  <a:ext uri="{FF2B5EF4-FFF2-40B4-BE49-F238E27FC236}">
                    <a16:creationId xmlns:a16="http://schemas.microsoft.com/office/drawing/2014/main" id="{DA0D2299-C435-4255-B736-3F6DCB397A73}"/>
                  </a:ext>
                </a:extLst>
              </p:cNvPr>
              <p:cNvSpPr txBox="1">
                <a:spLocks noRot="1" noChangeAspect="1" noMove="1" noResize="1" noEditPoints="1" noAdjustHandles="1" noChangeArrowheads="1" noChangeShapeType="1" noTextEdit="1"/>
              </p:cNvSpPr>
              <p:nvPr/>
            </p:nvSpPr>
            <p:spPr>
              <a:xfrm>
                <a:off x="884583" y="891103"/>
                <a:ext cx="4512365" cy="369332"/>
              </a:xfrm>
              <a:prstGeom prst="rect">
                <a:avLst/>
              </a:prstGeom>
              <a:blipFill>
                <a:blip r:embed="rId2"/>
                <a:stretch>
                  <a:fillRect l="-1081" t="-8197" r="-6216" b="-24590"/>
                </a:stretch>
              </a:blipFill>
            </p:spPr>
            <p:txBody>
              <a:bodyPr/>
              <a:lstStyle/>
              <a:p>
                <a:r>
                  <a:rPr lang="zh-CN" altLang="en-US">
                    <a:noFill/>
                  </a:rPr>
                  <a:t> </a:t>
                </a:r>
              </a:p>
            </p:txBody>
          </p:sp>
        </mc:Fallback>
      </mc:AlternateContent>
      <p:sp>
        <p:nvSpPr>
          <p:cNvPr id="7" name="矩形: 圆角 6">
            <a:extLst>
              <a:ext uri="{FF2B5EF4-FFF2-40B4-BE49-F238E27FC236}">
                <a16:creationId xmlns:a16="http://schemas.microsoft.com/office/drawing/2014/main" id="{38C4FEF8-D260-4B82-AC40-D7A00970087A}"/>
              </a:ext>
            </a:extLst>
          </p:cNvPr>
          <p:cNvSpPr/>
          <p:nvPr/>
        </p:nvSpPr>
        <p:spPr>
          <a:xfrm>
            <a:off x="884583" y="1466023"/>
            <a:ext cx="7374834" cy="2963738"/>
          </a:xfrm>
          <a:prstGeom prst="roundRect">
            <a:avLst>
              <a:gd name="adj" fmla="val 4931"/>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CCD5DA76-C1A7-4D70-BAEF-30218E5DDE18}"/>
              </a:ext>
            </a:extLst>
          </p:cNvPr>
          <p:cNvPicPr>
            <a:picLocks noChangeAspect="1"/>
          </p:cNvPicPr>
          <p:nvPr/>
        </p:nvPicPr>
        <p:blipFill>
          <a:blip r:embed="rId3"/>
          <a:stretch>
            <a:fillRect/>
          </a:stretch>
        </p:blipFill>
        <p:spPr>
          <a:xfrm>
            <a:off x="948267" y="1508630"/>
            <a:ext cx="7254240" cy="2854816"/>
          </a:xfrm>
          <a:prstGeom prst="rect">
            <a:avLst/>
          </a:prstGeom>
        </p:spPr>
      </p:pic>
    </p:spTree>
    <p:extLst>
      <p:ext uri="{BB962C8B-B14F-4D97-AF65-F5344CB8AC3E}">
        <p14:creationId xmlns:p14="http://schemas.microsoft.com/office/powerpoint/2010/main" val="272036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550948-0A88-4D14-B7D1-47069CABE5F1}"/>
              </a:ext>
            </a:extLst>
          </p:cNvPr>
          <p:cNvSpPr txBox="1"/>
          <p:nvPr/>
        </p:nvSpPr>
        <p:spPr>
          <a:xfrm>
            <a:off x="659885" y="862600"/>
            <a:ext cx="7824223" cy="2267287"/>
          </a:xfrm>
          <a:prstGeom prst="rect">
            <a:avLst/>
          </a:prstGeom>
          <a:solidFill>
            <a:schemeClr val="accent5">
              <a:lumMod val="20000"/>
              <a:lumOff val="80000"/>
              <a:alpha val="50000"/>
            </a:schemeClr>
          </a:solidFill>
        </p:spPr>
        <p:txBody>
          <a:bodyPr wrap="square" rtlCol="0">
            <a:spAutoFit/>
          </a:bodyPr>
          <a:lstStyle/>
          <a:p>
            <a:pPr algn="ctr">
              <a:spcBef>
                <a:spcPts val="450"/>
              </a:spcBef>
              <a:spcAft>
                <a:spcPts val="450"/>
              </a:spcAft>
            </a:pPr>
            <a:r>
              <a:rPr lang="zh-CN" altLang="en-US" b="1">
                <a:solidFill>
                  <a:srgbClr val="002060"/>
                </a:solidFill>
              </a:rPr>
              <a:t>素理想与极大理想</a:t>
            </a:r>
            <a:endParaRPr lang="zh-CN" altLang="en-US" sz="1800" b="1">
              <a:solidFill>
                <a:srgbClr val="002060"/>
              </a:solidFill>
            </a:endParaRPr>
          </a:p>
          <a:p>
            <a:pPr marL="257175" indent="-257175">
              <a:spcBef>
                <a:spcPts val="450"/>
              </a:spcBef>
              <a:spcAft>
                <a:spcPts val="450"/>
              </a:spcAft>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交换环的素理想是环的任意两个元素乘积属于该理想，则这两个元素中至少有一个元素属于该理想</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marL="257175" indent="-257175">
              <a:spcBef>
                <a:spcPts val="450"/>
              </a:spcBef>
              <a:spcAft>
                <a:spcPts val="450"/>
              </a:spcAft>
              <a:buFont typeface="Arial" panose="020B0604020202020204" pitchFamily="34" charset="0"/>
              <a:buChar char="•"/>
            </a:pPr>
            <a:r>
              <a:rPr lang="zh-CN" altLang="en-US" sz="1800" b="1">
                <a:solidFill>
                  <a:schemeClr val="accent6">
                    <a:lumMod val="50000"/>
                  </a:schemeClr>
                </a:solidFill>
                <a:latin typeface="楷体" panose="02010609060101010101" pitchFamily="49" charset="-122"/>
                <a:ea typeface="楷体" panose="02010609060101010101" pitchFamily="49" charset="-122"/>
              </a:rPr>
              <a:t>一个理想是有单位元交换环的素理想当且仅当环关于该理想的商环是整环</a:t>
            </a:r>
            <a:endParaRPr lang="en-US" altLang="zh-CN" sz="1800" b="1">
              <a:solidFill>
                <a:schemeClr val="accent6">
                  <a:lumMod val="50000"/>
                </a:schemeClr>
              </a:solidFill>
              <a:latin typeface="楷体" panose="02010609060101010101" pitchFamily="49" charset="-122"/>
              <a:ea typeface="楷体" panose="02010609060101010101" pitchFamily="49" charset="-122"/>
            </a:endParaRPr>
          </a:p>
          <a:p>
            <a:pPr marL="257175" indent="-257175">
              <a:spcBef>
                <a:spcPts val="450"/>
              </a:spcBef>
              <a:spcAft>
                <a:spcPts val="450"/>
              </a:spcAft>
              <a:buFont typeface="Arial" panose="020B0604020202020204" pitchFamily="34" charset="0"/>
              <a:buChar char="•"/>
            </a:pPr>
            <a:r>
              <a:rPr lang="zh-CN" altLang="en-US" sz="1800" b="1">
                <a:solidFill>
                  <a:schemeClr val="accent6">
                    <a:lumMod val="50000"/>
                  </a:schemeClr>
                </a:solidFill>
                <a:latin typeface="楷体" panose="02010609060101010101" pitchFamily="49" charset="-122"/>
                <a:ea typeface="楷体" panose="02010609060101010101" pitchFamily="49" charset="-122"/>
              </a:rPr>
              <a:t>环的极大理想是真包含这个理想的理想只能是环本身</a:t>
            </a:r>
            <a:endParaRPr lang="en-US" altLang="zh-CN" sz="1800" b="1">
              <a:solidFill>
                <a:schemeClr val="accent6">
                  <a:lumMod val="50000"/>
                </a:schemeClr>
              </a:solidFill>
              <a:latin typeface="楷体" panose="02010609060101010101" pitchFamily="49" charset="-122"/>
              <a:ea typeface="楷体" panose="02010609060101010101" pitchFamily="49" charset="-122"/>
            </a:endParaRPr>
          </a:p>
          <a:p>
            <a:pPr marL="257175" indent="-257175">
              <a:spcBef>
                <a:spcPts val="450"/>
              </a:spcBef>
              <a:spcAft>
                <a:spcPts val="450"/>
              </a:spcAft>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一个理想是有单位元交换环的极大理想当且仅当环关于该理想的商环是域</a:t>
            </a:r>
            <a:endParaRPr lang="en-US" altLang="zh-CN" sz="1800" b="1">
              <a:solidFill>
                <a:schemeClr val="accent6">
                  <a:lumMod val="50000"/>
                </a:schemeClr>
              </a:solidFill>
              <a:latin typeface="楷体" panose="02010609060101010101" pitchFamily="49" charset="-122"/>
              <a:ea typeface="楷体" panose="02010609060101010101" pitchFamily="49" charset="-122"/>
            </a:endParaRPr>
          </a:p>
        </p:txBody>
      </p:sp>
      <p:sp>
        <p:nvSpPr>
          <p:cNvPr id="4" name="文本框 3">
            <a:extLst>
              <a:ext uri="{FF2B5EF4-FFF2-40B4-BE49-F238E27FC236}">
                <a16:creationId xmlns:a16="http://schemas.microsoft.com/office/drawing/2014/main" id="{79046192-3E11-4E79-BCD3-91093B8CC99E}"/>
              </a:ext>
            </a:extLst>
          </p:cNvPr>
          <p:cNvSpPr txBox="1"/>
          <p:nvPr/>
        </p:nvSpPr>
        <p:spPr>
          <a:xfrm>
            <a:off x="659885" y="3364516"/>
            <a:ext cx="7824222" cy="1179810"/>
          </a:xfrm>
          <a:prstGeom prst="rect">
            <a:avLst/>
          </a:prstGeom>
          <a:solidFill>
            <a:schemeClr val="accent2">
              <a:lumMod val="20000"/>
              <a:lumOff val="80000"/>
            </a:schemeClr>
          </a:solidFill>
        </p:spPr>
        <p:txBody>
          <a:bodyPr wrap="square" rtlCol="0">
            <a:spAutoFit/>
          </a:bodyPr>
          <a:lstStyle/>
          <a:p>
            <a:pPr algn="ctr">
              <a:spcAft>
                <a:spcPts val="450"/>
              </a:spcAft>
            </a:pPr>
            <a:r>
              <a:rPr lang="zh-CN" altLang="en-US" sz="1800" b="1">
                <a:solidFill>
                  <a:srgbClr val="C00000"/>
                </a:solidFill>
              </a:rPr>
              <a:t>学习这一部分的目标</a:t>
            </a:r>
          </a:p>
          <a:p>
            <a:pPr marL="257175" indent="-257175">
              <a:spcBef>
                <a:spcPts val="450"/>
              </a:spcBef>
              <a:spcAft>
                <a:spcPts val="450"/>
              </a:spcAft>
              <a:buFont typeface="Arial" panose="020B0604020202020204" pitchFamily="34" charset="0"/>
              <a:buChar char="•"/>
            </a:pPr>
            <a:r>
              <a:rPr lang="zh-CN" altLang="en-US" sz="1800" b="1">
                <a:solidFill>
                  <a:schemeClr val="accent2">
                    <a:lumMod val="50000"/>
                  </a:schemeClr>
                </a:solidFill>
                <a:latin typeface="楷体" panose="02010609060101010101" pitchFamily="49" charset="-122"/>
                <a:ea typeface="楷体" panose="02010609060101010101" pitchFamily="49" charset="-122"/>
              </a:rPr>
              <a:t>熟悉素理想和极大理想定义，及素理想与整环、极大理想和域之间的联系</a:t>
            </a:r>
            <a:endParaRPr lang="en-US" altLang="zh-CN" sz="1800" b="1">
              <a:solidFill>
                <a:schemeClr val="accent2">
                  <a:lumMod val="50000"/>
                </a:schemeClr>
              </a:solidFill>
              <a:latin typeface="楷体" panose="02010609060101010101" pitchFamily="49" charset="-122"/>
              <a:ea typeface="楷体" panose="02010609060101010101" pitchFamily="49" charset="-122"/>
            </a:endParaRPr>
          </a:p>
          <a:p>
            <a:pPr marL="257175" indent="-257175">
              <a:spcBef>
                <a:spcPts val="450"/>
              </a:spcBef>
              <a:spcAft>
                <a:spcPts val="450"/>
              </a:spcAft>
              <a:buFont typeface="Arial" panose="020B0604020202020204" pitchFamily="34" charset="0"/>
              <a:buChar char="•"/>
            </a:pPr>
            <a:r>
              <a:rPr lang="zh-CN" altLang="en-US" sz="1800" b="1">
                <a:solidFill>
                  <a:schemeClr val="accent2">
                    <a:lumMod val="50000"/>
                  </a:schemeClr>
                </a:solidFill>
                <a:latin typeface="楷体" panose="02010609060101010101" pitchFamily="49" charset="-122"/>
                <a:ea typeface="楷体" panose="02010609060101010101" pitchFamily="49" charset="-122"/>
              </a:rPr>
              <a:t>能证明一个理想是否是素理想或极大理想</a:t>
            </a:r>
          </a:p>
        </p:txBody>
      </p:sp>
      <p:sp>
        <p:nvSpPr>
          <p:cNvPr id="11" name="矩形 10">
            <a:extLst>
              <a:ext uri="{FF2B5EF4-FFF2-40B4-BE49-F238E27FC236}">
                <a16:creationId xmlns:a16="http://schemas.microsoft.com/office/drawing/2014/main" id="{33C5F06C-13F4-4700-A74A-50AE597C58B1}"/>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总结</a:t>
            </a:r>
          </a:p>
        </p:txBody>
      </p:sp>
      <p:sp>
        <p:nvSpPr>
          <p:cNvPr id="12" name="矩形 11">
            <a:extLst>
              <a:ext uri="{FF2B5EF4-FFF2-40B4-BE49-F238E27FC236}">
                <a16:creationId xmlns:a16="http://schemas.microsoft.com/office/drawing/2014/main" id="{031AB877-3368-4FFC-9613-CFD7F9DE434E}"/>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3" name="矩形 12">
            <a:extLst>
              <a:ext uri="{FF2B5EF4-FFF2-40B4-BE49-F238E27FC236}">
                <a16:creationId xmlns:a16="http://schemas.microsoft.com/office/drawing/2014/main" id="{8EE550E3-E368-4444-865C-D1511A0ABEDF}"/>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总结</a:t>
            </a:r>
          </a:p>
        </p:txBody>
      </p:sp>
      <p:sp>
        <p:nvSpPr>
          <p:cNvPr id="14" name="矩形 13">
            <a:extLst>
              <a:ext uri="{FF2B5EF4-FFF2-40B4-BE49-F238E27FC236}">
                <a16:creationId xmlns:a16="http://schemas.microsoft.com/office/drawing/2014/main" id="{753CC005-3633-4177-82A7-AAC95BDF90FD}"/>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5" name="矩形 14">
            <a:extLst>
              <a:ext uri="{FF2B5EF4-FFF2-40B4-BE49-F238E27FC236}">
                <a16:creationId xmlns:a16="http://schemas.microsoft.com/office/drawing/2014/main" id="{FEED2EB6-7339-4103-AB2C-C889032943F8}"/>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6" name="矩形 15">
            <a:extLst>
              <a:ext uri="{FF2B5EF4-FFF2-40B4-BE49-F238E27FC236}">
                <a16:creationId xmlns:a16="http://schemas.microsoft.com/office/drawing/2014/main" id="{D316D71E-13E4-4E7F-BFA5-D05D8033C3FF}"/>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CF1BE71F-FA69-411D-BD7B-4CB93A594B2D}" type="slidenum">
              <a:rPr lang="en-US" altLang="zh-CN" sz="1400" smtClean="0">
                <a:latin typeface="Arial" panose="020B0604020202020204" pitchFamily="34" charset="0"/>
                <a:ea typeface="楷体" panose="02010609060101010101" pitchFamily="49" charset="-122"/>
                <a:cs typeface="Arial" panose="020B0604020202020204" pitchFamily="34" charset="0"/>
              </a:rPr>
              <a:t>31</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375313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EF1AFF-D150-4D24-BB32-695DDFCBCE6E}"/>
              </a:ext>
            </a:extLst>
          </p:cNvPr>
          <p:cNvSpPr txBox="1"/>
          <p:nvPr/>
        </p:nvSpPr>
        <p:spPr>
          <a:xfrm>
            <a:off x="796222" y="1754799"/>
            <a:ext cx="6827897" cy="461665"/>
          </a:xfrm>
          <a:prstGeom prst="rect">
            <a:avLst/>
          </a:prstGeom>
          <a:solidFill>
            <a:schemeClr val="accent4">
              <a:lumMod val="20000"/>
              <a:lumOff val="80000"/>
            </a:schemeClr>
          </a:solidFill>
        </p:spPr>
        <p:txBody>
          <a:bodyPr wrap="square" rtlCol="0">
            <a:spAutoFit/>
          </a:bodyPr>
          <a:lstStyle/>
          <a:p>
            <a:r>
              <a:rPr lang="zh-CN" altLang="en-US" sz="2400" b="1">
                <a:solidFill>
                  <a:srgbClr val="C00000"/>
                </a:solidFill>
                <a:latin typeface="Arial" panose="020B0604020202020204" pitchFamily="34" charset="0"/>
                <a:ea typeface="楷体" panose="02010609060101010101" pitchFamily="49" charset="-122"/>
                <a:cs typeface="Arial" panose="020B0604020202020204" pitchFamily="34" charset="0"/>
              </a:rPr>
              <a:t>在线课程平台练习（素理想与极大理想部分）！</a:t>
            </a:r>
            <a:endParaRPr lang="zh-CN" altLang="en-US" sz="24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
        <p:nvSpPr>
          <p:cNvPr id="11" name="矩形 10">
            <a:extLst>
              <a:ext uri="{FF2B5EF4-FFF2-40B4-BE49-F238E27FC236}">
                <a16:creationId xmlns:a16="http://schemas.microsoft.com/office/drawing/2014/main" id="{F6CC8CC8-7EDC-415B-B810-AAB219ACED13}"/>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2" name="矩形 11">
            <a:extLst>
              <a:ext uri="{FF2B5EF4-FFF2-40B4-BE49-F238E27FC236}">
                <a16:creationId xmlns:a16="http://schemas.microsoft.com/office/drawing/2014/main" id="{4183F4F5-7F97-4CED-B3A1-14F3C9811897}"/>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3" name="矩形 12">
            <a:extLst>
              <a:ext uri="{FF2B5EF4-FFF2-40B4-BE49-F238E27FC236}">
                <a16:creationId xmlns:a16="http://schemas.microsoft.com/office/drawing/2014/main" id="{956627BE-7107-49BE-A498-826F3842F409}"/>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    </a:t>
            </a:r>
            <a:fld id="{D2BFF262-CF58-4B19-84BB-A52050DCEE8A}" type="slidenum">
              <a:rPr lang="en-US" altLang="zh-CN" sz="1400" smtClean="0">
                <a:latin typeface="Arial" panose="020B0604020202020204" pitchFamily="34" charset="0"/>
                <a:ea typeface="楷体" panose="02010609060101010101" pitchFamily="49" charset="-122"/>
                <a:cs typeface="Arial" panose="020B0604020202020204" pitchFamily="34" charset="0"/>
              </a:rPr>
              <a:t>32</a:t>
            </a:fld>
            <a:r>
              <a:rPr lang="en-US" altLang="zh-CN" sz="1400">
                <a:latin typeface="Arial" panose="020B0604020202020204" pitchFamily="34" charset="0"/>
                <a:ea typeface="楷体" panose="02010609060101010101" pitchFamily="49" charset="-122"/>
                <a:cs typeface="Arial" panose="020B0604020202020204" pitchFamily="34" charset="0"/>
              </a:rPr>
              <a:t>/32</a:t>
            </a:r>
            <a:endParaRPr lang="zh-CN" altLang="en-US" sz="1400">
              <a:latin typeface="Arial" panose="020B0604020202020204" pitchFamily="34" charset="0"/>
              <a:ea typeface="楷体" panose="02010609060101010101" pitchFamily="49" charset="-122"/>
              <a:cs typeface="Arial" panose="020B0604020202020204" pitchFamily="34" charset="0"/>
            </a:endParaRPr>
          </a:p>
        </p:txBody>
      </p:sp>
      <p:sp>
        <p:nvSpPr>
          <p:cNvPr id="18" name="矩形 17">
            <a:extLst>
              <a:ext uri="{FF2B5EF4-FFF2-40B4-BE49-F238E27FC236}">
                <a16:creationId xmlns:a16="http://schemas.microsoft.com/office/drawing/2014/main" id="{38D040D8-C82F-4BD4-B428-4ECA0AC4E742}"/>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200">
                <a:latin typeface="楷体" panose="02010609060101010101" pitchFamily="49" charset="-122"/>
                <a:ea typeface="楷体" panose="02010609060101010101" pitchFamily="49" charset="-122"/>
              </a:rPr>
              <a:t>作业</a:t>
            </a:r>
          </a:p>
        </p:txBody>
      </p:sp>
      <p:sp>
        <p:nvSpPr>
          <p:cNvPr id="19" name="矩形 18">
            <a:extLst>
              <a:ext uri="{FF2B5EF4-FFF2-40B4-BE49-F238E27FC236}">
                <a16:creationId xmlns:a16="http://schemas.microsoft.com/office/drawing/2014/main" id="{1CDF40A9-6D3E-4591-BC81-1F0D9F0DCEC5}"/>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20" name="矩形 19">
            <a:extLst>
              <a:ext uri="{FF2B5EF4-FFF2-40B4-BE49-F238E27FC236}">
                <a16:creationId xmlns:a16="http://schemas.microsoft.com/office/drawing/2014/main" id="{0FD7F494-7D4C-4480-A38A-430AACDA8F80}"/>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t>作业</a:t>
            </a:r>
          </a:p>
        </p:txBody>
      </p:sp>
      <p:sp>
        <p:nvSpPr>
          <p:cNvPr id="9" name="文本框 8">
            <a:extLst>
              <a:ext uri="{FF2B5EF4-FFF2-40B4-BE49-F238E27FC236}">
                <a16:creationId xmlns:a16="http://schemas.microsoft.com/office/drawing/2014/main" id="{745A2355-D6F6-43B7-B2EC-B55B36A14285}"/>
              </a:ext>
            </a:extLst>
          </p:cNvPr>
          <p:cNvSpPr txBox="1"/>
          <p:nvPr/>
        </p:nvSpPr>
        <p:spPr>
          <a:xfrm>
            <a:off x="796222" y="2856070"/>
            <a:ext cx="7348896" cy="830997"/>
          </a:xfrm>
          <a:prstGeom prst="rect">
            <a:avLst/>
          </a:prstGeom>
          <a:solidFill>
            <a:schemeClr val="accent4">
              <a:lumMod val="20000"/>
              <a:lumOff val="80000"/>
            </a:schemeClr>
          </a:solidFill>
        </p:spPr>
        <p:txBody>
          <a:bodyPr wrap="square" rtlCol="0">
            <a:spAutoFit/>
          </a:bodyPr>
          <a:lstStyle/>
          <a:p>
            <a:r>
              <a:rPr lang="zh-CN" altLang="en-US" sz="2400" b="1">
                <a:solidFill>
                  <a:srgbClr val="C00000"/>
                </a:solidFill>
                <a:latin typeface="Arial" panose="020B0604020202020204" pitchFamily="34" charset="0"/>
                <a:ea typeface="楷体" panose="02010609060101010101" pitchFamily="49" charset="-122"/>
                <a:cs typeface="Arial" panose="020B0604020202020204" pitchFamily="34" charset="0"/>
              </a:rPr>
              <a:t>教材习题可尝试完成习题</a:t>
            </a:r>
            <a:r>
              <a:rPr lang="en-US" altLang="zh-CN" sz="2400" b="1">
                <a:solidFill>
                  <a:srgbClr val="C00000"/>
                </a:solidFill>
                <a:latin typeface="Arial" panose="020B0604020202020204" pitchFamily="34" charset="0"/>
                <a:ea typeface="楷体" panose="02010609060101010101" pitchFamily="49" charset="-122"/>
                <a:cs typeface="Arial" panose="020B0604020202020204" pitchFamily="34" charset="0"/>
              </a:rPr>
              <a:t>3-5</a:t>
            </a:r>
            <a:r>
              <a:rPr lang="zh-CN" altLang="en-US" sz="2400" b="1">
                <a:solidFill>
                  <a:srgbClr val="C00000"/>
                </a:solidFill>
                <a:latin typeface="Arial" panose="020B0604020202020204" pitchFamily="34" charset="0"/>
                <a:ea typeface="楷体" panose="02010609060101010101" pitchFamily="49" charset="-122"/>
                <a:cs typeface="Arial" panose="020B0604020202020204" pitchFamily="34" charset="0"/>
              </a:rPr>
              <a:t>的第</a:t>
            </a:r>
            <a:r>
              <a:rPr lang="en-US" altLang="zh-CN" sz="2400" b="1">
                <a:solidFill>
                  <a:srgbClr val="C00000"/>
                </a:solidFill>
                <a:latin typeface="Arial" panose="020B0604020202020204" pitchFamily="34" charset="0"/>
                <a:ea typeface="楷体" panose="02010609060101010101" pitchFamily="49" charset="-122"/>
                <a:cs typeface="Arial" panose="020B0604020202020204" pitchFamily="34" charset="0"/>
              </a:rPr>
              <a:t>1</a:t>
            </a:r>
            <a:r>
              <a:rPr lang="zh-CN" altLang="en-US" sz="2400" b="1">
                <a:solidFill>
                  <a:srgbClr val="C00000"/>
                </a:solidFill>
                <a:latin typeface="Arial" panose="020B0604020202020204" pitchFamily="34" charset="0"/>
                <a:ea typeface="楷体" panose="02010609060101010101" pitchFamily="49" charset="-122"/>
                <a:cs typeface="Arial" panose="020B0604020202020204" pitchFamily="34" charset="0"/>
              </a:rPr>
              <a:t>题至第</a:t>
            </a:r>
            <a:r>
              <a:rPr lang="en-US" altLang="zh-CN" sz="2400" b="1">
                <a:solidFill>
                  <a:srgbClr val="C00000"/>
                </a:solidFill>
                <a:latin typeface="Arial" panose="020B0604020202020204" pitchFamily="34" charset="0"/>
                <a:ea typeface="楷体" panose="02010609060101010101" pitchFamily="49" charset="-122"/>
                <a:cs typeface="Arial" panose="020B0604020202020204" pitchFamily="34" charset="0"/>
              </a:rPr>
              <a:t>3</a:t>
            </a:r>
            <a:r>
              <a:rPr lang="zh-CN" altLang="en-US" sz="2400" b="1">
                <a:solidFill>
                  <a:srgbClr val="C00000"/>
                </a:solidFill>
                <a:latin typeface="Arial" panose="020B0604020202020204" pitchFamily="34" charset="0"/>
                <a:ea typeface="楷体" panose="02010609060101010101" pitchFamily="49" charset="-122"/>
                <a:cs typeface="Arial" panose="020B0604020202020204" pitchFamily="34" charset="0"/>
              </a:rPr>
              <a:t>题、第</a:t>
            </a:r>
            <a:r>
              <a:rPr lang="en-US" altLang="zh-CN" sz="2400" b="1">
                <a:solidFill>
                  <a:srgbClr val="C00000"/>
                </a:solidFill>
                <a:latin typeface="Arial" panose="020B0604020202020204" pitchFamily="34" charset="0"/>
                <a:ea typeface="楷体" panose="02010609060101010101" pitchFamily="49" charset="-122"/>
                <a:cs typeface="Arial" panose="020B0604020202020204" pitchFamily="34" charset="0"/>
              </a:rPr>
              <a:t>6</a:t>
            </a:r>
            <a:r>
              <a:rPr lang="zh-CN" altLang="en-US" sz="2400" b="1">
                <a:solidFill>
                  <a:srgbClr val="C00000"/>
                </a:solidFill>
                <a:latin typeface="Arial" panose="020B0604020202020204" pitchFamily="34" charset="0"/>
                <a:ea typeface="楷体" panose="02010609060101010101" pitchFamily="49" charset="-122"/>
                <a:cs typeface="Arial" panose="020B0604020202020204" pitchFamily="34" charset="0"/>
              </a:rPr>
              <a:t>题至第</a:t>
            </a:r>
            <a:r>
              <a:rPr lang="en-US" altLang="zh-CN" sz="2400" b="1">
                <a:solidFill>
                  <a:srgbClr val="C00000"/>
                </a:solidFill>
                <a:latin typeface="Arial" panose="020B0604020202020204" pitchFamily="34" charset="0"/>
                <a:ea typeface="楷体" panose="02010609060101010101" pitchFamily="49" charset="-122"/>
                <a:cs typeface="Arial" panose="020B0604020202020204" pitchFamily="34" charset="0"/>
              </a:rPr>
              <a:t>18</a:t>
            </a:r>
            <a:r>
              <a:rPr lang="zh-CN" altLang="en-US" sz="2400" b="1">
                <a:solidFill>
                  <a:srgbClr val="C00000"/>
                </a:solidFill>
                <a:latin typeface="Arial" panose="020B0604020202020204" pitchFamily="34" charset="0"/>
                <a:ea typeface="楷体" panose="02010609060101010101" pitchFamily="49" charset="-122"/>
                <a:cs typeface="Arial" panose="020B0604020202020204" pitchFamily="34" charset="0"/>
              </a:rPr>
              <a:t>题！</a:t>
            </a:r>
            <a:endParaRPr lang="zh-CN" altLang="en-US" sz="24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656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3778FC1-0A49-4C7B-8763-0ABD47A13328}"/>
              </a:ext>
            </a:extLst>
          </p:cNvPr>
          <p:cNvSpPr txBox="1"/>
          <p:nvPr/>
        </p:nvSpPr>
        <p:spPr>
          <a:xfrm>
            <a:off x="1440939" y="1500963"/>
            <a:ext cx="6428759" cy="1815305"/>
          </a:xfrm>
          <a:prstGeom prst="rect">
            <a:avLst/>
          </a:prstGeom>
          <a:noFill/>
        </p:spPr>
        <p:txBody>
          <a:bodyPr wrap="square" rtlCol="0">
            <a:spAutoFit/>
          </a:bodyPr>
          <a:lstStyle/>
          <a:p>
            <a:pPr algn="ctr">
              <a:lnSpc>
                <a:spcPct val="200000"/>
              </a:lnSpc>
            </a:pPr>
            <a:r>
              <a:rPr lang="zh-CN" altLang="en-US" sz="3000">
                <a:solidFill>
                  <a:srgbClr val="C00000"/>
                </a:solidFill>
                <a:latin typeface="华文新魏" panose="02010800040101010101" pitchFamily="2" charset="-122"/>
                <a:ea typeface="华文新魏" panose="02010800040101010101" pitchFamily="2" charset="-122"/>
              </a:rPr>
              <a:t>谢谢大家！</a:t>
            </a:r>
            <a:endParaRPr lang="en-US" altLang="zh-CN" sz="3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3000">
                <a:solidFill>
                  <a:srgbClr val="C00000"/>
                </a:solidFill>
                <a:latin typeface="华文新魏" panose="02010800040101010101" pitchFamily="2" charset="-122"/>
                <a:ea typeface="华文新魏" panose="02010800040101010101" pitchFamily="2" charset="-122"/>
              </a:rPr>
              <a:t>有什么问题和建议请及时反馈给老师！</a:t>
            </a:r>
          </a:p>
        </p:txBody>
      </p:sp>
      <p:sp>
        <p:nvSpPr>
          <p:cNvPr id="11" name="矩形 10">
            <a:extLst>
              <a:ext uri="{FF2B5EF4-FFF2-40B4-BE49-F238E27FC236}">
                <a16:creationId xmlns:a16="http://schemas.microsoft.com/office/drawing/2014/main" id="{2183226F-FD7D-4839-BED4-AEBFFE411A57}"/>
              </a:ext>
            </a:extLst>
          </p:cNvPr>
          <p:cNvSpPr/>
          <p:nvPr/>
        </p:nvSpPr>
        <p:spPr>
          <a:xfrm>
            <a:off x="0" y="4926843"/>
            <a:ext cx="3039763" cy="207389"/>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代数结构</a:t>
            </a:r>
          </a:p>
        </p:txBody>
      </p:sp>
      <p:sp>
        <p:nvSpPr>
          <p:cNvPr id="12" name="矩形 11">
            <a:extLst>
              <a:ext uri="{FF2B5EF4-FFF2-40B4-BE49-F238E27FC236}">
                <a16:creationId xmlns:a16="http://schemas.microsoft.com/office/drawing/2014/main" id="{B6113707-B6C2-48CE-819B-21701DCC56A3}"/>
              </a:ext>
            </a:extLst>
          </p:cNvPr>
          <p:cNvSpPr/>
          <p:nvPr/>
        </p:nvSpPr>
        <p:spPr>
          <a:xfrm>
            <a:off x="3039763" y="4926841"/>
            <a:ext cx="3064476" cy="207389"/>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latin typeface="楷体" panose="02010609060101010101" pitchFamily="49" charset="-122"/>
                <a:ea typeface="楷体" panose="02010609060101010101" pitchFamily="49" charset="-122"/>
              </a:rPr>
              <a:t>第十一讲  素理想与极大理想</a:t>
            </a:r>
          </a:p>
        </p:txBody>
      </p:sp>
      <p:sp>
        <p:nvSpPr>
          <p:cNvPr id="13" name="矩形 12">
            <a:extLst>
              <a:ext uri="{FF2B5EF4-FFF2-40B4-BE49-F238E27FC236}">
                <a16:creationId xmlns:a16="http://schemas.microsoft.com/office/drawing/2014/main" id="{C8C9D032-921C-433D-91C0-C2F117D77F55}"/>
              </a:ext>
            </a:extLst>
          </p:cNvPr>
          <p:cNvSpPr/>
          <p:nvPr/>
        </p:nvSpPr>
        <p:spPr>
          <a:xfrm>
            <a:off x="6104238" y="4926841"/>
            <a:ext cx="3039762" cy="207389"/>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latin typeface="Arial" panose="020B0604020202020204" pitchFamily="34" charset="0"/>
                <a:ea typeface="楷体" panose="02010609060101010101" pitchFamily="49" charset="-122"/>
                <a:cs typeface="Arial" panose="020B0604020202020204" pitchFamily="34" charset="0"/>
              </a:rPr>
              <a:t>2024</a:t>
            </a:r>
            <a:r>
              <a:rPr lang="zh-CN" altLang="en-US" sz="1400">
                <a:latin typeface="Arial" panose="020B0604020202020204" pitchFamily="34" charset="0"/>
                <a:ea typeface="楷体" panose="02010609060101010101" pitchFamily="49" charset="-122"/>
                <a:cs typeface="Arial" panose="020B0604020202020204" pitchFamily="34" charset="0"/>
              </a:rPr>
              <a:t>年</a:t>
            </a:r>
            <a:r>
              <a:rPr lang="en-US" altLang="zh-CN" sz="1400">
                <a:latin typeface="Arial" panose="020B0604020202020204" pitchFamily="34" charset="0"/>
                <a:ea typeface="楷体" panose="02010609060101010101" pitchFamily="49" charset="-122"/>
                <a:cs typeface="Arial" panose="020B0604020202020204" pitchFamily="34" charset="0"/>
              </a:rPr>
              <a:t>5</a:t>
            </a:r>
            <a:r>
              <a:rPr lang="zh-CN" altLang="en-US" sz="1400">
                <a:latin typeface="Arial" panose="020B0604020202020204" pitchFamily="34" charset="0"/>
                <a:ea typeface="楷体" panose="02010609060101010101" pitchFamily="49" charset="-122"/>
                <a:cs typeface="Arial" panose="020B0604020202020204" pitchFamily="34" charset="0"/>
              </a:rPr>
              <a:t>月</a:t>
            </a:r>
          </a:p>
        </p:txBody>
      </p:sp>
      <p:sp>
        <p:nvSpPr>
          <p:cNvPr id="9" name="矩形 8">
            <a:extLst>
              <a:ext uri="{FF2B5EF4-FFF2-40B4-BE49-F238E27FC236}">
                <a16:creationId xmlns:a16="http://schemas.microsoft.com/office/drawing/2014/main" id="{2ED7340C-548D-4890-A315-72EA938BD920}"/>
              </a:ext>
            </a:extLst>
          </p:cNvPr>
          <p:cNvSpPr/>
          <p:nvPr/>
        </p:nvSpPr>
        <p:spPr>
          <a:xfrm>
            <a:off x="0" y="1"/>
            <a:ext cx="4572000" cy="20738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a:p>
        </p:txBody>
      </p:sp>
      <p:sp>
        <p:nvSpPr>
          <p:cNvPr id="10" name="矩形 9">
            <a:extLst>
              <a:ext uri="{FF2B5EF4-FFF2-40B4-BE49-F238E27FC236}">
                <a16:creationId xmlns:a16="http://schemas.microsoft.com/office/drawing/2014/main" id="{D1A708D7-0568-4958-823C-2A91B21DB047}"/>
              </a:ext>
            </a:extLst>
          </p:cNvPr>
          <p:cNvSpPr/>
          <p:nvPr/>
        </p:nvSpPr>
        <p:spPr>
          <a:xfrm>
            <a:off x="4572000" y="0"/>
            <a:ext cx="4572000" cy="207389"/>
          </a:xfrm>
          <a:prstGeom prst="rect">
            <a:avLst/>
          </a:prstGeom>
          <a:solidFill>
            <a:srgbClr val="371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3"/>
          </a:p>
        </p:txBody>
      </p:sp>
      <p:sp>
        <p:nvSpPr>
          <p:cNvPr id="14" name="矩形 13">
            <a:extLst>
              <a:ext uri="{FF2B5EF4-FFF2-40B4-BE49-F238E27FC236}">
                <a16:creationId xmlns:a16="http://schemas.microsoft.com/office/drawing/2014/main" id="{690CA99B-E615-4BA7-8851-D6FD4767EAE2}"/>
              </a:ext>
            </a:extLst>
          </p:cNvPr>
          <p:cNvSpPr/>
          <p:nvPr/>
        </p:nvSpPr>
        <p:spPr>
          <a:xfrm>
            <a:off x="-4" y="205268"/>
            <a:ext cx="9144003" cy="241757"/>
          </a:xfrm>
          <a:prstGeom prst="rect">
            <a:avLst/>
          </a:prstGeom>
          <a:solidFill>
            <a:srgbClr val="2106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400"/>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665</TotalTime>
  <Words>1375</Words>
  <Application>Microsoft Office PowerPoint</Application>
  <PresentationFormat>全屏显示(16:9)</PresentationFormat>
  <Paragraphs>212</Paragraphs>
  <Slides>33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33</vt:i4>
      </vt:variant>
    </vt:vector>
  </HeadingPairs>
  <TitlesOfParts>
    <vt:vector size="43" baseType="lpstr">
      <vt:lpstr>等线</vt:lpstr>
      <vt:lpstr>等线 Light</vt:lpstr>
      <vt:lpstr>仿宋</vt:lpstr>
      <vt:lpstr>华文新魏</vt:lpstr>
      <vt:lpstr>楷体</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Administrator</cp:lastModifiedBy>
  <cp:revision>49</cp:revision>
  <dcterms:created xsi:type="dcterms:W3CDTF">2022-01-01T06:39:40Z</dcterms:created>
  <dcterms:modified xsi:type="dcterms:W3CDTF">2024-05-17T00:11:48Z</dcterms:modified>
</cp:coreProperties>
</file>