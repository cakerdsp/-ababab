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12" r:id="rId3"/>
    <p:sldId id="259" r:id="rId4"/>
    <p:sldId id="257" r:id="rId5"/>
    <p:sldId id="281" r:id="rId6"/>
    <p:sldId id="282" r:id="rId7"/>
    <p:sldId id="313" r:id="rId8"/>
    <p:sldId id="318" r:id="rId9"/>
    <p:sldId id="314" r:id="rId10"/>
    <p:sldId id="319" r:id="rId11"/>
    <p:sldId id="315" r:id="rId12"/>
    <p:sldId id="320" r:id="rId13"/>
    <p:sldId id="321" r:id="rId14"/>
    <p:sldId id="316" r:id="rId15"/>
    <p:sldId id="322" r:id="rId16"/>
    <p:sldId id="325" r:id="rId17"/>
    <p:sldId id="323" r:id="rId18"/>
    <p:sldId id="326" r:id="rId19"/>
    <p:sldId id="327" r:id="rId20"/>
    <p:sldId id="328" r:id="rId21"/>
    <p:sldId id="324" r:id="rId22"/>
    <p:sldId id="329" r:id="rId23"/>
    <p:sldId id="317" r:id="rId24"/>
    <p:sldId id="336" r:id="rId25"/>
    <p:sldId id="330" r:id="rId26"/>
    <p:sldId id="335" r:id="rId27"/>
    <p:sldId id="331" r:id="rId28"/>
    <p:sldId id="337" r:id="rId29"/>
    <p:sldId id="332" r:id="rId30"/>
    <p:sldId id="333" r:id="rId31"/>
    <p:sldId id="339" r:id="rId32"/>
    <p:sldId id="340" r:id="rId33"/>
    <p:sldId id="338" r:id="rId34"/>
    <p:sldId id="272" r:id="rId35"/>
    <p:sldId id="280" r:id="rId36"/>
    <p:sldId id="262" r:id="rId3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0694"/>
    <a:srgbClr val="371E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92" d="100"/>
          <a:sy n="192" d="100"/>
        </p:scale>
        <p:origin x="17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2024/02/23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6547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2024/02/23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1679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2024/02/23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0769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2024/02/23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7364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2024/02/23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4515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2024/02/23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6345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2024/02/23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6682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2024/02/23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832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2024/02/23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329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2024/02/23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3347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2024/02/23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5141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10D257-3BE1-47F0-9688-13EF46E6FAF0}" type="datetimeFigureOut">
              <a:rPr lang="zh-CN" altLang="en-US" smtClean="0"/>
              <a:t>2024/02/23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7867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microsoft.com/office/2007/relationships/hdphoto" Target="../media/hdphoto1.wdp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第六讲  群的同态与同构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46C0D23-6A5A-47BD-83B5-60B9FA05041D}"/>
              </a:ext>
            </a:extLst>
          </p:cNvPr>
          <p:cNvSpPr/>
          <p:nvPr/>
        </p:nvSpPr>
        <p:spPr>
          <a:xfrm>
            <a:off x="1208579" y="872902"/>
            <a:ext cx="6726839" cy="667265"/>
          </a:xfrm>
          <a:prstGeom prst="round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b="1">
                <a:latin typeface="仿宋" panose="02010609060101010101" pitchFamily="49" charset="-122"/>
                <a:ea typeface="仿宋" panose="02010609060101010101" pitchFamily="49" charset="-122"/>
              </a:rPr>
              <a:t>第六讲</a:t>
            </a:r>
            <a:r>
              <a:rPr lang="en-US" altLang="zh-CN" sz="3600" b="1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zh-CN" altLang="en-US" sz="3600" b="1">
                <a:latin typeface="仿宋" panose="02010609060101010101" pitchFamily="49" charset="-122"/>
                <a:ea typeface="仿宋" panose="02010609060101010101" pitchFamily="49" charset="-122"/>
              </a:rPr>
              <a:t>群的同态与同构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2186A13-489D-4BF1-BCD8-41AAFE843C1D}"/>
              </a:ext>
            </a:extLst>
          </p:cNvPr>
          <p:cNvSpPr txBox="1"/>
          <p:nvPr/>
        </p:nvSpPr>
        <p:spPr>
          <a:xfrm>
            <a:off x="3279174" y="1912075"/>
            <a:ext cx="258565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000">
                <a:solidFill>
                  <a:srgbClr val="210694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周 晓 聪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823FD01-7095-40E0-8828-40A407B1D343}"/>
              </a:ext>
            </a:extLst>
          </p:cNvPr>
          <p:cNvSpPr txBox="1"/>
          <p:nvPr/>
        </p:nvSpPr>
        <p:spPr>
          <a:xfrm>
            <a:off x="2706131" y="2700512"/>
            <a:ext cx="38831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中山大学计算机学院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6DF14A9-8868-445D-A58B-8A6B893443C8}"/>
              </a:ext>
            </a:extLst>
          </p:cNvPr>
          <p:cNvSpPr txBox="1"/>
          <p:nvPr/>
        </p:nvSpPr>
        <p:spPr>
          <a:xfrm>
            <a:off x="3632887" y="3419732"/>
            <a:ext cx="2150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80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80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80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180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E9D504D-D016-457C-B1B1-69FCBBD6DCB5}"/>
              </a:ext>
            </a:extLst>
          </p:cNvPr>
          <p:cNvSpPr txBox="1"/>
          <p:nvPr/>
        </p:nvSpPr>
        <p:spPr>
          <a:xfrm>
            <a:off x="1278924" y="3966519"/>
            <a:ext cx="6820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800">
                <a:solidFill>
                  <a:srgbClr val="FF0000"/>
                </a:solidFill>
              </a:rPr>
              <a:t>isszxc@mail.sysu.edu.cn</a:t>
            </a:r>
            <a:endParaRPr lang="zh-CN" altLang="en-US" sz="1800">
              <a:solidFill>
                <a:srgbClr val="FF0000"/>
              </a:solidFill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D38FA017-AD09-4C1D-B9B8-FD57EA6CEE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4237" y="2334583"/>
            <a:ext cx="1324937" cy="1170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111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4572000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050">
                <a:latin typeface="楷体" panose="02010609060101010101" pitchFamily="49" charset="-122"/>
                <a:ea typeface="楷体" panose="02010609060101010101" pitchFamily="49" charset="-122"/>
              </a:rPr>
              <a:t>提示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4572000" y="0"/>
            <a:ext cx="4572000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4892475"/>
            <a:ext cx="3039763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3039763" y="4892473"/>
            <a:ext cx="3064476" cy="241757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第六讲  群的同态与同构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6104238" y="4892473"/>
            <a:ext cx="3039762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z="135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fld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/34</a:t>
            </a:r>
            <a:endParaRPr lang="zh-CN" altLang="en-US" sz="135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241757"/>
            <a:ext cx="9144002" cy="34446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350"/>
              <a:t>学习目标与学习重点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7E765DC-2D6D-4AC3-BAF6-7EEB0AC64C92}"/>
              </a:ext>
            </a:extLst>
          </p:cNvPr>
          <p:cNvSpPr txBox="1"/>
          <p:nvPr/>
        </p:nvSpPr>
        <p:spPr>
          <a:xfrm>
            <a:off x="1807513" y="1311736"/>
            <a:ext cx="5528972" cy="1210588"/>
          </a:xfrm>
          <a:prstGeom prst="rect">
            <a:avLst/>
          </a:prstGeom>
          <a:solidFill>
            <a:schemeClr val="accent2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lnSpc>
                <a:spcPts val="2400"/>
              </a:lnSpc>
              <a:spcBef>
                <a:spcPts val="450"/>
              </a:spcBef>
              <a:spcAft>
                <a:spcPts val="450"/>
              </a:spcAft>
            </a:pPr>
            <a:r>
              <a:rPr lang="zh-CN" altLang="en-US" sz="2100" b="1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学习目标</a:t>
            </a:r>
          </a:p>
          <a:p>
            <a:pPr marL="257175" indent="-257175"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rgbClr val="002060"/>
                </a:solidFill>
                <a:latin typeface="+mn-ea"/>
              </a:rPr>
              <a:t>能判断群之间的函数是否是同态</a:t>
            </a:r>
            <a:endParaRPr lang="zh-CN" altLang="zh-CN" b="1">
              <a:solidFill>
                <a:srgbClr val="002060"/>
              </a:solidFill>
              <a:latin typeface="+mn-ea"/>
            </a:endParaRPr>
          </a:p>
          <a:p>
            <a:pPr marL="257175" indent="-257175"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rgbClr val="002060"/>
                </a:solidFill>
                <a:latin typeface="+mn-ea"/>
              </a:rPr>
              <a:t>能证明与同态相关的简单命题</a:t>
            </a:r>
            <a:endParaRPr lang="en-US" altLang="zh-CN" b="1">
              <a:solidFill>
                <a:srgbClr val="002060"/>
              </a:solidFill>
              <a:latin typeface="+mn-ea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58A4FB3-E946-4AFE-AEF0-D0516B0DC2F8}"/>
              </a:ext>
            </a:extLst>
          </p:cNvPr>
          <p:cNvSpPr txBox="1"/>
          <p:nvPr/>
        </p:nvSpPr>
        <p:spPr>
          <a:xfrm>
            <a:off x="1383318" y="3145704"/>
            <a:ext cx="6377362" cy="872162"/>
          </a:xfrm>
          <a:prstGeom prst="rect">
            <a:avLst/>
          </a:prstGeom>
          <a:solidFill>
            <a:schemeClr val="accent4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lnSpc>
                <a:spcPts val="2400"/>
              </a:lnSpc>
              <a:spcBef>
                <a:spcPts val="900"/>
              </a:spcBef>
              <a:spcAft>
                <a:spcPts val="450"/>
              </a:spcAft>
            </a:pPr>
            <a:r>
              <a:rPr lang="zh-CN" altLang="en-US" sz="2100" b="1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学习重点</a:t>
            </a:r>
          </a:p>
          <a:p>
            <a:pPr marL="257175" indent="-257175">
              <a:lnSpc>
                <a:spcPts val="2400"/>
              </a:lnSpc>
              <a:spcBef>
                <a:spcPts val="90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chemeClr val="accent6">
                    <a:lumMod val="50000"/>
                  </a:schemeClr>
                </a:solidFill>
                <a:latin typeface="+mn-ea"/>
              </a:rPr>
              <a:t>如何判定一个函数是否是同态？群的同态有哪些基本性质？</a:t>
            </a:r>
            <a:endParaRPr lang="en-US" altLang="zh-CN" b="1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10469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内容提要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5BA4EFF-667B-4FC6-8446-13B52B94D7E0}"/>
              </a:ext>
            </a:extLst>
          </p:cNvPr>
          <p:cNvSpPr txBox="1"/>
          <p:nvPr/>
        </p:nvSpPr>
        <p:spPr>
          <a:xfrm>
            <a:off x="830425" y="1086007"/>
            <a:ext cx="3550298" cy="29142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群同态的定义与例子</a:t>
            </a:r>
            <a:endParaRPr lang="en-US" altLang="zh-CN" sz="24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4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群同构的基本例子</a:t>
            </a:r>
            <a:endParaRPr lang="en-US" altLang="zh-CN" sz="24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4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群同态的基本性质</a:t>
            </a:r>
            <a:endParaRPr lang="en-US" altLang="zh-CN" sz="24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4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群的同态基本定理</a:t>
            </a:r>
            <a:endParaRPr lang="en-US" altLang="zh-CN" sz="24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42470A3-17E0-4A28-9AF9-5A2F0FB0419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C32D6D5-FC5F-4988-89F0-E5114C49A15E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DE91CAA-7321-49F4-9733-065AE332399B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FD880B9-427D-4B2C-B60B-E79B30A493F1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第六讲  群的同态与同构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8FDFDF5-F81B-461A-AA68-EF7C48D09363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D96B9435-B891-4393-B68B-E3404920B5F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/34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2105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群同态的定义与例子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群同态的定义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第六讲  群的同态与同构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4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/34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B9F2BDB-9134-49AE-A55B-D8E85A25B7DA}"/>
                  </a:ext>
                </a:extLst>
              </p:cNvPr>
              <p:cNvSpPr txBox="1"/>
              <p:nvPr/>
            </p:nvSpPr>
            <p:spPr>
              <a:xfrm>
                <a:off x="1182286" y="879130"/>
                <a:ext cx="6779422" cy="345498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1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4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是两个群，函数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𝝋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p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如果满足：</a:t>
                </a:r>
                <a:endParaRPr lang="en-US" altLang="zh-CN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algn="ctr">
                  <a:lnSpc>
                    <a:spcPts val="24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𝝋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𝒂𝒃</m:t>
                        </m:r>
                      </m:e>
                    </m:d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𝝋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d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𝝋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</m:oMath>
                </a14:m>
                <a:endParaRPr lang="en-US" altLang="zh-CN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>
                  <a:lnSpc>
                    <a:spcPts val="24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则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𝝋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是群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</a:t>
                </a:r>
                <a:r>
                  <a:rPr lang="zh-CN" altLang="en-US" b="1">
                    <a:solidFill>
                      <a:srgbClr val="C00000"/>
                    </a:solidFill>
                  </a:rPr>
                  <a:t>同态</a:t>
                </a:r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</a:rPr>
                  <a:t>(homomorphism)</a:t>
                </a: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。如果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p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，则称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𝝋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为</a:t>
                </a:r>
                <a:r>
                  <a:rPr lang="zh-CN" altLang="en-US" b="1">
                    <a:solidFill>
                      <a:srgbClr val="C00000"/>
                    </a:solidFill>
                  </a:rPr>
                  <a:t>自同态</a:t>
                </a:r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</a:rPr>
                  <a:t>(automorphism)</a:t>
                </a: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。</a:t>
                </a:r>
              </a:p>
              <a:p>
                <a:pPr marL="285750" indent="-285750">
                  <a:lnSpc>
                    <a:spcPts val="24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如果同态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𝝋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p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是满函数，则称为</a:t>
                </a:r>
                <a:r>
                  <a:rPr lang="zh-CN" altLang="en-US" sz="1600" b="1">
                    <a:solidFill>
                      <a:srgbClr val="C00000"/>
                    </a:solidFill>
                    <a:latin typeface="+mn-ea"/>
                  </a:rPr>
                  <a:t>满同态</a:t>
                </a:r>
                <a:r>
                  <a:rPr lang="en-US" altLang="zh-CN" sz="1600" b="1">
                    <a:solidFill>
                      <a:srgbClr val="002060"/>
                    </a:solidFill>
                    <a:latin typeface="+mn-ea"/>
                  </a:rPr>
                  <a:t>(epimorphism)</a:t>
                </a:r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，并称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1600" b="1">
                    <a:solidFill>
                      <a:srgbClr val="C0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sz="1600" b="1">
                    <a:solidFill>
                      <a:srgbClr val="C0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同态</a:t>
                </a:r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，记为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𝝋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∼</m:t>
                    </m:r>
                    <m:sSup>
                      <m:sSupPr>
                        <m:ctrlP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p>
                        <m: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。</a:t>
                </a:r>
                <a:endParaRPr lang="en-US" altLang="zh-CN" sz="16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85750" indent="-285750">
                  <a:lnSpc>
                    <a:spcPts val="24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如果同态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𝝋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p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是单函数，则称为</a:t>
                </a:r>
                <a:r>
                  <a:rPr lang="zh-CN" altLang="en-US" sz="1600" b="1">
                    <a:solidFill>
                      <a:srgbClr val="C00000"/>
                    </a:solidFill>
                    <a:latin typeface="+mn-ea"/>
                  </a:rPr>
                  <a:t>单同态</a:t>
                </a:r>
                <a:r>
                  <a:rPr lang="en-US" altLang="zh-CN" sz="1600" b="1">
                    <a:solidFill>
                      <a:srgbClr val="002060"/>
                    </a:solidFill>
                    <a:latin typeface="+mn-ea"/>
                  </a:rPr>
                  <a:t>(monomorphism)</a:t>
                </a:r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。</a:t>
                </a:r>
                <a:endParaRPr lang="en-US" altLang="zh-CN" sz="16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85750" indent="-285750">
                  <a:lnSpc>
                    <a:spcPts val="24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如果同态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𝝋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p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是双函数，则称为</a:t>
                </a:r>
                <a:r>
                  <a:rPr lang="zh-CN" altLang="en-US" sz="1600" b="1">
                    <a:solidFill>
                      <a:srgbClr val="C00000"/>
                    </a:solidFill>
                    <a:latin typeface="+mn-ea"/>
                  </a:rPr>
                  <a:t>同构</a:t>
                </a:r>
                <a:r>
                  <a:rPr lang="en-US" altLang="zh-CN" sz="1600" b="1">
                    <a:solidFill>
                      <a:srgbClr val="002060"/>
                    </a:solidFill>
                    <a:latin typeface="+mn-ea"/>
                  </a:rPr>
                  <a:t>(isomorphism)</a:t>
                </a:r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，并称</a:t>
                </a:r>
                <a:r>
                  <a:rPr lang="zh-CN" altLang="en-US" sz="1600" b="1">
                    <a:solidFill>
                      <a:srgbClr val="C0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群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1600" b="1">
                    <a:solidFill>
                      <a:srgbClr val="C0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sz="1600" b="1">
                    <a:solidFill>
                      <a:srgbClr val="C0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同构</a:t>
                </a:r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，记为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𝝋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≅</m:t>
                    </m:r>
                    <m:sSup>
                      <m:sSupPr>
                        <m:ctrlP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p>
                        <m: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。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B9F2BDB-9134-49AE-A55B-D8E85A25B7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2286" y="879130"/>
                <a:ext cx="6779422" cy="3454985"/>
              </a:xfrm>
              <a:prstGeom prst="rect">
                <a:avLst/>
              </a:prstGeom>
              <a:blipFill>
                <a:blip r:embed="rId2"/>
                <a:stretch>
                  <a:fillRect l="-809" t="-353" b="-8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3122A543-302F-4DD7-9FCC-F84D0DD27339}"/>
                  </a:ext>
                </a:extLst>
              </p:cNvPr>
              <p:cNvSpPr txBox="1"/>
              <p:nvPr/>
            </p:nvSpPr>
            <p:spPr>
              <a:xfrm>
                <a:off x="6336196" y="933795"/>
                <a:ext cx="1953039" cy="678199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400"/>
                  </a:lnSpc>
                </a:pPr>
                <a14:m>
                  <m:oMath xmlns:m="http://schemas.openxmlformats.org/officeDocument/2006/math">
                    <m:r>
                      <a:rPr lang="en-US" altLang="zh-CN" sz="1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𝝋</m:t>
                    </m:r>
                    <m:d>
                      <m:dPr>
                        <m:ctrlPr>
                          <a:rPr lang="en-US" altLang="zh-CN" sz="1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d>
                    <m:r>
                      <a:rPr lang="en-US" altLang="zh-CN" sz="1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𝝋</m:t>
                    </m:r>
                    <m:d>
                      <m:dPr>
                        <m:ctrlPr>
                          <a:rPr lang="en-US" altLang="zh-CN" sz="1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1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sz="1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中的运算，而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𝒂𝒃</m:t>
                    </m:r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中的运算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3122A543-302F-4DD7-9FCC-F84D0DD273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6196" y="933795"/>
                <a:ext cx="1953039" cy="678199"/>
              </a:xfrm>
              <a:prstGeom prst="rect">
                <a:avLst/>
              </a:prstGeom>
              <a:blipFill>
                <a:blip r:embed="rId3"/>
                <a:stretch>
                  <a:fillRect l="-935" b="-99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2737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群同态的定义与例子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群同态保持单位元与逆元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第六讲  群的同态与同构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5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/34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A372D15C-254F-4059-A62E-A76608D7B642}"/>
              </a:ext>
            </a:extLst>
          </p:cNvPr>
          <p:cNvGrpSpPr/>
          <p:nvPr/>
        </p:nvGrpSpPr>
        <p:grpSpPr>
          <a:xfrm>
            <a:off x="1128088" y="926824"/>
            <a:ext cx="6887818" cy="854765"/>
            <a:chOff x="1118152" y="1028700"/>
            <a:chExt cx="6887818" cy="854765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8AFE9C86-C4A2-463A-829F-E432B9FD381B}"/>
                </a:ext>
              </a:extLst>
            </p:cNvPr>
            <p:cNvSpPr/>
            <p:nvPr/>
          </p:nvSpPr>
          <p:spPr>
            <a:xfrm>
              <a:off x="1118152" y="1028700"/>
              <a:ext cx="6887818" cy="854765"/>
            </a:xfrm>
            <a:prstGeom prst="roundRect">
              <a:avLst>
                <a:gd name="adj" fmla="val 910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EC8EFD03-C460-4457-98A4-064C86410C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75299" y="1069399"/>
              <a:ext cx="6793396" cy="764601"/>
            </a:xfrm>
            <a:prstGeom prst="rect">
              <a:avLst/>
            </a:prstGeom>
          </p:spPr>
        </p:pic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F374F26E-4D53-4AF1-A9FB-0F0C95E1EBD0}"/>
              </a:ext>
            </a:extLst>
          </p:cNvPr>
          <p:cNvGrpSpPr/>
          <p:nvPr/>
        </p:nvGrpSpPr>
        <p:grpSpPr>
          <a:xfrm>
            <a:off x="1128088" y="2027582"/>
            <a:ext cx="6887818" cy="2440056"/>
            <a:chOff x="1128088" y="2092187"/>
            <a:chExt cx="6887818" cy="2440056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788AA8F8-901B-499E-B2A1-1828BBCC3143}"/>
                </a:ext>
              </a:extLst>
            </p:cNvPr>
            <p:cNvSpPr/>
            <p:nvPr/>
          </p:nvSpPr>
          <p:spPr>
            <a:xfrm>
              <a:off x="1128088" y="2092187"/>
              <a:ext cx="6887818" cy="2440056"/>
            </a:xfrm>
            <a:prstGeom prst="roundRect">
              <a:avLst>
                <a:gd name="adj" fmla="val 404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DB01334E-8978-4369-9715-7D405DDCF1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69682" y="2132179"/>
              <a:ext cx="6804630" cy="236354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58734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群同态的定义与例子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群同态的例子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第六讲  群的同态与同构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67E5B0CF-9CF9-4EF2-9DE1-55386CD573EB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6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/34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0363749-95A2-4FA6-993B-E23513479798}"/>
                  </a:ext>
                </a:extLst>
              </p:cNvPr>
              <p:cNvSpPr txBox="1"/>
              <p:nvPr/>
            </p:nvSpPr>
            <p:spPr>
              <a:xfrm>
                <a:off x="757850" y="1965603"/>
                <a:ext cx="7628287" cy="105413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lnSpc>
                    <a:spcPts val="2500"/>
                  </a:lnSpc>
                  <a:defRPr sz="1600" b="1">
                    <a:solidFill>
                      <a:schemeClr val="accent2">
                        <a:lumMod val="50000"/>
                      </a:schemeClr>
                    </a:solidFill>
                  </a:defRPr>
                </a:lvl1pPr>
              </a:lstStyle>
              <a:p>
                <a:r>
                  <a:rPr lang="zh-CN" altLang="en-US"/>
                  <a:t>对于整数加群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ℤ</m:t>
                        </m:r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,+</m:t>
                        </m:r>
                      </m:e>
                    </m:d>
                  </m:oMath>
                </a14:m>
                <a:r>
                  <a:rPr lang="zh-CN" altLang="en-US"/>
                  <a:t>和模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/>
                  <a:t>加群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>
                                <a:latin typeface="Cambria Math" panose="02040503050406030204" pitchFamily="18" charset="0"/>
                              </a:rPr>
                              <m:t>ℤ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>
                                <a:latin typeface="Cambria Math" panose="02040503050406030204" pitchFamily="18" charset="0"/>
                              </a:rPr>
                              <m:t>⊕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/>
                  <a:t>，函数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</a:rPr>
                      <m:t>𝝋</m:t>
                    </m:r>
                    <m:r>
                      <a:rPr lang="en-US" altLang="zh-CN" b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b="1">
                        <a:latin typeface="Cambria Math" panose="02040503050406030204" pitchFamily="18" charset="0"/>
                      </a:rPr>
                      <m:t>ℤ</m:t>
                    </m:r>
                    <m:r>
                      <a:rPr lang="en-US" altLang="zh-CN" b="1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en-US"/>
                  <a:t>，</a:t>
                </a:r>
                <a14:m>
                  <m:oMath xmlns:m="http://schemas.openxmlformats.org/officeDocument/2006/math">
                    <m:r>
                      <a:rPr lang="en-US" altLang="zh-CN" b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b="1" i="1"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altLang="zh-CN" b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US" altLang="zh-CN"/>
                  <a:t>, 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</a:rPr>
                      <m:t>𝝋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</m:d>
                    <m:r>
                      <a:rPr lang="en-US" altLang="zh-CN" b="1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zh-CN" b="1" i="1"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altLang="zh-CN" b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1" i="1"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US" altLang="zh-CN" b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1" i="1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/>
                  <a:t>，是</a:t>
                </a:r>
                <a:r>
                  <a:rPr lang="zh-CN" altLang="en-US">
                    <a:solidFill>
                      <a:srgbClr val="C00000"/>
                    </a:solidFill>
                  </a:rPr>
                  <a:t>满同态</a:t>
                </a:r>
                <a:r>
                  <a:rPr lang="zh-CN" altLang="en-US"/>
                  <a:t>：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b="1" smtClean="0">
                        <a:latin typeface="Cambria Math" panose="02040503050406030204" pitchFamily="18" charset="0"/>
                      </a:rPr>
                      <m:t>∀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b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smtClean="0">
                        <a:latin typeface="Cambria Math" panose="02040503050406030204" pitchFamily="18" charset="0"/>
                      </a:rPr>
                      <m:t>ℤ</m:t>
                    </m:r>
                    <m:r>
                      <a:rPr lang="en-US" altLang="zh-CN" b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altLang="zh-CN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>
                          <a:latin typeface="Cambria Math" panose="02040503050406030204" pitchFamily="18" charset="0"/>
                        </a:rPr>
                        <m:t>𝝋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b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en-US" altLang="zh-CN" b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b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en-US" altLang="zh-CN" b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</a:rPr>
                        <m:t>𝐦𝐨𝐝</m:t>
                      </m:r>
                      <m:r>
                        <a:rPr lang="en-US" altLang="zh-CN" b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b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b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𝐦𝐨𝐝</m:t>
                          </m:r>
                          <m:r>
                            <a:rPr lang="en-US" altLang="zh-CN" b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>
                              <a:latin typeface="Cambria Math" panose="02040503050406030204" pitchFamily="18" charset="0"/>
                            </a:rPr>
                            <m:t>⊕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b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𝐦𝐨𝐝</m:t>
                          </m:r>
                          <m:r>
                            <a:rPr lang="en-US" altLang="zh-CN" b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altLang="zh-CN" b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</a:rPr>
                        <m:t>𝝋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>
                              <a:latin typeface="Cambria Math" panose="02040503050406030204" pitchFamily="18" charset="0"/>
                            </a:rPr>
                            <m:t>⊕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altLang="zh-CN" b="1" i="1">
                          <a:latin typeface="Cambria Math" panose="02040503050406030204" pitchFamily="18" charset="0"/>
                        </a:rPr>
                        <m:t>𝝋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0363749-95A2-4FA6-993B-E235134797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850" y="1965603"/>
                <a:ext cx="7628287" cy="1054135"/>
              </a:xfrm>
              <a:prstGeom prst="rect">
                <a:avLst/>
              </a:prstGeom>
              <a:blipFill>
                <a:blip r:embed="rId2"/>
                <a:stretch>
                  <a:fillRect l="-399" r="-3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02CCEB6-7576-4DFA-9481-6137A0CC8D56}"/>
                  </a:ext>
                </a:extLst>
              </p:cNvPr>
              <p:cNvSpPr txBox="1"/>
              <p:nvPr/>
            </p:nvSpPr>
            <p:spPr>
              <a:xfrm>
                <a:off x="757850" y="925533"/>
                <a:ext cx="7628287" cy="71417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500"/>
                  </a:lnSpc>
                </a:pP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p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是群，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𝒆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的单位元，函数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𝝋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p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altLang="zh-CN" sz="1600" b="1">
                    <a:solidFill>
                      <a:schemeClr val="accent2">
                        <a:lumMod val="50000"/>
                      </a:schemeClr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𝝋</m:t>
                    </m:r>
                    <m:d>
                      <m:d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d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p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，是同态，称为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的</a:t>
                </a:r>
                <a:r>
                  <a:rPr lang="zh-CN" altLang="en-US" sz="1600" b="1">
                    <a:solidFill>
                      <a:srgbClr val="C00000"/>
                    </a:solidFill>
                  </a:rPr>
                  <a:t>零同态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02CCEB6-7576-4DFA-9481-6137A0CC8D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850" y="925533"/>
                <a:ext cx="7628287" cy="714170"/>
              </a:xfrm>
              <a:prstGeom prst="rect">
                <a:avLst/>
              </a:prstGeom>
              <a:blipFill>
                <a:blip r:embed="rId3"/>
                <a:stretch>
                  <a:fillRect l="-399" b="-94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25C49CB-1B3C-4EFF-9137-F330FB3395A1}"/>
                  </a:ext>
                </a:extLst>
              </p:cNvPr>
              <p:cNvSpPr txBox="1"/>
              <p:nvPr/>
            </p:nvSpPr>
            <p:spPr>
              <a:xfrm>
                <a:off x="757850" y="3345638"/>
                <a:ext cx="7628287" cy="105413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lnSpc>
                    <a:spcPts val="2500"/>
                  </a:lnSpc>
                  <a:defRPr sz="1600" b="1">
                    <a:solidFill>
                      <a:schemeClr val="accent2">
                        <a:lumMod val="50000"/>
                      </a:schemeClr>
                    </a:solidFill>
                  </a:defRPr>
                </a:lvl1pPr>
              </a:lstStyle>
              <a:p>
                <a:r>
                  <a:rPr lang="zh-CN" altLang="en-US"/>
                  <a:t>对于实数加群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ℝ</m:t>
                        </m:r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,+</m:t>
                        </m:r>
                      </m:e>
                    </m:d>
                  </m:oMath>
                </a14:m>
                <a:r>
                  <a:rPr lang="zh-CN" altLang="en-US"/>
                  <a:t>和非零实数集关于乘法构成的群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>
                                <a:latin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altLang="zh-CN" b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, ⋅</m:t>
                        </m:r>
                      </m:e>
                    </m:d>
                  </m:oMath>
                </a14:m>
                <a:r>
                  <a:rPr lang="zh-CN" altLang="en-US"/>
                  <a:t>，固定某实数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altLang="zh-CN"/>
                  <a:t>(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altLang="zh-CN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b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1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altLang="zh-CN"/>
                  <a:t>)</a:t>
                </a:r>
                <a:r>
                  <a:rPr lang="zh-CN" altLang="en-US"/>
                  <a:t>，定义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</a:rPr>
                      <m:t>𝝋</m:t>
                    </m:r>
                    <m:r>
                      <a:rPr lang="en-US" altLang="zh-CN" b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b="1">
                        <a:latin typeface="Cambria Math" panose="02040503050406030204" pitchFamily="18" charset="0"/>
                      </a:rPr>
                      <m:t>ℝ</m:t>
                    </m:r>
                    <m:r>
                      <a:rPr lang="en-US" altLang="zh-CN" b="1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/>
                  <a:t>，</a:t>
                </a:r>
                <a14:m>
                  <m:oMath xmlns:m="http://schemas.openxmlformats.org/officeDocument/2006/math">
                    <m:r>
                      <a:rPr lang="en-US" altLang="zh-CN" b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b="1" i="1"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altLang="zh-CN" b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b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1" i="1">
                        <a:latin typeface="Cambria Math" panose="02040503050406030204" pitchFamily="18" charset="0"/>
                      </a:rPr>
                      <m:t>𝝋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d>
                    <m:r>
                      <a:rPr lang="en-US" altLang="zh-CN" b="1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𝒓</m:t>
                        </m:r>
                      </m:sup>
                    </m:sSup>
                  </m:oMath>
                </a14:m>
                <a:r>
                  <a:rPr lang="zh-CN" altLang="en-US"/>
                  <a:t>，是</a:t>
                </a:r>
                <a:r>
                  <a:rPr lang="zh-CN" altLang="en-US">
                    <a:solidFill>
                      <a:srgbClr val="C00000"/>
                    </a:solidFill>
                  </a:rPr>
                  <a:t>单同态</a:t>
                </a:r>
                <a:r>
                  <a:rPr lang="zh-CN" altLang="en-US"/>
                  <a:t>：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b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altLang="zh-CN" b="1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p>
                        <m:r>
                          <a:rPr lang="en-US" altLang="zh-CN" b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b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b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endParaRPr lang="en-US" altLang="zh-CN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>
                          <a:latin typeface="Cambria Math" panose="02040503050406030204" pitchFamily="18" charset="0"/>
                        </a:rPr>
                        <m:t>𝝋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𝒓</m:t>
                          </m:r>
                          <m:r>
                            <a:rPr lang="en-US" altLang="zh-CN" b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p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altLang="zh-CN" b="1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𝒓</m:t>
                          </m:r>
                          <m:r>
                            <a:rPr lang="en-US" altLang="zh-CN" b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p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p>
                      </m:sSup>
                      <m:r>
                        <a:rPr lang="en-US" altLang="zh-CN" b="1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sup>
                      </m:sSup>
                      <m:r>
                        <a:rPr lang="en-US" altLang="zh-CN" b="1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p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p>
                      </m:sSup>
                      <m:r>
                        <a:rPr lang="en-US" altLang="zh-CN" b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</a:rPr>
                        <m:t>𝝋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altLang="zh-CN" b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</a:rPr>
                        <m:t>𝝋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p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altLang="zh-CN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25C49CB-1B3C-4EFF-9137-F330FB3395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850" y="3345638"/>
                <a:ext cx="7628287" cy="1054135"/>
              </a:xfrm>
              <a:prstGeom prst="rect">
                <a:avLst/>
              </a:prstGeom>
              <a:blipFill>
                <a:blip r:embed="rId4"/>
                <a:stretch>
                  <a:fillRect l="-3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5807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群同态的定义与例子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群同态的例子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第六讲  群的同态与同构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67E5B0CF-9CF9-4EF2-9DE1-55386CD573EB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/34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28DAA87A-17B9-461C-B5D1-00C259922F6E}"/>
              </a:ext>
            </a:extLst>
          </p:cNvPr>
          <p:cNvGrpSpPr/>
          <p:nvPr/>
        </p:nvGrpSpPr>
        <p:grpSpPr>
          <a:xfrm>
            <a:off x="884580" y="998883"/>
            <a:ext cx="7374834" cy="3294822"/>
            <a:chOff x="879614" y="924340"/>
            <a:chExt cx="7374834" cy="3294822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F9D935F9-BB84-4CA8-9A62-91AE80DEA80F}"/>
                </a:ext>
              </a:extLst>
            </p:cNvPr>
            <p:cNvSpPr/>
            <p:nvPr/>
          </p:nvSpPr>
          <p:spPr>
            <a:xfrm>
              <a:off x="879614" y="924340"/>
              <a:ext cx="7374834" cy="3294822"/>
            </a:xfrm>
            <a:prstGeom prst="roundRect">
              <a:avLst>
                <a:gd name="adj" fmla="val 3997"/>
              </a:avLst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497E731B-87FD-4855-9295-237214EB750E}"/>
                </a:ext>
              </a:extLst>
            </p:cNvPr>
            <p:cNvSpPr/>
            <p:nvPr/>
          </p:nvSpPr>
          <p:spPr>
            <a:xfrm>
              <a:off x="924339" y="987303"/>
              <a:ext cx="7280413" cy="31688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8C74DEAF-EDDD-49E8-9446-04BCEADF15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75747" y="987303"/>
              <a:ext cx="6820336" cy="1757087"/>
            </a:xfrm>
            <a:prstGeom prst="rect">
              <a:avLst/>
            </a:prstGeom>
          </p:spPr>
        </p:pic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C3DC7D00-C0DF-4600-B183-4142566E87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75744" y="2944041"/>
              <a:ext cx="7192505" cy="121215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7057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群同态的定义与例子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群同态的例子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第六讲  群的同态与同构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67E5B0CF-9CF9-4EF2-9DE1-55386CD573EB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8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/34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FA3EE5A9-F403-4B80-A8FA-7CD2ACFD6823}"/>
                  </a:ext>
                </a:extLst>
              </p:cNvPr>
              <p:cNvSpPr txBox="1"/>
              <p:nvPr/>
            </p:nvSpPr>
            <p:spPr>
              <a:xfrm>
                <a:off x="884580" y="3849196"/>
                <a:ext cx="5789546" cy="36933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写出模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𝟔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加群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ℤ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b>
                        </m:s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e>
                        </m:d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⊕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上的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𝟔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个自同态？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FA3EE5A9-F403-4B80-A8FA-7CD2ACFD68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580" y="3849196"/>
                <a:ext cx="5789546" cy="369332"/>
              </a:xfrm>
              <a:prstGeom prst="rect">
                <a:avLst/>
              </a:prstGeom>
              <a:blipFill>
                <a:blip r:embed="rId2"/>
                <a:stretch>
                  <a:fillRect l="-842" t="-8197" r="-316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组合 18">
            <a:extLst>
              <a:ext uri="{FF2B5EF4-FFF2-40B4-BE49-F238E27FC236}">
                <a16:creationId xmlns:a16="http://schemas.microsoft.com/office/drawing/2014/main" id="{7BD23FEE-413C-4DE0-987E-895D4D75C90A}"/>
              </a:ext>
            </a:extLst>
          </p:cNvPr>
          <p:cNvGrpSpPr/>
          <p:nvPr/>
        </p:nvGrpSpPr>
        <p:grpSpPr>
          <a:xfrm>
            <a:off x="884580" y="1046094"/>
            <a:ext cx="7374834" cy="2464903"/>
            <a:chOff x="884580" y="916885"/>
            <a:chExt cx="7374834" cy="2464903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F9D935F9-BB84-4CA8-9A62-91AE80DEA80F}"/>
                </a:ext>
              </a:extLst>
            </p:cNvPr>
            <p:cNvSpPr/>
            <p:nvPr/>
          </p:nvSpPr>
          <p:spPr>
            <a:xfrm>
              <a:off x="884580" y="916885"/>
              <a:ext cx="7374834" cy="2464903"/>
            </a:xfrm>
            <a:prstGeom prst="roundRect">
              <a:avLst>
                <a:gd name="adj" fmla="val 3997"/>
              </a:avLst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A1597745-9C1D-45A1-B194-68DCEF971B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6821" y="980429"/>
              <a:ext cx="7300291" cy="23378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54852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群同态的定义与例子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群的内自同构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第六讲  群的同态与同构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67E5B0CF-9CF9-4EF2-9DE1-55386CD573EB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9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/34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7B005C6-1E5A-4F27-86BD-6BA1EA761F56}"/>
              </a:ext>
            </a:extLst>
          </p:cNvPr>
          <p:cNvGrpSpPr/>
          <p:nvPr/>
        </p:nvGrpSpPr>
        <p:grpSpPr>
          <a:xfrm>
            <a:off x="1138030" y="879614"/>
            <a:ext cx="6867939" cy="3617844"/>
            <a:chOff x="1138030" y="864705"/>
            <a:chExt cx="6867939" cy="3617844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7FF21E1A-49E1-4C94-84F5-7CA3DE613448}"/>
                </a:ext>
              </a:extLst>
            </p:cNvPr>
            <p:cNvSpPr/>
            <p:nvPr/>
          </p:nvSpPr>
          <p:spPr>
            <a:xfrm>
              <a:off x="1138030" y="864705"/>
              <a:ext cx="6867939" cy="3617844"/>
            </a:xfrm>
            <a:prstGeom prst="roundRect">
              <a:avLst>
                <a:gd name="adj" fmla="val 3374"/>
              </a:avLst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91D4B34C-9796-424E-8309-3CD3149B62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87725" y="911678"/>
              <a:ext cx="6768549" cy="352885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487292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内容提要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5BA4EFF-667B-4FC6-8446-13B52B94D7E0}"/>
              </a:ext>
            </a:extLst>
          </p:cNvPr>
          <p:cNvSpPr txBox="1"/>
          <p:nvPr/>
        </p:nvSpPr>
        <p:spPr>
          <a:xfrm>
            <a:off x="830425" y="1086007"/>
            <a:ext cx="3550298" cy="29142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 b="1">
                <a:solidFill>
                  <a:schemeClr val="bg1">
                    <a:lumMod val="95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群同态的定义与例子</a:t>
            </a:r>
            <a:endParaRPr lang="en-US" altLang="zh-CN" sz="2400" b="1">
              <a:solidFill>
                <a:schemeClr val="bg1">
                  <a:lumMod val="95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4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群同构的基本例子</a:t>
            </a:r>
            <a:endParaRPr lang="en-US" altLang="zh-CN" sz="24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4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群同态的基本性质</a:t>
            </a:r>
            <a:endParaRPr lang="en-US" altLang="zh-CN" sz="24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4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群的同态基本定理</a:t>
            </a:r>
            <a:endParaRPr lang="en-US" altLang="zh-CN" sz="24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42470A3-17E0-4A28-9AF9-5A2F0FB0419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C32D6D5-FC5F-4988-89F0-E5114C49A15E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DE91CAA-7321-49F4-9733-065AE332399B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FD880B9-427D-4B2C-B60B-E79B30A493F1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第六讲  群的同态与同构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8FDFDF5-F81B-461A-AA68-EF7C48D09363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D96B9435-B891-4393-B68B-E3404920B5F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10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/34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46647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群同构的基本例子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群的左正则表示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第六讲  群的同态与同构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67E5B0CF-9CF9-4EF2-9DE1-55386CD573EB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11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/34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31D42D51-2C24-496C-8F7E-713594ED1176}"/>
              </a:ext>
            </a:extLst>
          </p:cNvPr>
          <p:cNvGrpSpPr/>
          <p:nvPr/>
        </p:nvGrpSpPr>
        <p:grpSpPr>
          <a:xfrm>
            <a:off x="1043606" y="1032223"/>
            <a:ext cx="7056782" cy="2077278"/>
            <a:chOff x="1043609" y="974035"/>
            <a:chExt cx="7056782" cy="2077278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B88D2FFE-4E64-43C2-B6CA-2558B01B13FE}"/>
                </a:ext>
              </a:extLst>
            </p:cNvPr>
            <p:cNvSpPr/>
            <p:nvPr/>
          </p:nvSpPr>
          <p:spPr>
            <a:xfrm>
              <a:off x="1043609" y="974035"/>
              <a:ext cx="7056782" cy="2077278"/>
            </a:xfrm>
            <a:prstGeom prst="roundRect">
              <a:avLst>
                <a:gd name="adj" fmla="val 5423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7A1FDC9B-584B-4C19-91B1-6ECDB066A1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83363" y="1016607"/>
              <a:ext cx="6977268" cy="1993505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8B9466CF-AED5-480F-8E79-B20CFE915B78}"/>
                  </a:ext>
                </a:extLst>
              </p:cNvPr>
              <p:cNvSpPr txBox="1"/>
              <p:nvPr/>
            </p:nvSpPr>
            <p:spPr>
              <a:xfrm>
                <a:off x="1083360" y="3518452"/>
                <a:ext cx="6977268" cy="71417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500"/>
                  </a:lnSpc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置换群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𝒍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称为群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</a:t>
                </a:r>
                <a:r>
                  <a:rPr lang="zh-CN" altLang="en-US" b="1">
                    <a:solidFill>
                      <a:srgbClr val="C00000"/>
                    </a:solidFill>
                  </a:rPr>
                  <a:t>左正则表示</a:t>
                </a:r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</a:rPr>
                  <a:t>(left regular representation)</a:t>
                </a: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，置换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𝝋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称为由元素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确定的</a:t>
                </a:r>
                <a:r>
                  <a:rPr lang="zh-CN" altLang="en-US" b="1">
                    <a:solidFill>
                      <a:srgbClr val="C00000"/>
                    </a:solidFill>
                  </a:rPr>
                  <a:t>左平移</a:t>
                </a:r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</a:rPr>
                  <a:t>(left translation)</a:t>
                </a: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。</a:t>
                </a: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8B9466CF-AED5-480F-8E79-B20CFE915B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360" y="3518452"/>
                <a:ext cx="6977268" cy="714170"/>
              </a:xfrm>
              <a:prstGeom prst="rect">
                <a:avLst/>
              </a:prstGeom>
              <a:blipFill>
                <a:blip r:embed="rId3"/>
                <a:stretch>
                  <a:fillRect l="-787" t="-855" b="-128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56481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群同构的基本例子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凯莱定理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第六讲  群的同态与同构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67E5B0CF-9CF9-4EF2-9DE1-55386CD573EB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12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/34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2BCF818C-BF68-41DC-8190-F9D3CD37D066}"/>
              </a:ext>
            </a:extLst>
          </p:cNvPr>
          <p:cNvGrpSpPr/>
          <p:nvPr/>
        </p:nvGrpSpPr>
        <p:grpSpPr>
          <a:xfrm>
            <a:off x="797612" y="1677228"/>
            <a:ext cx="7548769" cy="1789044"/>
            <a:chOff x="735496" y="1674743"/>
            <a:chExt cx="7548769" cy="1789044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F15F31CE-EB65-4A37-8770-F81A93FA086A}"/>
                </a:ext>
              </a:extLst>
            </p:cNvPr>
            <p:cNvSpPr/>
            <p:nvPr/>
          </p:nvSpPr>
          <p:spPr>
            <a:xfrm>
              <a:off x="735496" y="1674743"/>
              <a:ext cx="7548769" cy="1789044"/>
            </a:xfrm>
            <a:prstGeom prst="roundRect">
              <a:avLst>
                <a:gd name="adj" fmla="val 5834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EA7D645E-E8B9-4AA6-B5ED-791A913DD5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90158" y="1717086"/>
              <a:ext cx="7444409" cy="170932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325798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群同构的基本例子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群同构例子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第六讲  群的同态与同构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67E5B0CF-9CF9-4EF2-9DE1-55386CD573EB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13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/34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C9432AB0-04DF-4051-98ED-A90E36D452F3}"/>
              </a:ext>
            </a:extLst>
          </p:cNvPr>
          <p:cNvGrpSpPr/>
          <p:nvPr/>
        </p:nvGrpSpPr>
        <p:grpSpPr>
          <a:xfrm>
            <a:off x="812524" y="1138031"/>
            <a:ext cx="7518952" cy="2305878"/>
            <a:chOff x="800100" y="1157909"/>
            <a:chExt cx="7518952" cy="2305878"/>
          </a:xfrm>
        </p:grpSpPr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728D77BC-7E6A-4D74-94C3-CED595321DB0}"/>
                </a:ext>
              </a:extLst>
            </p:cNvPr>
            <p:cNvSpPr/>
            <p:nvPr/>
          </p:nvSpPr>
          <p:spPr>
            <a:xfrm>
              <a:off x="800100" y="1157909"/>
              <a:ext cx="7518952" cy="2305878"/>
            </a:xfrm>
            <a:prstGeom prst="roundRect">
              <a:avLst>
                <a:gd name="adj" fmla="val 5244"/>
              </a:avLst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FCAAE0C6-ED80-4BA2-BA98-7BD409FDE6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7698" y="1209752"/>
              <a:ext cx="7448598" cy="2210215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ABA1E24-C91F-435F-8F95-91D0BF9CEFA2}"/>
                  </a:ext>
                </a:extLst>
              </p:cNvPr>
              <p:cNvSpPr txBox="1"/>
              <p:nvPr/>
            </p:nvSpPr>
            <p:spPr>
              <a:xfrm>
                <a:off x="812524" y="3755644"/>
                <a:ext cx="6457950" cy="36933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准确地说，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𝝋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d>
                    <m:d>
                      <m:d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</m:d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𝝋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sub>
                    </m:sSub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  <m:r>
                          <a:rPr lang="zh-CN" altLang="en-US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  <m:d>
                      <m:d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zh-CN" altLang="en-US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</m:d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𝝋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</m:d>
                    <m:d>
                      <m:d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</m:oMath>
                </a14:m>
                <a:endParaRPr lang="zh-CN" altLang="en-US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ABA1E24-C91F-435F-8F95-91D0BF9CEF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524" y="3755644"/>
                <a:ext cx="6457950" cy="369332"/>
              </a:xfrm>
              <a:prstGeom prst="rect">
                <a:avLst/>
              </a:prstGeom>
              <a:blipFill>
                <a:blip r:embed="rId3"/>
                <a:stretch>
                  <a:fillRect l="-755"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66971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群同构的基本例子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循环群的结构定理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第六讲  群的同态与同构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67E5B0CF-9CF9-4EF2-9DE1-55386CD573EB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14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/34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2E7817AF-016E-4EA5-B6EA-E3F69A84B3D3}"/>
              </a:ext>
            </a:extLst>
          </p:cNvPr>
          <p:cNvGrpSpPr/>
          <p:nvPr/>
        </p:nvGrpSpPr>
        <p:grpSpPr>
          <a:xfrm>
            <a:off x="1003852" y="1128091"/>
            <a:ext cx="7136296" cy="864486"/>
            <a:chOff x="1008822" y="1128091"/>
            <a:chExt cx="7136296" cy="864486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7FBF2969-64D5-4F5F-97FD-F4C45134A076}"/>
                </a:ext>
              </a:extLst>
            </p:cNvPr>
            <p:cNvSpPr/>
            <p:nvPr/>
          </p:nvSpPr>
          <p:spPr>
            <a:xfrm>
              <a:off x="1008822" y="1128091"/>
              <a:ext cx="7136296" cy="864486"/>
            </a:xfrm>
            <a:prstGeom prst="roundRect">
              <a:avLst>
                <a:gd name="adj" fmla="val 11638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FB31615A-7EBF-4C26-8109-9D5D6F07AE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61000" y="1175073"/>
              <a:ext cx="7041874" cy="779937"/>
            </a:xfrm>
            <a:prstGeom prst="rect">
              <a:avLst/>
            </a:prstGeom>
          </p:spPr>
        </p:pic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73A0D8ED-D082-4192-811E-6E01D33ADF99}"/>
              </a:ext>
            </a:extLst>
          </p:cNvPr>
          <p:cNvGrpSpPr/>
          <p:nvPr/>
        </p:nvGrpSpPr>
        <p:grpSpPr>
          <a:xfrm>
            <a:off x="1003849" y="2391251"/>
            <a:ext cx="7136296" cy="1068457"/>
            <a:chOff x="1003852" y="2350604"/>
            <a:chExt cx="7136296" cy="1068457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B09C848F-FD7A-4753-BB29-7936F5300A40}"/>
                </a:ext>
              </a:extLst>
            </p:cNvPr>
            <p:cNvSpPr/>
            <p:nvPr/>
          </p:nvSpPr>
          <p:spPr>
            <a:xfrm>
              <a:off x="1003852" y="2350604"/>
              <a:ext cx="7136296" cy="1068457"/>
            </a:xfrm>
            <a:prstGeom prst="roundRect">
              <a:avLst>
                <a:gd name="adj" fmla="val 9225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CBB332D1-AFDD-4555-A23C-D5BD25CA6F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51060" y="2402324"/>
              <a:ext cx="7041874" cy="978965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95053DB0-AAB0-47B8-88CA-5048D717123F}"/>
                  </a:ext>
                </a:extLst>
              </p:cNvPr>
              <p:cNvSpPr txBox="1"/>
              <p:nvPr/>
            </p:nvSpPr>
            <p:spPr>
              <a:xfrm>
                <a:off x="983968" y="3796937"/>
                <a:ext cx="7176052" cy="34785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为什么在无限循环群中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p>
                    </m:sSup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𝒍</m:t>
                        </m:r>
                      </m:sup>
                    </m:sSup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蕴涵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𝒍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，在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阶循环群中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p>
                    </m:sSup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𝒍</m:t>
                        </m:r>
                      </m:sup>
                    </m:sSup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蕴涵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𝒍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？</a:t>
                </a: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95053DB0-AAB0-47B8-88CA-5048D71712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968" y="3796937"/>
                <a:ext cx="7176052" cy="347852"/>
              </a:xfrm>
              <a:prstGeom prst="rect">
                <a:avLst/>
              </a:prstGeom>
              <a:blipFill>
                <a:blip r:embed="rId4"/>
                <a:stretch>
                  <a:fillRect l="-424" t="-1754" r="-3226" b="-228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68732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F0E932F7-3F5A-4110-8B7E-26471D70F34A}"/>
              </a:ext>
            </a:extLst>
          </p:cNvPr>
          <p:cNvSpPr/>
          <p:nvPr/>
        </p:nvSpPr>
        <p:spPr>
          <a:xfrm>
            <a:off x="683317" y="735496"/>
            <a:ext cx="7804701" cy="3896139"/>
          </a:xfrm>
          <a:prstGeom prst="roundRect">
            <a:avLst>
              <a:gd name="adj" fmla="val 340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39EFBB8-183B-485B-B76C-C59D7BB6D17C}"/>
              </a:ext>
            </a:extLst>
          </p:cNvPr>
          <p:cNvSpPr/>
          <p:nvPr/>
        </p:nvSpPr>
        <p:spPr>
          <a:xfrm>
            <a:off x="730527" y="839857"/>
            <a:ext cx="7720216" cy="37449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群同构的基本例子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循环群之间的同构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第六讲  群的同态与同构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67E5B0CF-9CF9-4EF2-9DE1-55386CD573EB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15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/34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BCBDB0C-AFFA-49C2-8DEF-4318A574C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526" y="793306"/>
            <a:ext cx="7720216" cy="57599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F02EB80-94A2-4005-A6B6-620A09F097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335" y="1539264"/>
            <a:ext cx="1863619" cy="152290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22D9D55-B104-43E0-B3E5-86F8BFAA79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7048" y="1542119"/>
            <a:ext cx="1863619" cy="152004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EBA6691-073E-47B8-B139-D1EDD9D9CA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313" y="3232134"/>
            <a:ext cx="7685429" cy="1352684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D7D81DE5-5F36-4F81-9CCA-60D42765A4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40190" y="1554912"/>
            <a:ext cx="1863620" cy="1509902"/>
          </a:xfrm>
          <a:prstGeom prst="rect">
            <a:avLst/>
          </a:prstGeom>
        </p:spPr>
      </p:pic>
      <p:sp>
        <p:nvSpPr>
          <p:cNvPr id="19" name="箭头: 右 18">
            <a:extLst>
              <a:ext uri="{FF2B5EF4-FFF2-40B4-BE49-F238E27FC236}">
                <a16:creationId xmlns:a16="http://schemas.microsoft.com/office/drawing/2014/main" id="{D0258C58-4D7C-4FE8-AD1A-4D08F8660822}"/>
              </a:ext>
            </a:extLst>
          </p:cNvPr>
          <p:cNvSpPr/>
          <p:nvPr/>
        </p:nvSpPr>
        <p:spPr>
          <a:xfrm>
            <a:off x="3022731" y="2218717"/>
            <a:ext cx="541681" cy="16399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箭头: 右 19">
            <a:extLst>
              <a:ext uri="{FF2B5EF4-FFF2-40B4-BE49-F238E27FC236}">
                <a16:creationId xmlns:a16="http://schemas.microsoft.com/office/drawing/2014/main" id="{56B156DB-91D6-49F4-9ECD-D74A2D3700CE}"/>
              </a:ext>
            </a:extLst>
          </p:cNvPr>
          <p:cNvSpPr/>
          <p:nvPr/>
        </p:nvSpPr>
        <p:spPr>
          <a:xfrm>
            <a:off x="5630492" y="2218717"/>
            <a:ext cx="541681" cy="16399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8584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内容提要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5BA4EFF-667B-4FC6-8446-13B52B94D7E0}"/>
              </a:ext>
            </a:extLst>
          </p:cNvPr>
          <p:cNvSpPr txBox="1"/>
          <p:nvPr/>
        </p:nvSpPr>
        <p:spPr>
          <a:xfrm>
            <a:off x="830425" y="1086007"/>
            <a:ext cx="3550298" cy="29142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 b="1">
                <a:solidFill>
                  <a:schemeClr val="bg1">
                    <a:lumMod val="95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群同态的定义与例子</a:t>
            </a:r>
            <a:endParaRPr lang="en-US" altLang="zh-CN" sz="2400" b="1">
              <a:solidFill>
                <a:schemeClr val="bg1">
                  <a:lumMod val="95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400" b="1">
                <a:solidFill>
                  <a:schemeClr val="bg1">
                    <a:lumMod val="95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群同构的基本例子</a:t>
            </a:r>
            <a:endParaRPr lang="en-US" altLang="zh-CN" sz="2400" b="1">
              <a:solidFill>
                <a:schemeClr val="bg1">
                  <a:lumMod val="95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4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群同态的基本性质</a:t>
            </a:r>
            <a:endParaRPr lang="en-US" altLang="zh-CN" sz="24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4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群的同态基本定理</a:t>
            </a:r>
            <a:endParaRPr lang="en-US" altLang="zh-CN" sz="24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42470A3-17E0-4A28-9AF9-5A2F0FB0419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C32D6D5-FC5F-4988-89F0-E5114C49A15E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DE91CAA-7321-49F4-9733-065AE332399B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FD880B9-427D-4B2C-B60B-E79B30A493F1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第六讲  群的同态与同构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8FDFDF5-F81B-461A-AA68-EF7C48D09363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D96B9435-B891-4393-B68B-E3404920B5F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16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/34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09752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群同态的基本性质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群同态与元素的阶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第六讲  群的同态与同构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67E5B0CF-9CF9-4EF2-9DE1-55386CD573EB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17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/34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41BEBEF4-CDA5-4B9A-AC15-E3AC18215E05}"/>
              </a:ext>
            </a:extLst>
          </p:cNvPr>
          <p:cNvGrpSpPr/>
          <p:nvPr/>
        </p:nvGrpSpPr>
        <p:grpSpPr>
          <a:xfrm>
            <a:off x="894519" y="800099"/>
            <a:ext cx="7354956" cy="939248"/>
            <a:chOff x="884583" y="934278"/>
            <a:chExt cx="7354956" cy="939248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C9A5F11D-D25D-4D49-934B-E3EDB4161B10}"/>
                </a:ext>
              </a:extLst>
            </p:cNvPr>
            <p:cNvSpPr/>
            <p:nvPr/>
          </p:nvSpPr>
          <p:spPr>
            <a:xfrm>
              <a:off x="884583" y="934278"/>
              <a:ext cx="7354956" cy="939248"/>
            </a:xfrm>
            <a:prstGeom prst="roundRect">
              <a:avLst>
                <a:gd name="adj" fmla="val 7143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99174C73-619C-483E-A82E-A298381A8D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9366" y="973500"/>
              <a:ext cx="7295322" cy="860093"/>
            </a:xfrm>
            <a:prstGeom prst="rect">
              <a:avLst/>
            </a:prstGeom>
          </p:spPr>
        </p:pic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8FBE1D29-4AB5-4DEA-AE7F-D1F6E04D72FE}"/>
              </a:ext>
            </a:extLst>
          </p:cNvPr>
          <p:cNvGrpSpPr/>
          <p:nvPr/>
        </p:nvGrpSpPr>
        <p:grpSpPr>
          <a:xfrm>
            <a:off x="894519" y="1928190"/>
            <a:ext cx="7374832" cy="2699379"/>
            <a:chOff x="879613" y="1967946"/>
            <a:chExt cx="7374832" cy="2699379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1279B9AB-79E4-4C6D-BBB9-C15FBEAF6AA0}"/>
                </a:ext>
              </a:extLst>
            </p:cNvPr>
            <p:cNvSpPr/>
            <p:nvPr/>
          </p:nvSpPr>
          <p:spPr>
            <a:xfrm>
              <a:off x="879613" y="1967946"/>
              <a:ext cx="7374832" cy="2699379"/>
            </a:xfrm>
            <a:prstGeom prst="roundRect">
              <a:avLst>
                <a:gd name="adj" fmla="val 4885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36E96E0C-B66D-4ED8-9DB4-4644FC67DD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336" y="2024901"/>
              <a:ext cx="7295322" cy="2581599"/>
            </a:xfrm>
            <a:prstGeom prst="rect">
              <a:avLst/>
            </a:prstGeom>
          </p:spPr>
        </p:pic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699CA2C5-221D-415E-A591-D85063293FE6}"/>
              </a:ext>
            </a:extLst>
          </p:cNvPr>
          <p:cNvSpPr txBox="1"/>
          <p:nvPr/>
        </p:nvSpPr>
        <p:spPr>
          <a:xfrm>
            <a:off x="7136297" y="1998686"/>
            <a:ext cx="1088328" cy="73866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400" b="1">
                <a:solidFill>
                  <a:schemeClr val="accent2">
                    <a:lumMod val="50000"/>
                  </a:schemeClr>
                </a:solidFill>
              </a:rPr>
              <a:t>严谨的证明应使用数学归纳法</a:t>
            </a:r>
          </a:p>
        </p:txBody>
      </p:sp>
    </p:spTree>
    <p:extLst>
      <p:ext uri="{BB962C8B-B14F-4D97-AF65-F5344CB8AC3E}">
        <p14:creationId xmlns:p14="http://schemas.microsoft.com/office/powerpoint/2010/main" val="2279599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群同态的基本性质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群同态与子群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第六讲  群的同态与同构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67E5B0CF-9CF9-4EF2-9DE1-55386CD573EB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18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/34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24EBA7B3-454E-4E8E-BCE5-DD8D4AA81993}"/>
              </a:ext>
            </a:extLst>
          </p:cNvPr>
          <p:cNvGrpSpPr/>
          <p:nvPr/>
        </p:nvGrpSpPr>
        <p:grpSpPr>
          <a:xfrm>
            <a:off x="1396447" y="859735"/>
            <a:ext cx="6351105" cy="750404"/>
            <a:chOff x="1391478" y="805070"/>
            <a:chExt cx="6351105" cy="750404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416AE4F2-BB4B-4A62-A67B-717BF75670F3}"/>
                </a:ext>
              </a:extLst>
            </p:cNvPr>
            <p:cNvSpPr/>
            <p:nvPr/>
          </p:nvSpPr>
          <p:spPr>
            <a:xfrm>
              <a:off x="1391478" y="805070"/>
              <a:ext cx="6351105" cy="750404"/>
            </a:xfrm>
            <a:prstGeom prst="roundRect">
              <a:avLst>
                <a:gd name="adj" fmla="val 1136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5AEFC56D-FA86-42CF-9FE5-2B6F8DE1DD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38686" y="840502"/>
              <a:ext cx="6266622" cy="686753"/>
            </a:xfrm>
            <a:prstGeom prst="rect">
              <a:avLst/>
            </a:prstGeom>
          </p:spPr>
        </p:pic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95C17B93-DB2C-417A-B3A4-D375E72F2516}"/>
              </a:ext>
            </a:extLst>
          </p:cNvPr>
          <p:cNvGrpSpPr/>
          <p:nvPr/>
        </p:nvGrpSpPr>
        <p:grpSpPr>
          <a:xfrm>
            <a:off x="1396447" y="2380422"/>
            <a:ext cx="6351105" cy="2161761"/>
            <a:chOff x="1396447" y="2295939"/>
            <a:chExt cx="6351105" cy="2161761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019191D1-A608-4387-ADF2-1CBE20CEE75F}"/>
                </a:ext>
              </a:extLst>
            </p:cNvPr>
            <p:cNvSpPr/>
            <p:nvPr/>
          </p:nvSpPr>
          <p:spPr>
            <a:xfrm>
              <a:off x="1396447" y="2295939"/>
              <a:ext cx="6351105" cy="2161761"/>
            </a:xfrm>
            <a:prstGeom prst="roundRect">
              <a:avLst>
                <a:gd name="adj" fmla="val 5173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FA72D198-11C1-4154-AB64-E5212DB79C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48626" y="2331734"/>
              <a:ext cx="6266622" cy="2090533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19FA733-0008-4006-BEF1-3777E4B00B6A}"/>
                  </a:ext>
                </a:extLst>
              </p:cNvPr>
              <p:cNvSpPr txBox="1"/>
              <p:nvPr/>
            </p:nvSpPr>
            <p:spPr>
              <a:xfrm>
                <a:off x="1443655" y="1812689"/>
                <a:ext cx="5866576" cy="312586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𝝋</m:t>
                    </m:r>
                    <m:d>
                      <m:dPr>
                        <m:ctrlP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</m:d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sepChr m:val="∣"/>
                        <m:ctrlP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altLang="zh-CN" sz="1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𝑮</m:t>
                            </m:r>
                          </m:e>
                          <m:sup>
                            <m:r>
                              <a:rPr lang="en-US" altLang="zh-CN" sz="1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  <m:e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∃</m:t>
                        </m:r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𝝋</m:t>
                        </m:r>
                        <m:d>
                          <m:dPr>
                            <m:ctrlPr>
                              <a:rPr lang="en-US" altLang="zh-CN" sz="1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</m:d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</m:oMath>
                </a14:m>
                <a:r>
                  <a:rPr lang="en-US" altLang="zh-CN" sz="1400" b="1">
                    <a:solidFill>
                      <a:schemeClr val="accent2">
                        <a:lumMod val="50000"/>
                      </a:schemeClr>
                    </a:solidFill>
                  </a:rPr>
                  <a:t>,	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𝝋</m:t>
                        </m:r>
                      </m:e>
                      <m:sup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d>
                      <m:dPr>
                        <m:ctrlP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</m:d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sepChr m:val="∣"/>
                        <m:ctrlP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e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𝝋</m:t>
                        </m:r>
                        <m:d>
                          <m:dPr>
                            <m:ctrlPr>
                              <a:rPr lang="en-US" altLang="zh-CN" sz="1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</m:d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</m:d>
                  </m:oMath>
                </a14:m>
                <a:endParaRPr lang="zh-CN" altLang="en-US" sz="14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19FA733-0008-4006-BEF1-3777E4B00B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3655" y="1812689"/>
                <a:ext cx="5866576" cy="312586"/>
              </a:xfrm>
              <a:prstGeom prst="rect">
                <a:avLst/>
              </a:prstGeom>
              <a:blipFill>
                <a:blip r:embed="rId4"/>
                <a:stretch>
                  <a:fillRect b="-19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7877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群同态的基本性质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群同态与正规子群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第六讲  群的同态与同构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67E5B0CF-9CF9-4EF2-9DE1-55386CD573EB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19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/34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589DB631-EAC5-4B95-AEA8-A3BE3A69DF26}"/>
              </a:ext>
            </a:extLst>
          </p:cNvPr>
          <p:cNvGrpSpPr/>
          <p:nvPr/>
        </p:nvGrpSpPr>
        <p:grpSpPr>
          <a:xfrm>
            <a:off x="1247361" y="960140"/>
            <a:ext cx="6649278" cy="776237"/>
            <a:chOff x="1247361" y="903476"/>
            <a:chExt cx="6649278" cy="776237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4A78A134-BA2A-4EAB-A08F-035CAC2938C3}"/>
                </a:ext>
              </a:extLst>
            </p:cNvPr>
            <p:cNvSpPr/>
            <p:nvPr/>
          </p:nvSpPr>
          <p:spPr>
            <a:xfrm>
              <a:off x="1247361" y="903476"/>
              <a:ext cx="6649278" cy="776237"/>
            </a:xfrm>
            <a:prstGeom prst="roundRect">
              <a:avLst>
                <a:gd name="adj" fmla="val 8344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FA994284-C3CD-4A03-9E56-1526F3FEF0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87734" y="946837"/>
              <a:ext cx="6568525" cy="689514"/>
            </a:xfrm>
            <a:prstGeom prst="rect">
              <a:avLst/>
            </a:prstGeom>
          </p:spPr>
        </p:pic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F77A8A9F-F43D-4FD7-B59D-8695E256A59A}"/>
              </a:ext>
            </a:extLst>
          </p:cNvPr>
          <p:cNvGrpSpPr/>
          <p:nvPr/>
        </p:nvGrpSpPr>
        <p:grpSpPr>
          <a:xfrm>
            <a:off x="1247361" y="2104141"/>
            <a:ext cx="6649278" cy="2135883"/>
            <a:chOff x="1247361" y="2008734"/>
            <a:chExt cx="6649278" cy="2135883"/>
          </a:xfrm>
        </p:grpSpPr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F2D5DB75-0FF5-42D9-BECD-A844ABBFFA16}"/>
                </a:ext>
              </a:extLst>
            </p:cNvPr>
            <p:cNvSpPr/>
            <p:nvPr/>
          </p:nvSpPr>
          <p:spPr>
            <a:xfrm>
              <a:off x="1247361" y="2008734"/>
              <a:ext cx="6649278" cy="2135883"/>
            </a:xfrm>
            <a:prstGeom prst="roundRect">
              <a:avLst>
                <a:gd name="adj" fmla="val 480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90A67B5D-A053-447C-8DC3-E98074B2A6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89606" y="2049442"/>
              <a:ext cx="6567277" cy="205652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09487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: 圆角 9">
            <a:extLst>
              <a:ext uri="{FF2B5EF4-FFF2-40B4-BE49-F238E27FC236}">
                <a16:creationId xmlns:a16="http://schemas.microsoft.com/office/drawing/2014/main" id="{3D4359C5-9E9F-4E33-8D1D-90189502A534}"/>
              </a:ext>
            </a:extLst>
          </p:cNvPr>
          <p:cNvSpPr/>
          <p:nvPr/>
        </p:nvSpPr>
        <p:spPr>
          <a:xfrm>
            <a:off x="655983" y="1336813"/>
            <a:ext cx="5448255" cy="61674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群同态的基本性质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群同态基本性质举例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第六讲  群的同态与同构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67E5B0CF-9CF9-4EF2-9DE1-55386CD573EB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/34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7CED74B-811E-4A3C-B10C-3B9E124C954F}"/>
                  </a:ext>
                </a:extLst>
              </p:cNvPr>
              <p:cNvSpPr txBox="1"/>
              <p:nvPr/>
            </p:nvSpPr>
            <p:spPr>
              <a:xfrm>
                <a:off x="655177" y="833963"/>
                <a:ext cx="3672509" cy="33855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𝑼</m:t>
                      </m:r>
                      <m:d>
                        <m:dPr>
                          <m:ctrlPr>
                            <a:rPr lang="pl-PL" altLang="zh-CN" sz="16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altLang="zh-CN" sz="16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𝟑𝟎</m:t>
                          </m:r>
                        </m:e>
                      </m:d>
                      <m:r>
                        <a:rPr lang="pl-PL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lit/>
                        </m:rPr>
                        <a:rPr lang="pl-PL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pl-PL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pl-PL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pl-PL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pl-PL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pl-PL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𝟏𝟏</m:t>
                      </m:r>
                      <m:r>
                        <a:rPr lang="pl-PL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pl-PL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𝟏𝟑</m:t>
                      </m:r>
                      <m:r>
                        <a:rPr lang="pl-PL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pl-PL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𝟏𝟕</m:t>
                      </m:r>
                      <m:r>
                        <a:rPr lang="pl-PL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pl-PL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𝟏𝟗</m:t>
                      </m:r>
                      <m:r>
                        <a:rPr lang="pl-PL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pl-PL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𝟐𝟑</m:t>
                      </m:r>
                      <m:r>
                        <a:rPr lang="pl-PL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pl-PL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𝟐𝟗</m:t>
                      </m:r>
                      <m:r>
                        <m:rPr>
                          <m:lit/>
                        </m:rPr>
                        <a:rPr lang="pl-PL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sz="16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7CED74B-811E-4A3C-B10C-3B9E124C95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177" y="833963"/>
                <a:ext cx="3672509" cy="338554"/>
              </a:xfrm>
              <a:prstGeom prst="rect">
                <a:avLst/>
              </a:prstGeom>
              <a:blipFill>
                <a:blip r:embed="rId2"/>
                <a:stretch>
                  <a:fillRect b="-109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40C74879-CF7D-4E9E-9047-86278E4CBA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736" y="1367396"/>
            <a:ext cx="5377073" cy="557489"/>
          </a:xfrm>
          <a:prstGeom prst="rect">
            <a:avLst/>
          </a:prstGeom>
        </p:spPr>
      </p:pic>
      <p:grpSp>
        <p:nvGrpSpPr>
          <p:cNvPr id="18" name="组合 17">
            <a:extLst>
              <a:ext uri="{FF2B5EF4-FFF2-40B4-BE49-F238E27FC236}">
                <a16:creationId xmlns:a16="http://schemas.microsoft.com/office/drawing/2014/main" id="{7935B73A-244B-4A66-89B6-DD52768E170F}"/>
              </a:ext>
            </a:extLst>
          </p:cNvPr>
          <p:cNvGrpSpPr/>
          <p:nvPr/>
        </p:nvGrpSpPr>
        <p:grpSpPr>
          <a:xfrm>
            <a:off x="655983" y="2146852"/>
            <a:ext cx="5774634" cy="1962163"/>
            <a:chOff x="655983" y="2146852"/>
            <a:chExt cx="5774634" cy="1962163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B75E8F6C-ABCE-48CF-A166-B791EC13652E}"/>
                </a:ext>
              </a:extLst>
            </p:cNvPr>
            <p:cNvSpPr/>
            <p:nvPr/>
          </p:nvSpPr>
          <p:spPr>
            <a:xfrm>
              <a:off x="655983" y="2146852"/>
              <a:ext cx="5774634" cy="1962163"/>
            </a:xfrm>
            <a:prstGeom prst="roundRect">
              <a:avLst>
                <a:gd name="adj" fmla="val 5017"/>
              </a:avLst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23F68533-B0C2-4DF9-9289-B9DFAA15C1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5736" y="2193190"/>
              <a:ext cx="5690155" cy="1888626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D4E0E56-017F-4519-BAAE-A0E11EC11EE9}"/>
                  </a:ext>
                </a:extLst>
              </p:cNvPr>
              <p:cNvSpPr txBox="1"/>
              <p:nvPr/>
            </p:nvSpPr>
            <p:spPr>
              <a:xfrm>
                <a:off x="655177" y="4294127"/>
                <a:ext cx="7265508" cy="312843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记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𝟏𝟗</m:t>
                        </m:r>
                      </m:e>
                    </m:d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𝑼</m:t>
                    </m:r>
                    <m:d>
                      <m:dPr>
                        <m:ctrlP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𝟑𝟎</m:t>
                        </m:r>
                      </m:e>
                    </m:d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的子群，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𝝋</m:t>
                    </m:r>
                    <m:d>
                      <m:dPr>
                        <m:ctrlP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</m:d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，而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𝝋</m:t>
                        </m:r>
                      </m:e>
                      <m:sup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d>
                      <m:dPr>
                        <m:ctrlP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</m:d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𝟏𝟏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𝟏𝟗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𝟐𝟗</m:t>
                    </m:r>
                    <m:r>
                      <m:rPr>
                        <m:lit/>
                      </m:rP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也是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𝟑𝟎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的子群。</a:t>
                </a: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D4E0E56-017F-4519-BAAE-A0E11EC11E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177" y="4294127"/>
                <a:ext cx="7265508" cy="312843"/>
              </a:xfrm>
              <a:prstGeom prst="rect">
                <a:avLst/>
              </a:prstGeom>
              <a:blipFill>
                <a:blip r:embed="rId5"/>
                <a:stretch>
                  <a:fillRect l="-252" b="-19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>
            <a:extLst>
              <a:ext uri="{FF2B5EF4-FFF2-40B4-BE49-F238E27FC236}">
                <a16:creationId xmlns:a16="http://schemas.microsoft.com/office/drawing/2014/main" id="{BA18E8CB-3976-44F6-8FBC-C76B9EDC3C31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8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87109" y="808435"/>
            <a:ext cx="2430118" cy="1592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614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群同态的基本性质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群同态基本性质举例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第六讲  群的同态与同构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67E5B0CF-9CF9-4EF2-9DE1-55386CD573EB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21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/34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1537DB63-A9C1-4563-8136-4C8D15F9FCDC}"/>
                  </a:ext>
                </a:extLst>
              </p:cNvPr>
              <p:cNvSpPr txBox="1"/>
              <p:nvPr/>
            </p:nvSpPr>
            <p:spPr>
              <a:xfrm>
                <a:off x="1120011" y="1037036"/>
                <a:ext cx="6903972" cy="73661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ts val="2600"/>
                  </a:lnSpc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𝝋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p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是同态，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的正规子群，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𝝋</m:t>
                    </m:r>
                    <m:d>
                      <m:dPr>
                        <m:ctrlP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e>
                    </m:d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𝝋</m:t>
                    </m:r>
                    <m:d>
                      <m:dPr>
                        <m:ctrlP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</m:d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的正规子群，但不一定是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的正规子群。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1537DB63-A9C1-4563-8136-4C8D15F9FC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0011" y="1037036"/>
                <a:ext cx="6903972" cy="736612"/>
              </a:xfrm>
              <a:prstGeom prst="rect">
                <a:avLst/>
              </a:prstGeom>
              <a:blipFill>
                <a:blip r:embed="rId2"/>
                <a:stretch>
                  <a:fillRect l="-795" r="-530" b="-123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>
            <a:extLst>
              <a:ext uri="{FF2B5EF4-FFF2-40B4-BE49-F238E27FC236}">
                <a16:creationId xmlns:a16="http://schemas.microsoft.com/office/drawing/2014/main" id="{90D0A451-53BD-4CDB-B917-9FD2EF2BE753}"/>
              </a:ext>
            </a:extLst>
          </p:cNvPr>
          <p:cNvGrpSpPr/>
          <p:nvPr/>
        </p:nvGrpSpPr>
        <p:grpSpPr>
          <a:xfrm>
            <a:off x="1120011" y="2315817"/>
            <a:ext cx="6995289" cy="1466022"/>
            <a:chOff x="1120011" y="2315817"/>
            <a:chExt cx="6995289" cy="1466022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36048F38-4B31-4F6D-BA75-E12BE9AE6459}"/>
                </a:ext>
              </a:extLst>
            </p:cNvPr>
            <p:cNvSpPr/>
            <p:nvPr/>
          </p:nvSpPr>
          <p:spPr>
            <a:xfrm>
              <a:off x="1120011" y="2315817"/>
              <a:ext cx="6995289" cy="1466022"/>
            </a:xfrm>
            <a:prstGeom prst="roundRect">
              <a:avLst>
                <a:gd name="adj" fmla="val 6837"/>
              </a:avLst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98A5CB7A-4FA9-40C7-9D98-981EA8026E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69707" y="2363659"/>
              <a:ext cx="6903972" cy="13742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33117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内容提要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5BA4EFF-667B-4FC6-8446-13B52B94D7E0}"/>
              </a:ext>
            </a:extLst>
          </p:cNvPr>
          <p:cNvSpPr txBox="1"/>
          <p:nvPr/>
        </p:nvSpPr>
        <p:spPr>
          <a:xfrm>
            <a:off x="830425" y="1086007"/>
            <a:ext cx="3550298" cy="29142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 b="1">
                <a:solidFill>
                  <a:schemeClr val="bg1">
                    <a:lumMod val="95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群同态的定义与例子</a:t>
            </a:r>
            <a:endParaRPr lang="en-US" altLang="zh-CN" sz="2400" b="1">
              <a:solidFill>
                <a:schemeClr val="bg1">
                  <a:lumMod val="95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400" b="1">
                <a:solidFill>
                  <a:schemeClr val="bg1">
                    <a:lumMod val="95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群同构的基本例子</a:t>
            </a:r>
            <a:endParaRPr lang="en-US" altLang="zh-CN" sz="2400" b="1">
              <a:solidFill>
                <a:schemeClr val="bg1">
                  <a:lumMod val="95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400" b="1">
                <a:solidFill>
                  <a:schemeClr val="bg1">
                    <a:lumMod val="95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群同态的基本性质</a:t>
            </a:r>
            <a:endParaRPr lang="en-US" altLang="zh-CN" sz="2400" b="1">
              <a:solidFill>
                <a:schemeClr val="bg1">
                  <a:lumMod val="95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4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群的同态基本定理</a:t>
            </a:r>
            <a:endParaRPr lang="en-US" altLang="zh-CN" sz="24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42470A3-17E0-4A28-9AF9-5A2F0FB0419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C32D6D5-FC5F-4988-89F0-E5114C49A15E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DE91CAA-7321-49F4-9733-065AE332399B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FD880B9-427D-4B2C-B60B-E79B30A493F1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第六讲  群的同态与同构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8FDFDF5-F81B-461A-AA68-EF7C48D09363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D96B9435-B891-4393-B68B-E3404920B5F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22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/34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60788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群的同态基本定理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群同态的核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第六讲  群的同态与同构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67E5B0CF-9CF9-4EF2-9DE1-55386CD573EB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23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/34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AB66274F-9957-4CBA-9D6E-2C4FDB25ABD7}"/>
              </a:ext>
            </a:extLst>
          </p:cNvPr>
          <p:cNvGrpSpPr/>
          <p:nvPr/>
        </p:nvGrpSpPr>
        <p:grpSpPr>
          <a:xfrm>
            <a:off x="1351721" y="919369"/>
            <a:ext cx="6440557" cy="1302026"/>
            <a:chOff x="1232452" y="914400"/>
            <a:chExt cx="6440557" cy="1302026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CE5D8D5F-3CF4-4C7A-9C6C-925C0E38BC68}"/>
                </a:ext>
              </a:extLst>
            </p:cNvPr>
            <p:cNvSpPr/>
            <p:nvPr/>
          </p:nvSpPr>
          <p:spPr>
            <a:xfrm>
              <a:off x="1232452" y="914400"/>
              <a:ext cx="6440557" cy="1302026"/>
            </a:xfrm>
            <a:prstGeom prst="roundRect">
              <a:avLst>
                <a:gd name="adj" fmla="val 7125"/>
              </a:avLst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0FC509EF-D1E9-4D07-865E-441178BD3A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68045" y="963658"/>
              <a:ext cx="6356074" cy="1214348"/>
            </a:xfrm>
            <a:prstGeom prst="rect">
              <a:avLst/>
            </a:prstGeom>
          </p:spPr>
        </p:pic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9CE3D0D9-7823-4298-869B-AB0AA26D1FF8}"/>
              </a:ext>
            </a:extLst>
          </p:cNvPr>
          <p:cNvGrpSpPr/>
          <p:nvPr/>
        </p:nvGrpSpPr>
        <p:grpSpPr>
          <a:xfrm>
            <a:off x="1351721" y="2511558"/>
            <a:ext cx="6440557" cy="1103243"/>
            <a:chOff x="1351721" y="2459935"/>
            <a:chExt cx="6440557" cy="1103243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9F2E17AE-4499-497D-A233-4B32149E2C9F}"/>
                </a:ext>
              </a:extLst>
            </p:cNvPr>
            <p:cNvSpPr/>
            <p:nvPr/>
          </p:nvSpPr>
          <p:spPr>
            <a:xfrm>
              <a:off x="1351721" y="2459935"/>
              <a:ext cx="6440557" cy="1103243"/>
            </a:xfrm>
            <a:prstGeom prst="roundRect">
              <a:avLst>
                <a:gd name="adj" fmla="val 946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05148DD0-0C17-4C75-8B51-60B1EE0B10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87314" y="2499613"/>
              <a:ext cx="6356074" cy="1025174"/>
            </a:xfrm>
            <a:prstGeom prst="rect">
              <a:avLst/>
            </a:prstGeom>
          </p:spPr>
        </p:pic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B0373BEF-B206-48A0-A63D-3D50EE8AE3E9}"/>
              </a:ext>
            </a:extLst>
          </p:cNvPr>
          <p:cNvGrpSpPr/>
          <p:nvPr/>
        </p:nvGrpSpPr>
        <p:grpSpPr>
          <a:xfrm>
            <a:off x="1351721" y="3967484"/>
            <a:ext cx="6440557" cy="253993"/>
            <a:chOff x="1351721" y="3920880"/>
            <a:chExt cx="6440557" cy="253993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68641020-9C1E-429D-8BD1-ED6F87826829}"/>
                </a:ext>
              </a:extLst>
            </p:cNvPr>
            <p:cNvSpPr/>
            <p:nvPr/>
          </p:nvSpPr>
          <p:spPr>
            <a:xfrm>
              <a:off x="1351721" y="3920880"/>
              <a:ext cx="6440557" cy="253993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65442628-49AC-4B51-9073-380D5B2A91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87314" y="3945730"/>
              <a:ext cx="6356074" cy="2160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907424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群的同态基本定理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群同态的核练习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第六讲  群的同态与同构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67E5B0CF-9CF9-4EF2-9DE1-55386CD573EB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24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/34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8E11D5A-4C92-4909-882D-C0D725AD58A0}"/>
                  </a:ext>
                </a:extLst>
              </p:cNvPr>
              <p:cNvSpPr txBox="1"/>
              <p:nvPr/>
            </p:nvSpPr>
            <p:spPr>
              <a:xfrm>
                <a:off x="939245" y="939249"/>
                <a:ext cx="7265504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给出模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𝟏𝟐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加群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𝟏𝟐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到模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𝟏𝟖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加群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𝟏𝟖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的所有同态，以及每个同态的同态核。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8E11D5A-4C92-4909-882D-C0D725AD58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245" y="939249"/>
                <a:ext cx="7265504" cy="369332"/>
              </a:xfrm>
              <a:prstGeom prst="rect">
                <a:avLst/>
              </a:prstGeom>
              <a:blipFill>
                <a:blip r:embed="rId2"/>
                <a:stretch>
                  <a:fillRect l="-671" t="-8197" r="-3859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97414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群的同态基本定理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群同态的核练习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第六讲  群的同态与同构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67E5B0CF-9CF9-4EF2-9DE1-55386CD573EB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25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/34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8E11D5A-4C92-4909-882D-C0D725AD58A0}"/>
                  </a:ext>
                </a:extLst>
              </p:cNvPr>
              <p:cNvSpPr txBox="1"/>
              <p:nvPr/>
            </p:nvSpPr>
            <p:spPr>
              <a:xfrm>
                <a:off x="939245" y="939249"/>
                <a:ext cx="7265504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给出模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𝟏𝟐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加群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𝟏𝟐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到模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𝟏𝟖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加群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𝟏𝟖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的所有同态，以及每个同态的同态核。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8E11D5A-4C92-4909-882D-C0D725AD58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245" y="939249"/>
                <a:ext cx="7265504" cy="369332"/>
              </a:xfrm>
              <a:prstGeom prst="rect">
                <a:avLst/>
              </a:prstGeom>
              <a:blipFill>
                <a:blip r:embed="rId2"/>
                <a:stretch>
                  <a:fillRect l="-671" t="-8197" r="-3859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>
            <a:extLst>
              <a:ext uri="{FF2B5EF4-FFF2-40B4-BE49-F238E27FC236}">
                <a16:creationId xmlns:a16="http://schemas.microsoft.com/office/drawing/2014/main" id="{ED4CF256-2B94-4742-8786-9E169F1D9366}"/>
              </a:ext>
            </a:extLst>
          </p:cNvPr>
          <p:cNvGrpSpPr/>
          <p:nvPr/>
        </p:nvGrpSpPr>
        <p:grpSpPr>
          <a:xfrm>
            <a:off x="939245" y="1565413"/>
            <a:ext cx="7265504" cy="2539448"/>
            <a:chOff x="939245" y="1565413"/>
            <a:chExt cx="7265504" cy="2539448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63B9E38D-704E-46EF-9EB7-5D439F0EA999}"/>
                </a:ext>
              </a:extLst>
            </p:cNvPr>
            <p:cNvSpPr/>
            <p:nvPr/>
          </p:nvSpPr>
          <p:spPr>
            <a:xfrm>
              <a:off x="939245" y="1565413"/>
              <a:ext cx="7265504" cy="2539448"/>
            </a:xfrm>
            <a:prstGeom prst="roundRect">
              <a:avLst>
                <a:gd name="adj" fmla="val 4925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E89D426E-9C0E-4D2D-B951-A6D8D867ED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6458" y="1608736"/>
              <a:ext cx="7171083" cy="2456549"/>
            </a:xfrm>
            <a:prstGeom prst="rect">
              <a:avLst/>
            </a:prstGeom>
          </p:spPr>
        </p:pic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74791808-3C7A-4775-BF29-4EECB1849E55}"/>
              </a:ext>
            </a:extLst>
          </p:cNvPr>
          <p:cNvSpPr txBox="1"/>
          <p:nvPr/>
        </p:nvSpPr>
        <p:spPr>
          <a:xfrm>
            <a:off x="3936517" y="3326711"/>
            <a:ext cx="178283" cy="18466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200" b="1">
                <a:latin typeface="宋体" panose="02010600030101010101" pitchFamily="2" charset="-122"/>
                <a:ea typeface="宋体" panose="02010600030101010101" pitchFamily="2" charset="-122"/>
              </a:rPr>
              <a:t>子</a:t>
            </a:r>
          </a:p>
        </p:txBody>
      </p:sp>
    </p:spTree>
    <p:extLst>
      <p:ext uri="{BB962C8B-B14F-4D97-AF65-F5344CB8AC3E}">
        <p14:creationId xmlns:p14="http://schemas.microsoft.com/office/powerpoint/2010/main" val="35659134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群的同态基本定理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群同态的核练习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第六讲  群的同态与同构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67E5B0CF-9CF9-4EF2-9DE1-55386CD573EB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26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/34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8E11D5A-4C92-4909-882D-C0D725AD58A0}"/>
                  </a:ext>
                </a:extLst>
              </p:cNvPr>
              <p:cNvSpPr txBox="1"/>
              <p:nvPr/>
            </p:nvSpPr>
            <p:spPr>
              <a:xfrm>
                <a:off x="939245" y="939249"/>
                <a:ext cx="7265504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给出模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𝟏𝟐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加群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𝟏𝟐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到模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𝟏𝟖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加群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𝟏𝟖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的所有同态，以及每个同态的同态核。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8E11D5A-4C92-4909-882D-C0D725AD58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245" y="939249"/>
                <a:ext cx="7265504" cy="369332"/>
              </a:xfrm>
              <a:prstGeom prst="rect">
                <a:avLst/>
              </a:prstGeom>
              <a:blipFill>
                <a:blip r:embed="rId2"/>
                <a:stretch>
                  <a:fillRect l="-671" t="-8197" r="-3859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: 圆角 4">
            <a:extLst>
              <a:ext uri="{FF2B5EF4-FFF2-40B4-BE49-F238E27FC236}">
                <a16:creationId xmlns:a16="http://schemas.microsoft.com/office/drawing/2014/main" id="{63B9E38D-704E-46EF-9EB7-5D439F0EA999}"/>
              </a:ext>
            </a:extLst>
          </p:cNvPr>
          <p:cNvSpPr/>
          <p:nvPr/>
        </p:nvSpPr>
        <p:spPr>
          <a:xfrm>
            <a:off x="939245" y="1565414"/>
            <a:ext cx="7265504" cy="2375452"/>
          </a:xfrm>
          <a:prstGeom prst="roundRect">
            <a:avLst>
              <a:gd name="adj" fmla="val 4925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531AF59-7876-41D9-871D-921BA47896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788" y="1624240"/>
            <a:ext cx="7116418" cy="2245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6860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群的同态基本定理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群的同态基本定理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第六讲  群的同态与同构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67E5B0CF-9CF9-4EF2-9DE1-55386CD573EB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27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/34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53963BC9-8410-42FA-BCD5-914D0DF8B916}"/>
              </a:ext>
            </a:extLst>
          </p:cNvPr>
          <p:cNvGrpSpPr/>
          <p:nvPr/>
        </p:nvGrpSpPr>
        <p:grpSpPr>
          <a:xfrm>
            <a:off x="1033672" y="1106178"/>
            <a:ext cx="7076660" cy="690769"/>
            <a:chOff x="1033670" y="954157"/>
            <a:chExt cx="7076660" cy="690769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363039BB-9187-4CA5-AE44-8028D01D974E}"/>
                </a:ext>
              </a:extLst>
            </p:cNvPr>
            <p:cNvSpPr/>
            <p:nvPr/>
          </p:nvSpPr>
          <p:spPr>
            <a:xfrm>
              <a:off x="1033670" y="954157"/>
              <a:ext cx="7076660" cy="690769"/>
            </a:xfrm>
            <a:prstGeom prst="roundRect">
              <a:avLst>
                <a:gd name="adj" fmla="val 9473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954C39DC-2A97-44C7-95A6-C1125187CD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3423" y="995371"/>
              <a:ext cx="6997148" cy="619510"/>
            </a:xfrm>
            <a:prstGeom prst="rect">
              <a:avLst/>
            </a:prstGeom>
          </p:spPr>
        </p:pic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FDB2A30C-38AB-4CD2-98A6-AFA080B4AE3A}"/>
              </a:ext>
            </a:extLst>
          </p:cNvPr>
          <p:cNvGrpSpPr/>
          <p:nvPr/>
        </p:nvGrpSpPr>
        <p:grpSpPr>
          <a:xfrm>
            <a:off x="1033672" y="2325757"/>
            <a:ext cx="7076658" cy="1803952"/>
            <a:chOff x="993913" y="2266122"/>
            <a:chExt cx="7076658" cy="1803952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87685EED-99B6-4B8B-895A-0A3084EBEA87}"/>
                </a:ext>
              </a:extLst>
            </p:cNvPr>
            <p:cNvSpPr/>
            <p:nvPr/>
          </p:nvSpPr>
          <p:spPr>
            <a:xfrm>
              <a:off x="993913" y="2266122"/>
              <a:ext cx="7076658" cy="1803952"/>
            </a:xfrm>
            <a:prstGeom prst="roundRect">
              <a:avLst>
                <a:gd name="adj" fmla="val 7025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80613CAC-0730-4DA5-9CFA-D66A8328A4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3670" y="2308810"/>
              <a:ext cx="6997149" cy="17285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057858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群的同态基本定理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群的同态基本定理举例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第六讲  群的同态与同构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67E5B0CF-9CF9-4EF2-9DE1-55386CD573EB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28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/34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4632DB2-9AC3-4EEC-9747-078B958B8D77}"/>
              </a:ext>
            </a:extLst>
          </p:cNvPr>
          <p:cNvSpPr txBox="1"/>
          <p:nvPr/>
        </p:nvSpPr>
        <p:spPr>
          <a:xfrm>
            <a:off x="988940" y="959126"/>
            <a:ext cx="7166113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由正规子群导出的商群的自然映射是满同态，且它的核是该正规子群。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2A680CCF-66BB-4ABB-9735-A081E68F9690}"/>
              </a:ext>
            </a:extLst>
          </p:cNvPr>
          <p:cNvGrpSpPr/>
          <p:nvPr/>
        </p:nvGrpSpPr>
        <p:grpSpPr>
          <a:xfrm>
            <a:off x="1018757" y="1840559"/>
            <a:ext cx="7106477" cy="2123653"/>
            <a:chOff x="1048576" y="1861937"/>
            <a:chExt cx="7106477" cy="2123653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3522FD99-B949-4349-B391-3165686E0F5F}"/>
                </a:ext>
              </a:extLst>
            </p:cNvPr>
            <p:cNvSpPr/>
            <p:nvPr/>
          </p:nvSpPr>
          <p:spPr>
            <a:xfrm>
              <a:off x="1048576" y="1861937"/>
              <a:ext cx="7106477" cy="2123653"/>
            </a:xfrm>
            <a:prstGeom prst="roundRect">
              <a:avLst>
                <a:gd name="adj" fmla="val 4265"/>
              </a:avLst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5A5E353E-3CC7-40F2-BDD7-D1C6F3F95C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8396" y="1900654"/>
              <a:ext cx="7046847" cy="204622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91752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群的同态基本定理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群同态基本定理的应用例子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第六讲  群的同态与同构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67E5B0CF-9CF9-4EF2-9DE1-55386CD573EB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29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/34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B1819301-B00E-40DA-BF1C-07077D3BB85A}"/>
              </a:ext>
            </a:extLst>
          </p:cNvPr>
          <p:cNvGrpSpPr/>
          <p:nvPr/>
        </p:nvGrpSpPr>
        <p:grpSpPr>
          <a:xfrm>
            <a:off x="1008821" y="980208"/>
            <a:ext cx="7126357" cy="571500"/>
            <a:chOff x="1003852" y="790161"/>
            <a:chExt cx="7126357" cy="571500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0C590409-4F46-48B6-A3C8-62EB7BCE005C}"/>
                </a:ext>
              </a:extLst>
            </p:cNvPr>
            <p:cNvSpPr/>
            <p:nvPr/>
          </p:nvSpPr>
          <p:spPr>
            <a:xfrm>
              <a:off x="1003852" y="790161"/>
              <a:ext cx="7126357" cy="571500"/>
            </a:xfrm>
            <a:prstGeom prst="roundRect">
              <a:avLst>
                <a:gd name="adj" fmla="val 12319"/>
              </a:avLst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50A8C238-F3CA-446A-A2A9-BA52E003F3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36154" y="824659"/>
              <a:ext cx="7071691" cy="499905"/>
            </a:xfrm>
            <a:prstGeom prst="rect">
              <a:avLst/>
            </a:prstGeom>
          </p:spPr>
        </p:pic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8E31C8ED-8470-4EDD-A5EC-A517C1A19A74}"/>
              </a:ext>
            </a:extLst>
          </p:cNvPr>
          <p:cNvGrpSpPr/>
          <p:nvPr/>
        </p:nvGrpSpPr>
        <p:grpSpPr>
          <a:xfrm>
            <a:off x="1008821" y="1825145"/>
            <a:ext cx="7126357" cy="2533164"/>
            <a:chOff x="1008821" y="1700906"/>
            <a:chExt cx="7126357" cy="2533164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E96370F5-549A-41E4-9F3C-1C8D625E8078}"/>
                </a:ext>
              </a:extLst>
            </p:cNvPr>
            <p:cNvSpPr/>
            <p:nvPr/>
          </p:nvSpPr>
          <p:spPr>
            <a:xfrm>
              <a:off x="1008821" y="1700906"/>
              <a:ext cx="7126357" cy="2533164"/>
            </a:xfrm>
            <a:prstGeom prst="roundRect">
              <a:avLst>
                <a:gd name="adj" fmla="val 2738"/>
              </a:avLst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F561BA4C-D0D4-4285-97B3-A330840F45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6154" y="1750607"/>
              <a:ext cx="7071692" cy="1963101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18B56A21-0792-48EC-9949-07CEFAD280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3671" y="3714183"/>
              <a:ext cx="7071692" cy="4781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78197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04E61C99-EBA2-421B-A220-9ACA5F04434A}"/>
              </a:ext>
            </a:extLst>
          </p:cNvPr>
          <p:cNvSpPr/>
          <p:nvPr/>
        </p:nvSpPr>
        <p:spPr>
          <a:xfrm>
            <a:off x="750404" y="1043609"/>
            <a:ext cx="7628283" cy="62616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群的同态基本定理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第二同构定理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第六讲  群的同态与同构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67E5B0CF-9CF9-4EF2-9DE1-55386CD573EB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30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/34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83176B1-3B7B-4CB4-9DEE-EE4CEA8DBC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094732"/>
            <a:ext cx="7543799" cy="53370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21A281F-1065-423C-95D1-376B71B47D5C}"/>
                  </a:ext>
                </a:extLst>
              </p:cNvPr>
              <p:cNvSpPr txBox="1"/>
              <p:nvPr/>
            </p:nvSpPr>
            <p:spPr>
              <a:xfrm>
                <a:off x="750404" y="2221396"/>
                <a:ext cx="7687917" cy="1663148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5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</a:rPr>
                  <a:t>(1) </a:t>
                </a: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利用子群判定定理证明：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𝑲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𝒉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𝑯𝑲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！</a:t>
                </a:r>
                <a:endParaRPr lang="en-US" altLang="zh-CN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>
                  <a:lnSpc>
                    <a:spcPts val="25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</a:rPr>
                  <a:t>(2) </a:t>
                </a: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利用正规子群判断定理证明：对任意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𝒉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𝑲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𝒉𝒏</m:t>
                    </m:r>
                    <m:sSup>
                      <m:sSup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p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𝑲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；以及对任意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𝑲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𝑲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sub>
                        </m:sSub>
                      </m:e>
                    </m:d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𝑯𝑲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！</a:t>
                </a:r>
                <a:endParaRPr lang="en-US" altLang="zh-CN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>
                  <a:lnSpc>
                    <a:spcPts val="25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</a:rPr>
                  <a:t>(3) </a:t>
                </a: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构造同态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𝝋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→ 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𝑯𝑲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𝑲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，使得</a:t>
                </a:r>
                <a14:m>
                  <m:oMath xmlns:m="http://schemas.openxmlformats.org/officeDocument/2006/math">
                    <m:r>
                      <a:rPr lang="en-US" altLang="zh-CN" b="1" i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𝐊𝐞𝐫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𝝋</m:t>
                        </m:r>
                      </m:e>
                    </m:d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𝑲</m:t>
                    </m:r>
                  </m:oMath>
                </a14:m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</a:rPr>
                  <a:t>!</a:t>
                </a:r>
                <a:endParaRPr lang="zh-CN" altLang="en-US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21A281F-1065-423C-95D1-376B71B47D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404" y="2221396"/>
                <a:ext cx="7687917" cy="1663148"/>
              </a:xfrm>
              <a:prstGeom prst="rect">
                <a:avLst/>
              </a:prstGeom>
              <a:blipFill>
                <a:blip r:embed="rId3"/>
                <a:stretch>
                  <a:fillRect l="-634" t="-366" r="-3648" b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5565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群的同态基本定理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第二同构定理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第六讲  群的同态与同构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67E5B0CF-9CF9-4EF2-9DE1-55386CD573EB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31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/34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C95A6925-6110-41D0-A0B0-8D1E26171881}"/>
              </a:ext>
            </a:extLst>
          </p:cNvPr>
          <p:cNvGrpSpPr/>
          <p:nvPr/>
        </p:nvGrpSpPr>
        <p:grpSpPr>
          <a:xfrm>
            <a:off x="757853" y="807099"/>
            <a:ext cx="7628283" cy="626165"/>
            <a:chOff x="750404" y="1043609"/>
            <a:chExt cx="7628283" cy="626165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04E61C99-EBA2-421B-A220-9ACA5F04434A}"/>
                </a:ext>
              </a:extLst>
            </p:cNvPr>
            <p:cNvSpPr/>
            <p:nvPr/>
          </p:nvSpPr>
          <p:spPr>
            <a:xfrm>
              <a:off x="750404" y="1043609"/>
              <a:ext cx="7628283" cy="626165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B83176B1-3B7B-4CB4-9DEE-EE4CEA8DBC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100" y="1094732"/>
              <a:ext cx="7543799" cy="533702"/>
            </a:xfrm>
            <a:prstGeom prst="rect">
              <a:avLst/>
            </a:prstGeom>
          </p:spPr>
        </p:pic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E2BCE532-843C-4888-A42E-A189E50EBAC7}"/>
              </a:ext>
            </a:extLst>
          </p:cNvPr>
          <p:cNvGrpSpPr/>
          <p:nvPr/>
        </p:nvGrpSpPr>
        <p:grpSpPr>
          <a:xfrm>
            <a:off x="757853" y="1595230"/>
            <a:ext cx="7628283" cy="3012462"/>
            <a:chOff x="750402" y="1674743"/>
            <a:chExt cx="7628283" cy="3012462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42C4122D-5926-4A17-A3C3-9F377FB7C786}"/>
                </a:ext>
              </a:extLst>
            </p:cNvPr>
            <p:cNvSpPr/>
            <p:nvPr/>
          </p:nvSpPr>
          <p:spPr>
            <a:xfrm>
              <a:off x="750402" y="1674743"/>
              <a:ext cx="7628283" cy="3012462"/>
            </a:xfrm>
            <a:prstGeom prst="roundRect">
              <a:avLst>
                <a:gd name="adj" fmla="val 2645"/>
              </a:avLst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3F4EEF32-F457-4AD6-9A09-15365142A54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2643" y="1710870"/>
              <a:ext cx="7543799" cy="293836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174139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群的同态基本定理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第二同构定理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第六讲  群的同态与同构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67E5B0CF-9CF9-4EF2-9DE1-55386CD573EB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32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/34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C95A6925-6110-41D0-A0B0-8D1E26171881}"/>
              </a:ext>
            </a:extLst>
          </p:cNvPr>
          <p:cNvGrpSpPr/>
          <p:nvPr/>
        </p:nvGrpSpPr>
        <p:grpSpPr>
          <a:xfrm>
            <a:off x="757853" y="996397"/>
            <a:ext cx="7628283" cy="626165"/>
            <a:chOff x="750404" y="1043609"/>
            <a:chExt cx="7628283" cy="626165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04E61C99-EBA2-421B-A220-9ACA5F04434A}"/>
                </a:ext>
              </a:extLst>
            </p:cNvPr>
            <p:cNvSpPr/>
            <p:nvPr/>
          </p:nvSpPr>
          <p:spPr>
            <a:xfrm>
              <a:off x="750404" y="1043609"/>
              <a:ext cx="7628283" cy="626165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B83176B1-3B7B-4CB4-9DEE-EE4CEA8DBC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100" y="1094732"/>
              <a:ext cx="7543799" cy="533702"/>
            </a:xfrm>
            <a:prstGeom prst="rect">
              <a:avLst/>
            </a:prstGeom>
          </p:spPr>
        </p:pic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2A42210D-6AF5-48CB-848B-74FE6DF2CCED}"/>
              </a:ext>
            </a:extLst>
          </p:cNvPr>
          <p:cNvGrpSpPr/>
          <p:nvPr/>
        </p:nvGrpSpPr>
        <p:grpSpPr>
          <a:xfrm>
            <a:off x="765306" y="2209206"/>
            <a:ext cx="7628283" cy="1933161"/>
            <a:chOff x="757853" y="1595230"/>
            <a:chExt cx="7628283" cy="1933161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42C4122D-5926-4A17-A3C3-9F377FB7C786}"/>
                </a:ext>
              </a:extLst>
            </p:cNvPr>
            <p:cNvSpPr/>
            <p:nvPr/>
          </p:nvSpPr>
          <p:spPr>
            <a:xfrm>
              <a:off x="757853" y="1595230"/>
              <a:ext cx="7628283" cy="1933161"/>
            </a:xfrm>
            <a:prstGeom prst="roundRect">
              <a:avLst>
                <a:gd name="adj" fmla="val 2645"/>
              </a:avLst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6C0A8763-7A15-4325-9450-2FE300CC02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0100" y="1652923"/>
              <a:ext cx="7543800" cy="18277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015133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群的同态基本定理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第三同构定理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第六讲  群的同态与同构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67E5B0CF-9CF9-4EF2-9DE1-55386CD573EB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33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/34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DCCCDBCB-B7FD-4277-99D1-D79E33D6E5E6}"/>
              </a:ext>
            </a:extLst>
          </p:cNvPr>
          <p:cNvGrpSpPr/>
          <p:nvPr/>
        </p:nvGrpSpPr>
        <p:grpSpPr>
          <a:xfrm>
            <a:off x="983970" y="803467"/>
            <a:ext cx="7176053" cy="3766930"/>
            <a:chOff x="983974" y="800100"/>
            <a:chExt cx="7176053" cy="3766930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C1D8BBCD-851E-45EF-8353-AF0428984D38}"/>
                </a:ext>
              </a:extLst>
            </p:cNvPr>
            <p:cNvSpPr/>
            <p:nvPr/>
          </p:nvSpPr>
          <p:spPr>
            <a:xfrm>
              <a:off x="983974" y="800100"/>
              <a:ext cx="7176053" cy="3766930"/>
            </a:xfrm>
            <a:prstGeom prst="roundRect">
              <a:avLst>
                <a:gd name="adj" fmla="val 4134"/>
              </a:avLst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55D2434C-9D05-4D6D-9B94-39FFCEB8DD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1061" y="849803"/>
              <a:ext cx="7041872" cy="36742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280228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F550948-0A88-4D14-B7D1-47069CABE5F1}"/>
              </a:ext>
            </a:extLst>
          </p:cNvPr>
          <p:cNvSpPr txBox="1"/>
          <p:nvPr/>
        </p:nvSpPr>
        <p:spPr>
          <a:xfrm>
            <a:off x="1138028" y="1013474"/>
            <a:ext cx="6867938" cy="1862048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ts val="450"/>
              </a:spcBef>
              <a:spcAft>
                <a:spcPts val="450"/>
              </a:spcAft>
            </a:pPr>
            <a:r>
              <a:rPr lang="zh-CN" altLang="en-US" sz="1800" b="1">
                <a:solidFill>
                  <a:srgbClr val="002060"/>
                </a:solidFill>
              </a:rPr>
              <a:t>群的同态</a:t>
            </a:r>
          </a:p>
          <a:p>
            <a:pPr marL="257175" indent="-257175"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zh-CN" altLang="en-US" sz="1800" b="1">
                <a:solidFill>
                  <a:schemeClr val="accent6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群的同态是群之间与二元运算可交换的函数</a:t>
            </a:r>
            <a:endParaRPr lang="en-US" altLang="zh-CN" sz="1800" b="1">
              <a:solidFill>
                <a:schemeClr val="accent6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57175" indent="-257175"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chemeClr val="accent6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子群的像和逆像仍然子群，正规子群的像是同态像的正规子群，正规子群的逆像是正规子群</a:t>
            </a:r>
            <a:endParaRPr lang="en-US" altLang="zh-CN" b="1">
              <a:solidFill>
                <a:schemeClr val="accent6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57175" indent="-257175"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chemeClr val="accent6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群的同态基本定理：同态像与关于同态核的商群同构</a:t>
            </a:r>
            <a:endParaRPr lang="zh-CN" altLang="en-US" sz="1800" b="1">
              <a:solidFill>
                <a:schemeClr val="accent6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9046192-3E11-4E79-BCD3-91093B8CC99E}"/>
              </a:ext>
            </a:extLst>
          </p:cNvPr>
          <p:cNvSpPr txBox="1"/>
          <p:nvPr/>
        </p:nvSpPr>
        <p:spPr>
          <a:xfrm>
            <a:off x="2315009" y="3191912"/>
            <a:ext cx="4513976" cy="11798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Aft>
                <a:spcPts val="450"/>
              </a:spcAft>
            </a:pPr>
            <a:r>
              <a:rPr lang="zh-CN" altLang="en-US" sz="1800" b="1">
                <a:solidFill>
                  <a:srgbClr val="C00000"/>
                </a:solidFill>
              </a:rPr>
              <a:t>学习这一部分的目标</a:t>
            </a:r>
          </a:p>
          <a:p>
            <a:pPr marL="257175" indent="-257175"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zh-CN" altLang="en-US" sz="1800" b="1">
                <a:solidFill>
                  <a:schemeClr val="accent2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能判断群之间的函数是否是群的同态</a:t>
            </a:r>
          </a:p>
          <a:p>
            <a:pPr marL="257175" indent="-257175"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zh-CN" altLang="en-US" sz="1800" b="1">
                <a:solidFill>
                  <a:schemeClr val="accent2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能证明与群的同态相关的简单命题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3C5F06C-13F4-4700-A74A-50AE597C58B1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总结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31AB877-3368-4FFC-9613-CFD7F9DE434E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EE550E3-E368-4444-865C-D1511A0ABEDF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总结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53CC005-3633-4177-82A7-AAC95BDF90FD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EED2EB6-7339-4103-AB2C-C889032943F8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第六讲  群的同态与同构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316D71E-13E4-4E7F-BFA5-D05D8033C3FF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CF1BE71F-FA69-411D-BD7B-4CB93A594B2D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34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/34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3134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9EF1AFF-D150-4D24-BB32-695DDFCBCE6E}"/>
              </a:ext>
            </a:extLst>
          </p:cNvPr>
          <p:cNvSpPr txBox="1"/>
          <p:nvPr/>
        </p:nvSpPr>
        <p:spPr>
          <a:xfrm>
            <a:off x="755374" y="2375543"/>
            <a:ext cx="6827897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在线平台练习（群的同态与同构部分）！</a:t>
            </a:r>
            <a:endParaRPr lang="zh-CN" altLang="en-US" sz="2400" b="1" dirty="0">
              <a:solidFill>
                <a:srgbClr val="C00000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6CC8CC8-7EDC-415B-B810-AAB219ACED13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183F4F5-7F97-4CED-B3A1-14F3C9811897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第六讲  群的同态与同构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56627BE-7107-49BE-A498-826F3842F409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D2BFF262-CF58-4B19-84BB-A52050DCEE8A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35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/34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8D040D8-C82F-4BD4-B428-4ECA0AC4E742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作业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CDF40A9-6D3E-4591-BC81-1F0D9F0DCEC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FD7F494-7D4C-4480-A38A-430AACDA8F80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作业</a:t>
            </a:r>
          </a:p>
        </p:txBody>
      </p:sp>
    </p:spTree>
    <p:extLst>
      <p:ext uri="{BB962C8B-B14F-4D97-AF65-F5344CB8AC3E}">
        <p14:creationId xmlns:p14="http://schemas.microsoft.com/office/powerpoint/2010/main" val="1186564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3778FC1-0A49-4C7B-8763-0ABD47A13328}"/>
              </a:ext>
            </a:extLst>
          </p:cNvPr>
          <p:cNvSpPr txBox="1"/>
          <p:nvPr/>
        </p:nvSpPr>
        <p:spPr>
          <a:xfrm>
            <a:off x="1440939" y="1500963"/>
            <a:ext cx="6428759" cy="1815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zh-CN" altLang="en-US" sz="300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谢谢大家！</a:t>
            </a:r>
            <a:endParaRPr lang="en-US" altLang="zh-CN" sz="3000">
              <a:solidFill>
                <a:srgbClr val="C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>
              <a:lnSpc>
                <a:spcPct val="200000"/>
              </a:lnSpc>
            </a:pPr>
            <a:r>
              <a:rPr lang="zh-CN" altLang="en-US" sz="300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有什么问题和建议请及时反馈给老师！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183226F-FD7D-4839-BED4-AEBFFE411A57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6113707-B6C2-48CE-819B-21701DCC56A3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第六讲  群的同态与同构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8C9D032-921C-433D-91C0-C2F117D77F55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ED7340C-548D-4890-A315-72EA938BD920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zh-CN" altLang="en-US" sz="120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A708D7-0568-4958-823C-2A91B21DB047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90CA99B-E615-4BA7-8851-D6FD4767EAE2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38075701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1536</TotalTime>
  <Words>1704</Words>
  <Application>Microsoft Office PowerPoint</Application>
  <PresentationFormat>全屏显示(16:9)</PresentationFormat>
  <Paragraphs>237</Paragraphs>
  <Slides>36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6" baseType="lpstr">
      <vt:lpstr>等线</vt:lpstr>
      <vt:lpstr>仿宋</vt:lpstr>
      <vt:lpstr>华文新魏</vt:lpstr>
      <vt:lpstr>楷体</vt:lpstr>
      <vt:lpstr>宋体</vt:lpstr>
      <vt:lpstr>Arial</vt:lpstr>
      <vt:lpstr>Calibri</vt:lpstr>
      <vt:lpstr>Calibri Light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zhou xiaocong</cp:lastModifiedBy>
  <cp:revision>59</cp:revision>
  <dcterms:created xsi:type="dcterms:W3CDTF">2022-01-01T06:39:40Z</dcterms:created>
  <dcterms:modified xsi:type="dcterms:W3CDTF">2024-02-23T06:48:41Z</dcterms:modified>
</cp:coreProperties>
</file>