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2" r:id="rId3"/>
    <p:sldId id="259" r:id="rId4"/>
    <p:sldId id="257" r:id="rId5"/>
    <p:sldId id="313" r:id="rId6"/>
    <p:sldId id="281" r:id="rId7"/>
    <p:sldId id="315" r:id="rId8"/>
    <p:sldId id="314" r:id="rId9"/>
    <p:sldId id="318" r:id="rId10"/>
    <p:sldId id="316" r:id="rId11"/>
    <p:sldId id="317" r:id="rId12"/>
    <p:sldId id="319" r:id="rId13"/>
    <p:sldId id="282" r:id="rId14"/>
    <p:sldId id="321" r:id="rId15"/>
    <p:sldId id="322" r:id="rId16"/>
    <p:sldId id="324" r:id="rId17"/>
    <p:sldId id="320" r:id="rId18"/>
    <p:sldId id="325" r:id="rId19"/>
    <p:sldId id="323" r:id="rId20"/>
    <p:sldId id="326" r:id="rId21"/>
    <p:sldId id="328" r:id="rId22"/>
    <p:sldId id="329" r:id="rId23"/>
    <p:sldId id="330" r:id="rId24"/>
    <p:sldId id="331" r:id="rId25"/>
    <p:sldId id="327" r:id="rId26"/>
    <p:sldId id="333" r:id="rId27"/>
    <p:sldId id="332" r:id="rId28"/>
    <p:sldId id="335" r:id="rId29"/>
    <p:sldId id="336" r:id="rId30"/>
    <p:sldId id="337" r:id="rId31"/>
    <p:sldId id="338" r:id="rId32"/>
    <p:sldId id="272" r:id="rId33"/>
    <p:sldId id="280" r:id="rId34"/>
    <p:sldId id="262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54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7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6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36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1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4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8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34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2024/01/17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6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第五讲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正规子群与商群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提示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学习目标与学习重点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E765DC-2D6D-4AC3-BAF6-7EEB0AC64C92}"/>
              </a:ext>
            </a:extLst>
          </p:cNvPr>
          <p:cNvSpPr txBox="1"/>
          <p:nvPr/>
        </p:nvSpPr>
        <p:spPr>
          <a:xfrm>
            <a:off x="1872283" y="1267011"/>
            <a:ext cx="5399432" cy="1615827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熟悉正规子群的定义，熟悉正规子群的判定定理</a:t>
            </a:r>
            <a:endParaRPr lang="en-US" altLang="zh-CN" b="1">
              <a:solidFill>
                <a:srgbClr val="00206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熟悉商群的定义，能给出一些具体的商群例子</a:t>
            </a:r>
            <a:endParaRPr lang="en-US" altLang="zh-CN" b="1">
              <a:solidFill>
                <a:srgbClr val="00206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能证明与正规子群、商群相关的简单性质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8A4FB3-E946-4AFE-AEF0-D0516B0DC2F8}"/>
              </a:ext>
            </a:extLst>
          </p:cNvPr>
          <p:cNvSpPr txBox="1"/>
          <p:nvPr/>
        </p:nvSpPr>
        <p:spPr>
          <a:xfrm>
            <a:off x="598082" y="3364365"/>
            <a:ext cx="7947834" cy="872162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学习重点</a:t>
            </a:r>
          </a:p>
          <a:p>
            <a:pPr marL="257175" indent="-257175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如何判定一个子群是正规子群？商群的运算是什么？商群的单位元是什么？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046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44725" y="1613416"/>
            <a:ext cx="3550298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正规子群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商群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子群陪集性质回顾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450666-BF47-4522-BD7A-A53AD369920A}"/>
                  </a:ext>
                </a:extLst>
              </p:cNvPr>
              <p:cNvSpPr txBox="1"/>
              <p:nvPr/>
            </p:nvSpPr>
            <p:spPr>
              <a:xfrm>
                <a:off x="803206" y="833497"/>
                <a:ext cx="2005013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450666-BF47-4522-BD7A-A53AD3699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06" y="833497"/>
                <a:ext cx="2005013" cy="369332"/>
              </a:xfrm>
              <a:prstGeom prst="rect">
                <a:avLst/>
              </a:prstGeom>
              <a:blipFill>
                <a:blip r:embed="rId2"/>
                <a:stretch>
                  <a:fillRect l="-2736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E0AF11-5573-4421-A3E1-19663E437910}"/>
                  </a:ext>
                </a:extLst>
              </p:cNvPr>
              <p:cNvSpPr txBox="1"/>
              <p:nvPr/>
            </p:nvSpPr>
            <p:spPr>
              <a:xfrm>
                <a:off x="803206" y="1387496"/>
                <a:ext cx="3629026" cy="307026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的子群的充分必要条件是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定义关系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𝒂𝑹𝒃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是等价关系，等价类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E0AF11-5573-4421-A3E1-19663E437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06" y="1387496"/>
                <a:ext cx="3629026" cy="3070264"/>
              </a:xfrm>
              <a:prstGeom prst="rect">
                <a:avLst/>
              </a:prstGeom>
              <a:blipFill>
                <a:blip r:embed="rId3"/>
                <a:stretch>
                  <a:fillRect l="-672" r="-336" b="-1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4182B6B-BADB-4FA7-9FEA-7473CED536A4}"/>
                  </a:ext>
                </a:extLst>
              </p:cNvPr>
              <p:cNvSpPr txBox="1"/>
              <p:nvPr/>
            </p:nvSpPr>
            <p:spPr>
              <a:xfrm>
                <a:off x="4711768" y="1378543"/>
                <a:ext cx="3629026" cy="307026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的子群的充分必要条件是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定义关系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𝒂𝑹𝒃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是等价关系，等价类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4182B6B-BADB-4FA7-9FEA-7473CED53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68" y="1378543"/>
                <a:ext cx="3629026" cy="3070264"/>
              </a:xfrm>
              <a:prstGeom prst="rect">
                <a:avLst/>
              </a:prstGeom>
              <a:blipFill>
                <a:blip r:embed="rId4"/>
                <a:stretch>
                  <a:fillRect l="-672" r="-336" b="-1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正规子群的定义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22BE54B-D217-4B54-B1F0-20E3E4E83D44}"/>
                  </a:ext>
                </a:extLst>
              </p:cNvPr>
              <p:cNvSpPr txBox="1"/>
              <p:nvPr/>
            </p:nvSpPr>
            <p:spPr>
              <a:xfrm>
                <a:off x="977757" y="983975"/>
                <a:ext cx="7188479" cy="73661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都有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正规子群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(normal subgroup)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或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不变子群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(invariant subgroup)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⊴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22BE54B-D217-4B54-B1F0-20E3E4E83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57" y="983975"/>
                <a:ext cx="7188479" cy="736612"/>
              </a:xfrm>
              <a:prstGeom prst="rect">
                <a:avLst/>
              </a:prstGeom>
              <a:blipFill>
                <a:blip r:embed="rId2"/>
                <a:stretch>
                  <a:fillRect l="-678" r="-593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BA584C-FE0D-44B8-9EA8-E8971356C082}"/>
                  </a:ext>
                </a:extLst>
              </p:cNvPr>
              <p:cNvSpPr txBox="1"/>
              <p:nvPr/>
            </p:nvSpPr>
            <p:spPr>
              <a:xfrm>
                <a:off x="977757" y="1987822"/>
                <a:ext cx="7188479" cy="10697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rgbClr val="002060"/>
                    </a:solidFill>
                  </a:rPr>
                  <a:t>条件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仅表示两个集合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相等。不能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错误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地认为，由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可推出对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的任意元素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𝒉𝒂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𝒂𝒉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。</a:t>
                </a:r>
                <a:endParaRPr lang="en-US" altLang="zh-CN" sz="1600" b="1">
                  <a:solidFill>
                    <a:srgbClr val="002060"/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正确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的理解是：对任意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，存在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𝒂𝒉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BA584C-FE0D-44B8-9EA8-E8971356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57" y="1987822"/>
                <a:ext cx="7188479" cy="1069716"/>
              </a:xfrm>
              <a:prstGeom prst="rect">
                <a:avLst/>
              </a:prstGeom>
              <a:blipFill>
                <a:blip r:embed="rId3"/>
                <a:stretch>
                  <a:fillRect l="-424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A70FA1C-B00B-4BC7-BE3F-91D9588D8D60}"/>
                  </a:ext>
                </a:extLst>
              </p:cNvPr>
              <p:cNvSpPr txBox="1"/>
              <p:nvPr/>
            </p:nvSpPr>
            <p:spPr>
              <a:xfrm>
                <a:off x="977764" y="3324773"/>
                <a:ext cx="7188472" cy="10354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的单位元子群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本身都是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的正规子群。这两个正规子群称为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的平凡正规子群。如果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只有平凡正规子群，且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为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单群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(simple group)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A70FA1C-B00B-4BC7-BE3F-91D9588D8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64" y="3324773"/>
                <a:ext cx="7188472" cy="1035476"/>
              </a:xfrm>
              <a:prstGeom prst="rect">
                <a:avLst/>
              </a:prstGeom>
              <a:blipFill>
                <a:blip r:embed="rId4"/>
                <a:stretch>
                  <a:fillRect l="-678" t="-588" b="-8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7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E84B6E0-23A6-4258-98F6-174F0F4A478F}"/>
              </a:ext>
            </a:extLst>
          </p:cNvPr>
          <p:cNvGrpSpPr/>
          <p:nvPr/>
        </p:nvGrpSpPr>
        <p:grpSpPr>
          <a:xfrm>
            <a:off x="1205117" y="921254"/>
            <a:ext cx="6733760" cy="3531357"/>
            <a:chOff x="1113183" y="841860"/>
            <a:chExt cx="6733760" cy="353135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5F65B4A-455C-4E1E-A551-5BCEDBE10076}"/>
                </a:ext>
              </a:extLst>
            </p:cNvPr>
            <p:cNvSpPr/>
            <p:nvPr/>
          </p:nvSpPr>
          <p:spPr>
            <a:xfrm>
              <a:off x="1113183" y="841860"/>
              <a:ext cx="6733760" cy="3531357"/>
            </a:xfrm>
            <a:prstGeom prst="roundRect">
              <a:avLst>
                <a:gd name="adj" fmla="val 4283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33C99A7-0263-4657-91EB-108DA1E77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7786" y="886251"/>
              <a:ext cx="6614493" cy="34505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265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88D841-9DB1-4FEB-8CD6-9AD214962177}"/>
                  </a:ext>
                </a:extLst>
              </p:cNvPr>
              <p:cNvSpPr txBox="1"/>
              <p:nvPr/>
            </p:nvSpPr>
            <p:spPr>
              <a:xfrm>
                <a:off x="1115668" y="1116714"/>
                <a:ext cx="3938380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交换群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的任意子群都是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88D841-9DB1-4FEB-8CD6-9AD214962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68" y="1116714"/>
                <a:ext cx="3938380" cy="369332"/>
              </a:xfrm>
              <a:prstGeom prst="rect">
                <a:avLst/>
              </a:prstGeom>
              <a:blipFill>
                <a:blip r:embed="rId2"/>
                <a:stretch>
                  <a:fillRect l="-1238" t="-8197" r="-1238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8BD8EB2-DD98-4B8C-8D1C-E23C1D220617}"/>
                  </a:ext>
                </a:extLst>
              </p:cNvPr>
              <p:cNvSpPr txBox="1"/>
              <p:nvPr/>
            </p:nvSpPr>
            <p:spPr>
              <a:xfrm>
                <a:off x="1115668" y="1956415"/>
                <a:ext cx="6910180" cy="7148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8BD8EB2-DD98-4B8C-8D1C-E23C1D220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68" y="1956415"/>
                <a:ext cx="6910180" cy="714876"/>
              </a:xfrm>
              <a:prstGeom prst="rect">
                <a:avLst/>
              </a:prstGeom>
              <a:blipFill>
                <a:blip r:embed="rId3"/>
                <a:stretch>
                  <a:fillRect l="-705" t="-1709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283F82D-015A-4679-A434-335F6CD53DF7}"/>
              </a:ext>
            </a:extLst>
          </p:cNvPr>
          <p:cNvSpPr txBox="1"/>
          <p:nvPr/>
        </p:nvSpPr>
        <p:spPr>
          <a:xfrm>
            <a:off x="7121387" y="2332737"/>
            <a:ext cx="904461" cy="33855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为什么？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216C2F8-1913-4C02-9DDD-7F43ECA8A29F}"/>
                  </a:ext>
                </a:extLst>
              </p:cNvPr>
              <p:cNvSpPr txBox="1"/>
              <p:nvPr/>
            </p:nvSpPr>
            <p:spPr>
              <a:xfrm>
                <a:off x="1115668" y="3141661"/>
                <a:ext cx="6910180" cy="113531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不一定是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的子群时，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当然是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216C2F8-1913-4C02-9DDD-7F43ECA8A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68" y="3141661"/>
                <a:ext cx="6910180" cy="1135311"/>
              </a:xfrm>
              <a:prstGeom prst="rect">
                <a:avLst/>
              </a:prstGeom>
              <a:blipFill>
                <a:blip r:embed="rId4"/>
                <a:stretch>
                  <a:fillRect l="-705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462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2F448E-3A50-4608-838A-9F2D0BFC2E51}"/>
                  </a:ext>
                </a:extLst>
              </p:cNvPr>
              <p:cNvSpPr txBox="1"/>
              <p:nvPr/>
            </p:nvSpPr>
            <p:spPr>
              <a:xfrm>
                <a:off x="1041120" y="964095"/>
                <a:ext cx="7061753" cy="73661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的任意一个左陪集也是它的一个右陪集，则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2F448E-3A50-4608-838A-9F2D0BFC2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20" y="964095"/>
                <a:ext cx="7061753" cy="736612"/>
              </a:xfrm>
              <a:prstGeom prst="rect">
                <a:avLst/>
              </a:prstGeom>
              <a:blipFill>
                <a:blip r:embed="rId2"/>
                <a:stretch>
                  <a:fillRect l="-777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C5A633-8242-4E38-8326-CB9BC2C8FA2F}"/>
                  </a:ext>
                </a:extLst>
              </p:cNvPr>
              <p:cNvSpPr txBox="1"/>
              <p:nvPr/>
            </p:nvSpPr>
            <p:spPr>
              <a:xfrm>
                <a:off x="1041120" y="2181639"/>
                <a:ext cx="7061753" cy="7366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的任意一个左陪集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的一个右陪集，并没有说这个右陪集就是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，其准确含义是什么？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C5A633-8242-4E38-8326-CB9BC2C8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20" y="2181639"/>
                <a:ext cx="7061753" cy="736612"/>
              </a:xfrm>
              <a:prstGeom prst="rect">
                <a:avLst/>
              </a:prstGeom>
              <a:blipFill>
                <a:blip r:embed="rId3"/>
                <a:stretch>
                  <a:fillRect l="-777" r="-518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60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2F448E-3A50-4608-838A-9F2D0BFC2E51}"/>
                  </a:ext>
                </a:extLst>
              </p:cNvPr>
              <p:cNvSpPr txBox="1"/>
              <p:nvPr/>
            </p:nvSpPr>
            <p:spPr>
              <a:xfrm>
                <a:off x="1041120" y="964095"/>
                <a:ext cx="7061753" cy="73661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的任意一个左陪集也是它的一个右陪集，则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B2F448E-3A50-4608-838A-9F2D0BFC2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20" y="964095"/>
                <a:ext cx="7061753" cy="736612"/>
              </a:xfrm>
              <a:prstGeom prst="rect">
                <a:avLst/>
              </a:prstGeom>
              <a:blipFill>
                <a:blip r:embed="rId2"/>
                <a:stretch>
                  <a:fillRect l="-777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6D37B83-34F1-4308-A21A-DE41D736127A}"/>
                  </a:ext>
                </a:extLst>
              </p:cNvPr>
              <p:cNvSpPr txBox="1"/>
              <p:nvPr/>
            </p:nvSpPr>
            <p:spPr>
              <a:xfrm>
                <a:off x="1041119" y="2116561"/>
                <a:ext cx="7061753" cy="140416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的左陪集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的右陪集，即存在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，而又有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，根据陪集的性质有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6D37B83-34F1-4308-A21A-DE41D7361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19" y="2116561"/>
                <a:ext cx="7061753" cy="1404167"/>
              </a:xfrm>
              <a:prstGeom prst="rect">
                <a:avLst/>
              </a:prstGeom>
              <a:blipFill>
                <a:blip r:embed="rId3"/>
                <a:stretch>
                  <a:fillRect l="-777" r="-3886" b="-5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315B4FC5-A6F4-48A3-A371-E02487BE86B2}"/>
              </a:ext>
            </a:extLst>
          </p:cNvPr>
          <p:cNvSpPr txBox="1"/>
          <p:nvPr/>
        </p:nvSpPr>
        <p:spPr>
          <a:xfrm>
            <a:off x="3742082" y="3810073"/>
            <a:ext cx="43607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证明中说“陪集的性质”，具体是什么性质？</a:t>
            </a:r>
          </a:p>
        </p:txBody>
      </p:sp>
    </p:spTree>
    <p:extLst>
      <p:ext uri="{BB962C8B-B14F-4D97-AF65-F5344CB8AC3E}">
        <p14:creationId xmlns:p14="http://schemas.microsoft.com/office/powerpoint/2010/main" val="3464846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正规子群的判定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7E67B5B-63B4-4CAC-9999-026A4906D6D4}"/>
              </a:ext>
            </a:extLst>
          </p:cNvPr>
          <p:cNvGrpSpPr/>
          <p:nvPr/>
        </p:nvGrpSpPr>
        <p:grpSpPr>
          <a:xfrm>
            <a:off x="964096" y="864704"/>
            <a:ext cx="4353339" cy="1427103"/>
            <a:chOff x="964096" y="864704"/>
            <a:chExt cx="4353339" cy="1427103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0F2F0FDE-15F3-486D-B10C-EA33C5FD4003}"/>
                </a:ext>
              </a:extLst>
            </p:cNvPr>
            <p:cNvSpPr/>
            <p:nvPr/>
          </p:nvSpPr>
          <p:spPr>
            <a:xfrm>
              <a:off x="964096" y="864704"/>
              <a:ext cx="4353339" cy="1427103"/>
            </a:xfrm>
            <a:prstGeom prst="roundRect">
              <a:avLst>
                <a:gd name="adj" fmla="val 751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3ABEA81-8918-4732-91C1-20E7BF37AD41}"/>
                </a:ext>
              </a:extLst>
            </p:cNvPr>
            <p:cNvGrpSpPr/>
            <p:nvPr/>
          </p:nvGrpSpPr>
          <p:grpSpPr>
            <a:xfrm>
              <a:off x="1014280" y="916033"/>
              <a:ext cx="4253459" cy="1324994"/>
              <a:chOff x="1014280" y="901123"/>
              <a:chExt cx="4253459" cy="1324994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25DEDE2-956A-4879-8A48-D9B51A1B0607}"/>
                  </a:ext>
                </a:extLst>
              </p:cNvPr>
              <p:cNvSpPr/>
              <p:nvPr/>
            </p:nvSpPr>
            <p:spPr>
              <a:xfrm>
                <a:off x="1014280" y="1944980"/>
                <a:ext cx="4253459" cy="2811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78C41878-327B-472A-9A49-893438FE4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4280" y="901123"/>
                <a:ext cx="4253459" cy="1046214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D0A875C7-4263-4A7D-AD68-7C05DC7D15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130" y="1937397"/>
                <a:ext cx="2409750" cy="281137"/>
              </a:xfrm>
              <a:prstGeom prst="rect">
                <a:avLst/>
              </a:prstGeom>
            </p:spPr>
          </p:pic>
        </p:grp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124157F-1D8E-4DDD-909D-E66F864BEADE}"/>
              </a:ext>
            </a:extLst>
          </p:cNvPr>
          <p:cNvSpPr txBox="1"/>
          <p:nvPr/>
        </p:nvSpPr>
        <p:spPr>
          <a:xfrm>
            <a:off x="5854145" y="1200801"/>
            <a:ext cx="227557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这些命题都用集合语言表达，要证明的无非是集合相等或子集关系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CCF74A3-3904-405A-AB8C-18A9C135B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81" y="2531443"/>
            <a:ext cx="3947520" cy="104621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381D785-71FC-4159-8854-64FFB241C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556" y="2544885"/>
            <a:ext cx="3824663" cy="17820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0BE4761-4F8C-4B14-A751-E7477EC11ED7}"/>
                  </a:ext>
                </a:extLst>
              </p:cNvPr>
              <p:cNvSpPr txBox="1"/>
              <p:nvPr/>
            </p:nvSpPr>
            <p:spPr>
              <a:xfrm>
                <a:off x="679170" y="3728117"/>
                <a:ext cx="3515143" cy="68563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𝒂𝑵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𝑵𝒂</m:t>
                        </m:r>
                      </m:e>
                    </m:d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，为什么？利用了什么性质？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0BE4761-4F8C-4B14-A751-E7477EC11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70" y="3728117"/>
                <a:ext cx="3515143" cy="685637"/>
              </a:xfrm>
              <a:prstGeom prst="rect">
                <a:avLst/>
              </a:prstGeom>
              <a:blipFill>
                <a:blip r:embed="rId6"/>
                <a:stretch>
                  <a:fillRect l="-867" r="-347" b="-11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7B119040-266A-418C-B910-692D47EA94A5}"/>
              </a:ext>
            </a:extLst>
          </p:cNvPr>
          <p:cNvSpPr/>
          <p:nvPr/>
        </p:nvSpPr>
        <p:spPr>
          <a:xfrm>
            <a:off x="574781" y="2489752"/>
            <a:ext cx="3947520" cy="110045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AED143-AE4A-4E12-9FF4-5B9528943A8A}"/>
              </a:ext>
            </a:extLst>
          </p:cNvPr>
          <p:cNvSpPr/>
          <p:nvPr/>
        </p:nvSpPr>
        <p:spPr>
          <a:xfrm>
            <a:off x="4686300" y="2475334"/>
            <a:ext cx="3947520" cy="193842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05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55AE742-F400-4687-8CE6-AB9F1887C00C}"/>
              </a:ext>
            </a:extLst>
          </p:cNvPr>
          <p:cNvSpPr/>
          <p:nvPr/>
        </p:nvSpPr>
        <p:spPr>
          <a:xfrm>
            <a:off x="1401417" y="564637"/>
            <a:ext cx="6336195" cy="965989"/>
          </a:xfrm>
          <a:prstGeom prst="roundRect">
            <a:avLst>
              <a:gd name="adj" fmla="val 8436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正规子群判定举例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C4174E1-3683-43AD-A5B6-C9F259772875}"/>
              </a:ext>
            </a:extLst>
          </p:cNvPr>
          <p:cNvGrpSpPr/>
          <p:nvPr/>
        </p:nvGrpSpPr>
        <p:grpSpPr>
          <a:xfrm>
            <a:off x="1401417" y="1608727"/>
            <a:ext cx="6336195" cy="3150705"/>
            <a:chOff x="1401417" y="1608727"/>
            <a:chExt cx="6336195" cy="315070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9D04786-A779-4458-99A2-5C9BD2398422}"/>
                </a:ext>
              </a:extLst>
            </p:cNvPr>
            <p:cNvSpPr/>
            <p:nvPr/>
          </p:nvSpPr>
          <p:spPr>
            <a:xfrm>
              <a:off x="1401417" y="1608727"/>
              <a:ext cx="6336195" cy="3150705"/>
            </a:xfrm>
            <a:prstGeom prst="roundRect">
              <a:avLst>
                <a:gd name="adj" fmla="val 294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42C96F8-28AF-45D7-AC23-EF1E7DCC4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8569" y="1636104"/>
              <a:ext cx="6226862" cy="308392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8CD5422-E0A9-4E61-86DE-F71D1BCB0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569" y="615361"/>
            <a:ext cx="6226863" cy="87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正规子群的性质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D866C7-C917-4748-A24B-E2678052569B}"/>
                  </a:ext>
                </a:extLst>
              </p:cNvPr>
              <p:cNvSpPr txBox="1"/>
              <p:nvPr/>
            </p:nvSpPr>
            <p:spPr>
              <a:xfrm>
                <a:off x="672128" y="865725"/>
                <a:ext cx="7799735" cy="33855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教材定理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2.2.2】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也都是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的正规子群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D866C7-C917-4748-A24B-E26780525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28" y="865725"/>
                <a:ext cx="7799735" cy="338554"/>
              </a:xfrm>
              <a:prstGeom prst="rect">
                <a:avLst/>
              </a:prstGeom>
              <a:blipFill>
                <a:blip r:embed="rId2"/>
                <a:stretch>
                  <a:fillRect l="-391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2066AFEB-399F-447E-A30B-1C82BD2FB29B}"/>
              </a:ext>
            </a:extLst>
          </p:cNvPr>
          <p:cNvGrpSpPr/>
          <p:nvPr/>
        </p:nvGrpSpPr>
        <p:grpSpPr>
          <a:xfrm>
            <a:off x="672128" y="1391478"/>
            <a:ext cx="7896639" cy="3115918"/>
            <a:chOff x="631135" y="1446143"/>
            <a:chExt cx="7896639" cy="311591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F6F738A-76FA-4BD6-9009-F2E46AAD65B8}"/>
                </a:ext>
              </a:extLst>
            </p:cNvPr>
            <p:cNvSpPr/>
            <p:nvPr/>
          </p:nvSpPr>
          <p:spPr>
            <a:xfrm>
              <a:off x="631135" y="1446143"/>
              <a:ext cx="7896639" cy="3115918"/>
            </a:xfrm>
            <a:prstGeom prst="roundRect">
              <a:avLst>
                <a:gd name="adj" fmla="val 454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3CDA766-877B-4B80-809C-D83F5B2F5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128" y="1485952"/>
              <a:ext cx="7799735" cy="30456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323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94FF12-943A-4A10-A107-2488B063F44B}"/>
              </a:ext>
            </a:extLst>
          </p:cNvPr>
          <p:cNvSpPr txBox="1"/>
          <p:nvPr/>
        </p:nvSpPr>
        <p:spPr>
          <a:xfrm>
            <a:off x="848347" y="1058932"/>
            <a:ext cx="492442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如果一个子群只有两个陪集，则它是正规子群！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D0AFA1B-FE1D-47E4-B33A-2F9650254523}"/>
                  </a:ext>
                </a:extLst>
              </p:cNvPr>
              <p:cNvSpPr txBox="1"/>
              <p:nvPr/>
            </p:nvSpPr>
            <p:spPr>
              <a:xfrm>
                <a:off x="848344" y="2810679"/>
                <a:ext cx="6983688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如果群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的任意其他子群等势，则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的正规子群！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D0AFA1B-FE1D-47E4-B33A-2F9650254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44" y="2810679"/>
                <a:ext cx="6983688" cy="369332"/>
              </a:xfrm>
              <a:prstGeom prst="rect">
                <a:avLst/>
              </a:prstGeom>
              <a:blipFill>
                <a:blip r:embed="rId2"/>
                <a:stretch>
                  <a:fillRect l="-698" t="-8197" r="-34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807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94FF12-943A-4A10-A107-2488B063F44B}"/>
              </a:ext>
            </a:extLst>
          </p:cNvPr>
          <p:cNvSpPr txBox="1"/>
          <p:nvPr/>
        </p:nvSpPr>
        <p:spPr>
          <a:xfrm>
            <a:off x="848347" y="1058932"/>
            <a:ext cx="492442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如果一个子群只有两个陪集，则它是正规子群！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F69A21C-7FFD-433A-AC35-4972C0CE4260}"/>
                  </a:ext>
                </a:extLst>
              </p:cNvPr>
              <p:cNvSpPr txBox="1"/>
              <p:nvPr/>
            </p:nvSpPr>
            <p:spPr>
              <a:xfrm>
                <a:off x="848344" y="2810679"/>
                <a:ext cx="6983688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如果群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的任意其他子群等势，则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的正规子群！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F69A21C-7FFD-433A-AC35-4972C0CE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44" y="2810679"/>
                <a:ext cx="6983688" cy="369332"/>
              </a:xfrm>
              <a:prstGeom prst="rect">
                <a:avLst/>
              </a:prstGeom>
              <a:blipFill>
                <a:blip r:embed="rId2"/>
                <a:stretch>
                  <a:fillRect l="-698" t="-8197" r="-34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55B6DCE-EFCB-49B1-80F9-8B0D5E0DA3D3}"/>
                  </a:ext>
                </a:extLst>
              </p:cNvPr>
              <p:cNvSpPr txBox="1"/>
              <p:nvPr/>
            </p:nvSpPr>
            <p:spPr>
              <a:xfrm>
                <a:off x="848344" y="1549983"/>
                <a:ext cx="7447306" cy="9733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因为子群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如果只有两个陪集，则任选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的左陪集只有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aH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的右陪集除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之外也只有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的右陪集，且必等于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是正规子群。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55B6DCE-EFCB-49B1-80F9-8B0D5E0DA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44" y="1549983"/>
                <a:ext cx="7447306" cy="973343"/>
              </a:xfrm>
              <a:prstGeom prst="rect">
                <a:avLst/>
              </a:prstGeom>
              <a:blipFill>
                <a:blip r:embed="rId3"/>
                <a:stretch>
                  <a:fillRect l="-409" r="-3191"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8DEEBE8-DCAD-4371-BDD1-F74108279331}"/>
                  </a:ext>
                </a:extLst>
              </p:cNvPr>
              <p:cNvSpPr txBox="1"/>
              <p:nvPr/>
            </p:nvSpPr>
            <p:spPr>
              <a:xfrm>
                <a:off x="848344" y="3319899"/>
                <a:ext cx="7447306" cy="98334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因为当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的子群时，对任意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𝒂𝑯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（为什么？）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𝒂𝑯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（为什么？），所以如果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的任意其他子群等势，则必有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𝒂𝑯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，从而根据正规子群判定定理有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的正规子群。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8DEEBE8-DCAD-4371-BDD1-F74108279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44" y="3319899"/>
                <a:ext cx="7447306" cy="983346"/>
              </a:xfrm>
              <a:prstGeom prst="rect">
                <a:avLst/>
              </a:prstGeom>
              <a:blipFill>
                <a:blip r:embed="rId4"/>
                <a:stretch>
                  <a:fillRect l="-409" b="-6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287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44725" y="1613416"/>
            <a:ext cx="3550298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正规子群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商群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113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商群的运算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C1DEB5E-82B2-479A-B70F-DF1662076340}"/>
                  </a:ext>
                </a:extLst>
              </p:cNvPr>
              <p:cNvSpPr txBox="1"/>
              <p:nvPr/>
            </p:nvSpPr>
            <p:spPr>
              <a:xfrm>
                <a:off x="901896" y="843630"/>
                <a:ext cx="7340201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的正规子群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，不必区分左陪集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𝒂𝑵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和右陪集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，，直接称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𝒂𝑵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为陪集。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C1DEB5E-82B2-479A-B70F-DF1662076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96" y="843630"/>
                <a:ext cx="7340201" cy="338554"/>
              </a:xfrm>
              <a:prstGeom prst="rect">
                <a:avLst/>
              </a:prstGeom>
              <a:blipFill>
                <a:blip r:embed="rId2"/>
                <a:stretch>
                  <a:fillRect l="-498" t="-5357" r="-3239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5BD6CA1-E738-431E-8DA4-4BE99FCE8013}"/>
                  </a:ext>
                </a:extLst>
              </p:cNvPr>
              <p:cNvSpPr txBox="1"/>
              <p:nvPr/>
            </p:nvSpPr>
            <p:spPr>
              <a:xfrm>
                <a:off x="901896" y="1330028"/>
                <a:ext cx="7297880" cy="120802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表示它的所有陪集组成的集合，即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，可在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上定义运算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也构成群：</a:t>
                </a: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𝑵𝒂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𝑵𝒃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𝑵𝒂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𝑵𝒃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𝑵𝒂𝒃</m:t>
                      </m:r>
                    </m:oMath>
                  </m:oMathPara>
                </a14:m>
                <a:endParaRPr lang="zh-CN" altLang="en-US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5BD6CA1-E738-431E-8DA4-4BE99FCE8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96" y="1330028"/>
                <a:ext cx="7297880" cy="1208023"/>
              </a:xfrm>
              <a:prstGeom prst="rect">
                <a:avLst/>
              </a:prstGeom>
              <a:blipFill>
                <a:blip r:embed="rId3"/>
                <a:stretch>
                  <a:fillRect l="-752" t="-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E64F324-63ED-4D22-A666-0BB6BCF92367}"/>
                  </a:ext>
                </a:extLst>
              </p:cNvPr>
              <p:cNvSpPr txBox="1"/>
              <p:nvPr/>
            </p:nvSpPr>
            <p:spPr>
              <a:xfrm>
                <a:off x="901896" y="2688705"/>
                <a:ext cx="7297879" cy="109459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由于运算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是根据陪集的代表（例如陪集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Na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的代表是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a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）定义的，因此也要验证运算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的定义是合适的，即：</a:t>
                </a:r>
              </a:p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  <m:sSup>
                      <m:sSup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时，需要有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𝑵𝒂𝒃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𝑵𝒂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</m:t>
                    </m:r>
                  </m:oMath>
                </a14:m>
                <a:endParaRPr lang="zh-CN" altLang="en-US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E64F324-63ED-4D22-A666-0BB6BCF9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96" y="2688705"/>
                <a:ext cx="7297879" cy="1094595"/>
              </a:xfrm>
              <a:prstGeom prst="rect">
                <a:avLst/>
              </a:prstGeom>
              <a:blipFill>
                <a:blip r:embed="rId4"/>
                <a:stretch>
                  <a:fillRect l="-50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81240179-6775-4B84-8343-889E154C20C3}"/>
              </a:ext>
            </a:extLst>
          </p:cNvPr>
          <p:cNvGrpSpPr/>
          <p:nvPr/>
        </p:nvGrpSpPr>
        <p:grpSpPr>
          <a:xfrm>
            <a:off x="906697" y="3962767"/>
            <a:ext cx="5874026" cy="447261"/>
            <a:chOff x="854766" y="3861352"/>
            <a:chExt cx="5874026" cy="447261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1DD0DEFB-DF2F-4317-8F6D-5E11775C2E12}"/>
                </a:ext>
              </a:extLst>
            </p:cNvPr>
            <p:cNvSpPr/>
            <p:nvPr/>
          </p:nvSpPr>
          <p:spPr>
            <a:xfrm>
              <a:off x="854766" y="3861352"/>
              <a:ext cx="5874026" cy="44726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B289E87-4CBD-4874-A217-84CA9CB8A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1896" y="3900327"/>
              <a:ext cx="5797078" cy="387209"/>
            </a:xfrm>
            <a:prstGeom prst="rect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2EC5D9A-DB4F-4616-838A-FCF83265E240}"/>
              </a:ext>
            </a:extLst>
          </p:cNvPr>
          <p:cNvSpPr txBox="1"/>
          <p:nvPr/>
        </p:nvSpPr>
        <p:spPr>
          <a:xfrm>
            <a:off x="7228151" y="3952046"/>
            <a:ext cx="971624" cy="52322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</a:rPr>
              <a:t>这里用到哪些性质？</a:t>
            </a:r>
          </a:p>
        </p:txBody>
      </p:sp>
    </p:spTree>
    <p:extLst>
      <p:ext uri="{BB962C8B-B14F-4D97-AF65-F5344CB8AC3E}">
        <p14:creationId xmlns:p14="http://schemas.microsoft.com/office/powerpoint/2010/main" val="656384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商群的引入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7A4D05-C50E-4D9C-9649-DFDDE6F8694C}"/>
              </a:ext>
            </a:extLst>
          </p:cNvPr>
          <p:cNvGrpSpPr/>
          <p:nvPr/>
        </p:nvGrpSpPr>
        <p:grpSpPr>
          <a:xfrm>
            <a:off x="1151285" y="717765"/>
            <a:ext cx="6841424" cy="518653"/>
            <a:chOff x="1151288" y="717765"/>
            <a:chExt cx="6841424" cy="51865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2FA2E30-FB1A-4F90-9F03-1A382F651264}"/>
                </a:ext>
              </a:extLst>
            </p:cNvPr>
            <p:cNvSpPr/>
            <p:nvPr/>
          </p:nvSpPr>
          <p:spPr>
            <a:xfrm>
              <a:off x="1151288" y="717765"/>
              <a:ext cx="6841424" cy="518653"/>
            </a:xfrm>
            <a:prstGeom prst="roundRect">
              <a:avLst>
                <a:gd name="adj" fmla="val 1570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F7617A5-3A4C-4A48-B56F-E48FA71DB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3878" y="754946"/>
              <a:ext cx="6736244" cy="445150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BD949E5-B299-4279-9887-0D3EFEE288C3}"/>
              </a:ext>
            </a:extLst>
          </p:cNvPr>
          <p:cNvGrpSpPr/>
          <p:nvPr/>
        </p:nvGrpSpPr>
        <p:grpSpPr>
          <a:xfrm>
            <a:off x="1151285" y="1349303"/>
            <a:ext cx="5034170" cy="3337902"/>
            <a:chOff x="1108213" y="1349303"/>
            <a:chExt cx="5034170" cy="333790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94FCDFB-5B7E-42C4-A8A1-237AF876D50E}"/>
                </a:ext>
              </a:extLst>
            </p:cNvPr>
            <p:cNvSpPr/>
            <p:nvPr/>
          </p:nvSpPr>
          <p:spPr>
            <a:xfrm>
              <a:off x="1108213" y="1349303"/>
              <a:ext cx="5034170" cy="3337902"/>
            </a:xfrm>
            <a:prstGeom prst="roundRect">
              <a:avLst>
                <a:gd name="adj" fmla="val 192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8B25FDB-B682-4F93-A536-7B8B193CA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1288" y="1385625"/>
              <a:ext cx="4952950" cy="3279127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2ADEE09-7E7C-4E21-BF1B-AE82748FFDB0}"/>
              </a:ext>
            </a:extLst>
          </p:cNvPr>
          <p:cNvSpPr txBox="1"/>
          <p:nvPr/>
        </p:nvSpPr>
        <p:spPr>
          <a:xfrm>
            <a:off x="6564795" y="1912928"/>
            <a:ext cx="1427917" cy="2224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不难看到，商群运算的结合性、有单位元和逆元分别源自群本身运算的结合性、单位元和逆元。</a:t>
            </a:r>
          </a:p>
        </p:txBody>
      </p:sp>
    </p:spTree>
    <p:extLst>
      <p:ext uri="{BB962C8B-B14F-4D97-AF65-F5344CB8AC3E}">
        <p14:creationId xmlns:p14="http://schemas.microsoft.com/office/powerpoint/2010/main" val="305242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商群的定义与举例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C6EA6F-6511-42DA-805D-0023D67E2D8C}"/>
                  </a:ext>
                </a:extLst>
              </p:cNvPr>
              <p:cNvSpPr/>
              <p:nvPr/>
            </p:nvSpPr>
            <p:spPr>
              <a:xfrm>
                <a:off x="690464" y="2017456"/>
                <a:ext cx="7763066" cy="3385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对于置换群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C6EA6F-6511-42DA-805D-0023D67E2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64" y="2017456"/>
                <a:ext cx="7763066" cy="338554"/>
              </a:xfrm>
              <a:prstGeom prst="rect">
                <a:avLst/>
              </a:prstGeom>
              <a:blipFill>
                <a:blip r:embed="rId2"/>
                <a:stretch>
                  <a:fillRect l="-392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4D6016B-5418-4C7D-8274-608BE1945A19}"/>
                  </a:ext>
                </a:extLst>
              </p:cNvPr>
              <p:cNvSpPr txBox="1"/>
              <p:nvPr/>
            </p:nvSpPr>
            <p:spPr>
              <a:xfrm>
                <a:off x="3574945" y="2580846"/>
                <a:ext cx="4878585" cy="14440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rgbClr val="C00000"/>
                    </a:solidFill>
                  </a:rPr>
                  <a:t>商群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16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}}</m:t>
                    </m:r>
                  </m:oMath>
                </a14:m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16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单位元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6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逆元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自己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4D6016B-5418-4C7D-8274-608BE1945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945" y="2580846"/>
                <a:ext cx="4878585" cy="1444050"/>
              </a:xfrm>
              <a:prstGeom prst="rect">
                <a:avLst/>
              </a:prstGeom>
              <a:blipFill>
                <a:blip r:embed="rId3"/>
                <a:stretch>
                  <a:fillRect l="-624" b="-4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E8548045-F19C-4C7C-9510-ED682AB1E9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11"/>
                  </p:ext>
                </p:extLst>
              </p:nvPr>
            </p:nvGraphicFramePr>
            <p:xfrm>
              <a:off x="690464" y="2571750"/>
              <a:ext cx="2447242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349606">
                      <a:extLst>
                        <a:ext uri="{9D8B030D-6E8A-4147-A177-3AD203B41FA5}">
                          <a16:colId xmlns:a16="http://schemas.microsoft.com/office/drawing/2014/main" val="2518866690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447392825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300589612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130558464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35450645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986866937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3480772914"/>
                        </a:ext>
                      </a:extLst>
                    </a:gridCol>
                  </a:tblGrid>
                  <a:tr h="18690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oMath>
                            </m:oMathPara>
                          </a14:m>
                          <a:endParaRPr lang="zh-CN" altLang="en-US" sz="1200"/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16651"/>
                      </a:ext>
                    </a:extLst>
                  </a:tr>
                  <a:tr h="1869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625599"/>
                      </a:ext>
                    </a:extLst>
                  </a:tr>
                  <a:tr h="1869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4572849"/>
                      </a:ext>
                    </a:extLst>
                  </a:tr>
                  <a:tr h="1869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2559039"/>
                      </a:ext>
                    </a:extLst>
                  </a:tr>
                  <a:tr h="1869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8018108"/>
                      </a:ext>
                    </a:extLst>
                  </a:tr>
                  <a:tr h="1869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321285"/>
                      </a:ext>
                    </a:extLst>
                  </a:tr>
                  <a:tr h="1869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60007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E8548045-F19C-4C7C-9510-ED682AB1E9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11"/>
                  </p:ext>
                </p:extLst>
              </p:nvPr>
            </p:nvGraphicFramePr>
            <p:xfrm>
              <a:off x="690464" y="2571750"/>
              <a:ext cx="2447242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349606">
                      <a:extLst>
                        <a:ext uri="{9D8B030D-6E8A-4147-A177-3AD203B41FA5}">
                          <a16:colId xmlns:a16="http://schemas.microsoft.com/office/drawing/2014/main" val="2518866690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447392825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300589612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130558464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35450645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1986866937"/>
                        </a:ext>
                      </a:extLst>
                    </a:gridCol>
                    <a:gridCol w="349606">
                      <a:extLst>
                        <a:ext uri="{9D8B030D-6E8A-4147-A177-3AD203B41FA5}">
                          <a16:colId xmlns:a16="http://schemas.microsoft.com/office/drawing/2014/main" val="3480772914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54" t="-2222" r="-612281" b="-6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222" r="-501724" b="-6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3509" t="-2222" r="-410526" b="-6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276" t="-2222" r="-303448" b="-6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5263" t="-2222" r="-208772" b="-6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96552" t="-2222" r="-105172" b="-6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07018" t="-2222" r="-7018" b="-6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1665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54" t="-102222" r="-612281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2222" r="-501724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3509" t="-102222" r="-410526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276" t="-102222" r="-303448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5263" t="-102222" r="-208772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96552" t="-102222" r="-105172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07018" t="-102222" r="-7018" b="-5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56255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54" t="-202222" r="-612281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02222" r="-501724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3509" t="-202222" r="-410526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276" t="-202222" r="-303448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5263" t="-202222" r="-208772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96552" t="-202222" r="-105172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07018" t="-202222" r="-7018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45728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54" t="-295652" r="-612281" b="-2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95652" r="-501724" b="-2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3509" t="-295652" r="-410526" b="-2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276" t="-295652" r="-303448" b="-2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5263" t="-295652" r="-208772" b="-2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96552" t="-295652" r="-105172" b="-2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07018" t="-295652" r="-7018" b="-2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55903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54" t="-404444" r="-612281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4444" r="-501724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3509" t="-404444" r="-410526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276" t="-404444" r="-303448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5263" t="-404444" r="-208772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96552" t="-404444" r="-105172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07018" t="-404444" r="-7018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01810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54" t="-504444" r="-612281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504444" r="-501724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3509" t="-504444" r="-410526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276" t="-504444" r="-303448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5263" t="-504444" r="-208772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96552" t="-504444" r="-105172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07018" t="-504444" r="-7018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632128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754" t="-604444" r="-612281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604444" r="-501724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3509" t="-604444" r="-410526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98276" t="-604444" r="-303448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5263" t="-604444" r="-208772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96552" t="-604444" r="-105172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07018" t="-604444" r="-7018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60007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67394C6F-97EE-4E1F-9E39-0A8C9E8628F9}"/>
              </a:ext>
            </a:extLst>
          </p:cNvPr>
          <p:cNvGrpSpPr/>
          <p:nvPr/>
        </p:nvGrpSpPr>
        <p:grpSpPr>
          <a:xfrm>
            <a:off x="690464" y="900614"/>
            <a:ext cx="7484165" cy="831826"/>
            <a:chOff x="824948" y="889553"/>
            <a:chExt cx="7484165" cy="83182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93F9D35-0E5B-49FF-B657-AE4F2647B50B}"/>
                </a:ext>
              </a:extLst>
            </p:cNvPr>
            <p:cNvSpPr/>
            <p:nvPr/>
          </p:nvSpPr>
          <p:spPr>
            <a:xfrm>
              <a:off x="824948" y="889553"/>
              <a:ext cx="7484165" cy="831826"/>
            </a:xfrm>
            <a:prstGeom prst="roundRect">
              <a:avLst>
                <a:gd name="adj" fmla="val 599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2FD0CA8-307D-4EB2-A071-138F474AA541}"/>
                    </a:ext>
                  </a:extLst>
                </p:cNvPr>
                <p:cNvSpPr txBox="1"/>
                <p:nvPr/>
              </p:nvSpPr>
              <p:spPr>
                <a:xfrm>
                  <a:off x="874640" y="929989"/>
                  <a:ext cx="7394714" cy="73661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设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为群，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是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的正规子群。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的所有陪集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关于上述运算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构成的群称为群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关于子群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的商群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 (quotient group)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，仍记作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。</a:t>
                  </a:r>
                </a:p>
              </p:txBody>
            </p:sp>
          </mc:Choice>
          <mc:Fallback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2FD0CA8-307D-4EB2-A071-138F474AA5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40" y="929989"/>
                  <a:ext cx="7394714" cy="736612"/>
                </a:xfrm>
                <a:prstGeom prst="rect">
                  <a:avLst/>
                </a:prstGeom>
                <a:blipFill>
                  <a:blip r:embed="rId5"/>
                  <a:stretch>
                    <a:fillRect l="-660" r="-165" b="-123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0653E28-8201-410D-88B9-E05CDFA66070}"/>
              </a:ext>
            </a:extLst>
          </p:cNvPr>
          <p:cNvSpPr txBox="1"/>
          <p:nvPr/>
        </p:nvSpPr>
        <p:spPr>
          <a:xfrm>
            <a:off x="3574946" y="4155418"/>
            <a:ext cx="4162668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商群与原来群的性质相似，但结构更为简单！</a:t>
            </a:r>
          </a:p>
        </p:txBody>
      </p:sp>
    </p:spTree>
    <p:extLst>
      <p:ext uri="{BB962C8B-B14F-4D97-AF65-F5344CB8AC3E}">
        <p14:creationId xmlns:p14="http://schemas.microsoft.com/office/powerpoint/2010/main" val="4218009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商群举例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59F7C1E-D94E-40AC-B66B-7783DD6385C9}"/>
              </a:ext>
            </a:extLst>
          </p:cNvPr>
          <p:cNvGrpSpPr/>
          <p:nvPr/>
        </p:nvGrpSpPr>
        <p:grpSpPr>
          <a:xfrm>
            <a:off x="862219" y="998883"/>
            <a:ext cx="7419561" cy="2907195"/>
            <a:chOff x="859735" y="1113183"/>
            <a:chExt cx="7419561" cy="290719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DEA3EB0-31D8-4F5E-8463-3C293114659E}"/>
                </a:ext>
              </a:extLst>
            </p:cNvPr>
            <p:cNvSpPr/>
            <p:nvPr/>
          </p:nvSpPr>
          <p:spPr>
            <a:xfrm>
              <a:off x="859735" y="1113183"/>
              <a:ext cx="7419561" cy="2907195"/>
            </a:xfrm>
            <a:prstGeom prst="roundRect">
              <a:avLst>
                <a:gd name="adj" fmla="val 470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A301D9C-A8A8-4234-87A6-0B4DE6463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160095"/>
              <a:ext cx="7315199" cy="2823309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5C723001-4592-4AA6-972A-5DAA4982D3EB}"/>
              </a:ext>
            </a:extLst>
          </p:cNvPr>
          <p:cNvSpPr txBox="1"/>
          <p:nvPr/>
        </p:nvSpPr>
        <p:spPr>
          <a:xfrm>
            <a:off x="862219" y="4107644"/>
            <a:ext cx="3493604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这是教材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p78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例子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9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的具体版、简化版</a:t>
            </a:r>
          </a:p>
        </p:txBody>
      </p:sp>
    </p:spTree>
    <p:extLst>
      <p:ext uri="{BB962C8B-B14F-4D97-AF65-F5344CB8AC3E}">
        <p14:creationId xmlns:p14="http://schemas.microsoft.com/office/powerpoint/2010/main" val="420364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620965-B812-4DDB-97E7-50AB466583F0}"/>
                  </a:ext>
                </a:extLst>
              </p:cNvPr>
              <p:cNvSpPr txBox="1"/>
              <p:nvPr/>
            </p:nvSpPr>
            <p:spPr>
              <a:xfrm>
                <a:off x="775250" y="1061098"/>
                <a:ext cx="5486400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是交换群，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的子群，则商群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也是交换群。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620965-B812-4DDB-97E7-50AB4665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0" y="1061098"/>
                <a:ext cx="5486400" cy="369332"/>
              </a:xfrm>
              <a:prstGeom prst="rect">
                <a:avLst/>
              </a:prstGeom>
              <a:blipFill>
                <a:blip r:embed="rId2"/>
                <a:stretch>
                  <a:fillRect l="-889" t="-8197" r="-5111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DE88F44-F7F5-4B1B-B810-53EDA2F8F18E}"/>
                  </a:ext>
                </a:extLst>
              </p:cNvPr>
              <p:cNvSpPr txBox="1"/>
              <p:nvPr/>
            </p:nvSpPr>
            <p:spPr>
              <a:xfrm>
                <a:off x="775250" y="1745345"/>
                <a:ext cx="6828181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显然，因为对任意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DE88F44-F7F5-4B1B-B810-53EDA2F8F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0" y="1745345"/>
                <a:ext cx="6828181" cy="369332"/>
              </a:xfrm>
              <a:prstGeom prst="rect">
                <a:avLst/>
              </a:prstGeom>
              <a:blipFill>
                <a:blip r:embed="rId3"/>
                <a:stretch>
                  <a:fillRect l="-714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64881ED-F776-48CF-8E98-0346821F9D7E}"/>
                  </a:ext>
                </a:extLst>
              </p:cNvPr>
              <p:cNvSpPr txBox="1"/>
              <p:nvPr/>
            </p:nvSpPr>
            <p:spPr>
              <a:xfrm>
                <a:off x="775250" y="2751824"/>
                <a:ext cx="4164494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b="1"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/>
                  <a:t>有限群</a:t>
                </a:r>
                <a14:m>
                  <m:oMath xmlns:m="http://schemas.openxmlformats.org/officeDocument/2006/math">
                    <m:r>
                      <a:rPr lang="en-US" altLang="zh-CN" b="1" i="1"/>
                      <m:t>𝑮</m:t>
                    </m:r>
                  </m:oMath>
                </a14:m>
                <a:r>
                  <a:rPr lang="zh-CN" altLang="en-US"/>
                  <a:t>的商群的阶是群</a:t>
                </a:r>
                <a14:m>
                  <m:oMath xmlns:m="http://schemas.openxmlformats.org/officeDocument/2006/math">
                    <m:r>
                      <a:rPr lang="en-US" altLang="zh-CN" b="1" i="1"/>
                      <m:t>𝑮</m:t>
                    </m:r>
                  </m:oMath>
                </a14:m>
                <a:r>
                  <a:rPr lang="zh-CN" altLang="en-US"/>
                  <a:t>的阶的因子。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64881ED-F776-48CF-8E98-0346821F9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0" y="2751824"/>
                <a:ext cx="4164494" cy="369332"/>
              </a:xfrm>
              <a:prstGeom prst="rect">
                <a:avLst/>
              </a:prstGeom>
              <a:blipFill>
                <a:blip r:embed="rId4"/>
                <a:stretch>
                  <a:fillRect l="-1171" t="-8197" r="-1318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8951C2E-141E-4946-BFE9-FDE9C8ADEE8E}"/>
                  </a:ext>
                </a:extLst>
              </p:cNvPr>
              <p:cNvSpPr txBox="1"/>
              <p:nvPr/>
            </p:nvSpPr>
            <p:spPr>
              <a:xfrm>
                <a:off x="775250" y="3434826"/>
                <a:ext cx="7593494" cy="7373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显然，因为群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的商群的阶就是群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的正规子群的陪集个数，根据拉格朗日定理，有限群子群陪集个数是群的阶的因子。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8951C2E-141E-4946-BFE9-FDE9C8ADE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0" y="3434826"/>
                <a:ext cx="7593494" cy="737318"/>
              </a:xfrm>
              <a:prstGeom prst="rect">
                <a:avLst/>
              </a:prstGeom>
              <a:blipFill>
                <a:blip r:embed="rId5"/>
                <a:stretch>
                  <a:fillRect l="-642" r="-722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340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68C95C6-1A78-4A7A-B4AC-E2FB1A6E8272}"/>
                  </a:ext>
                </a:extLst>
              </p:cNvPr>
              <p:cNvSpPr txBox="1"/>
              <p:nvPr/>
            </p:nvSpPr>
            <p:spPr>
              <a:xfrm>
                <a:off x="616220" y="986818"/>
                <a:ext cx="7911553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的正规子群，且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，证明，对任意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68C95C6-1A78-4A7A-B4AC-E2FB1A6E8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986818"/>
                <a:ext cx="7911553" cy="369332"/>
              </a:xfrm>
              <a:prstGeom prst="rect">
                <a:avLst/>
              </a:prstGeom>
              <a:blipFill>
                <a:blip r:embed="rId2"/>
                <a:stretch>
                  <a:fillRect l="-616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C8B5F5D-36AA-48B1-AB8A-9BCEAD2E6E08}"/>
                  </a:ext>
                </a:extLst>
              </p:cNvPr>
              <p:cNvSpPr txBox="1"/>
              <p:nvPr/>
            </p:nvSpPr>
            <p:spPr>
              <a:xfrm>
                <a:off x="616220" y="1784074"/>
                <a:ext cx="50540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例如，对于群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是它的正规子群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C8B5F5D-36AA-48B1-AB8A-9BCEAD2E6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1784074"/>
                <a:ext cx="5054049" cy="338554"/>
              </a:xfrm>
              <a:prstGeom prst="rect">
                <a:avLst/>
              </a:prstGeom>
              <a:blipFill>
                <a:blip r:embed="rId3"/>
                <a:stretch>
                  <a:fillRect l="-603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E80DC59D-E8B6-4634-93A9-46561149E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113" y="2263670"/>
            <a:ext cx="5934281" cy="19751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9B7581F-C49A-49BC-B2A2-C30BDD0DC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20" y="2731120"/>
            <a:ext cx="1913289" cy="104023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6F5031B-86C9-442F-9873-4F67D77D6E53}"/>
              </a:ext>
            </a:extLst>
          </p:cNvPr>
          <p:cNvSpPr/>
          <p:nvPr/>
        </p:nvSpPr>
        <p:spPr>
          <a:xfrm>
            <a:off x="3916017" y="2440057"/>
            <a:ext cx="273326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3AD9B4-DE2A-4BD1-8552-9D0C1406BFCB}"/>
              </a:ext>
            </a:extLst>
          </p:cNvPr>
          <p:cNvSpPr/>
          <p:nvPr/>
        </p:nvSpPr>
        <p:spPr>
          <a:xfrm>
            <a:off x="3916017" y="2616444"/>
            <a:ext cx="273326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E47452-D24F-4520-97CD-C4404687BF69}"/>
              </a:ext>
            </a:extLst>
          </p:cNvPr>
          <p:cNvSpPr/>
          <p:nvPr/>
        </p:nvSpPr>
        <p:spPr>
          <a:xfrm>
            <a:off x="3969025" y="2784074"/>
            <a:ext cx="309769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09252F-BB65-4426-B3EF-D5FA8EF4702E}"/>
              </a:ext>
            </a:extLst>
          </p:cNvPr>
          <p:cNvSpPr/>
          <p:nvPr/>
        </p:nvSpPr>
        <p:spPr>
          <a:xfrm>
            <a:off x="3969025" y="2951704"/>
            <a:ext cx="309768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D1BAA0-6977-4423-97B5-5DA26954B501}"/>
              </a:ext>
            </a:extLst>
          </p:cNvPr>
          <p:cNvSpPr/>
          <p:nvPr/>
        </p:nvSpPr>
        <p:spPr>
          <a:xfrm>
            <a:off x="4005467" y="3116817"/>
            <a:ext cx="273326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71420FC-09E4-45DE-B26E-68B7AEF2A259}"/>
              </a:ext>
            </a:extLst>
          </p:cNvPr>
          <p:cNvSpPr/>
          <p:nvPr/>
        </p:nvSpPr>
        <p:spPr>
          <a:xfrm>
            <a:off x="3969025" y="3276020"/>
            <a:ext cx="273326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A8C43B-ABB0-4427-B8FF-E4E440E19B5D}"/>
              </a:ext>
            </a:extLst>
          </p:cNvPr>
          <p:cNvSpPr/>
          <p:nvPr/>
        </p:nvSpPr>
        <p:spPr>
          <a:xfrm>
            <a:off x="3969025" y="3439380"/>
            <a:ext cx="273326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4E54E77-11FA-4D7B-891D-A57522B1F103}"/>
              </a:ext>
            </a:extLst>
          </p:cNvPr>
          <p:cNvSpPr/>
          <p:nvPr/>
        </p:nvSpPr>
        <p:spPr>
          <a:xfrm>
            <a:off x="3916017" y="3592815"/>
            <a:ext cx="273326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689C45-DFED-4430-AA28-15AE93246D8F}"/>
              </a:ext>
            </a:extLst>
          </p:cNvPr>
          <p:cNvSpPr/>
          <p:nvPr/>
        </p:nvSpPr>
        <p:spPr>
          <a:xfrm>
            <a:off x="4105687" y="3763652"/>
            <a:ext cx="361951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6DD99A-EB20-4941-A33C-64ABA4B5621A}"/>
              </a:ext>
            </a:extLst>
          </p:cNvPr>
          <p:cNvSpPr/>
          <p:nvPr/>
        </p:nvSpPr>
        <p:spPr>
          <a:xfrm>
            <a:off x="4097817" y="3931282"/>
            <a:ext cx="361951" cy="1441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575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BE0C392-8193-46FC-80A5-BE97C84B5D19}"/>
                  </a:ext>
                </a:extLst>
              </p:cNvPr>
              <p:cNvSpPr txBox="1"/>
              <p:nvPr/>
            </p:nvSpPr>
            <p:spPr>
              <a:xfrm>
                <a:off x="616220" y="986818"/>
                <a:ext cx="7911553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的正规子群，且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，证明，对任意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BE0C392-8193-46FC-80A5-BE97C84B5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986818"/>
                <a:ext cx="7911553" cy="369332"/>
              </a:xfrm>
              <a:prstGeom prst="rect">
                <a:avLst/>
              </a:prstGeom>
              <a:blipFill>
                <a:blip r:embed="rId2"/>
                <a:stretch>
                  <a:fillRect l="-616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9B4355-A504-470B-9A4A-8C04F9962B1C}"/>
                  </a:ext>
                </a:extLst>
              </p:cNvPr>
              <p:cNvSpPr txBox="1"/>
              <p:nvPr/>
            </p:nvSpPr>
            <p:spPr>
              <a:xfrm>
                <a:off x="616220" y="1693241"/>
                <a:ext cx="7911553" cy="6849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证明思路：要与陪集拉上关系？可利用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？即要证明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在商群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有什么特殊性？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9B4355-A504-470B-9A4A-8C04F9962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1693241"/>
                <a:ext cx="7911553" cy="684996"/>
              </a:xfrm>
              <a:prstGeom prst="rect">
                <a:avLst/>
              </a:prstGeom>
              <a:blipFill>
                <a:blip r:embed="rId3"/>
                <a:stretch>
                  <a:fillRect l="-385" b="-11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0453AA13-E6DA-49D4-A68C-5E9928BA7D44}"/>
              </a:ext>
            </a:extLst>
          </p:cNvPr>
          <p:cNvGrpSpPr/>
          <p:nvPr/>
        </p:nvGrpSpPr>
        <p:grpSpPr>
          <a:xfrm>
            <a:off x="616220" y="2639995"/>
            <a:ext cx="7871797" cy="669382"/>
            <a:chOff x="616220" y="2475646"/>
            <a:chExt cx="7871797" cy="66938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BE661CA-457B-447C-81D8-EB3B2FC1E59E}"/>
                </a:ext>
              </a:extLst>
            </p:cNvPr>
            <p:cNvSpPr/>
            <p:nvPr/>
          </p:nvSpPr>
          <p:spPr>
            <a:xfrm>
              <a:off x="616220" y="2475646"/>
              <a:ext cx="7871797" cy="66938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D6979F2-0E32-4161-BA3C-3B69714E7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371" y="2528949"/>
              <a:ext cx="7757497" cy="579194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114788F-B4D1-4697-879C-D1143424C58E}"/>
                  </a:ext>
                </a:extLst>
              </p:cNvPr>
              <p:cNvSpPr txBox="1"/>
              <p:nvPr/>
            </p:nvSpPr>
            <p:spPr>
              <a:xfrm>
                <a:off x="616220" y="3624454"/>
                <a:ext cx="5774640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𝒙𝑯</m:t>
                            </m:r>
                          </m:e>
                        </m:d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是利用有限群的什么性质？为什么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𝒙𝑯</m:t>
                            </m:r>
                          </m:e>
                        </m:d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114788F-B4D1-4697-879C-D1143424C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3624454"/>
                <a:ext cx="5774640" cy="338554"/>
              </a:xfrm>
              <a:prstGeom prst="rect">
                <a:avLst/>
              </a:prstGeom>
              <a:blipFill>
                <a:blip r:embed="rId5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82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C4FA7CB-EA44-4FAA-A80E-737ADDF7B61E}"/>
                  </a:ext>
                </a:extLst>
              </p:cNvPr>
              <p:cNvSpPr txBox="1"/>
              <p:nvPr/>
            </p:nvSpPr>
            <p:spPr>
              <a:xfrm>
                <a:off x="1214186" y="1043609"/>
                <a:ext cx="4890052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是循环群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也是循环群。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C4FA7CB-EA44-4FAA-A80E-737ADDF7B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86" y="1043609"/>
                <a:ext cx="4890052" cy="369332"/>
              </a:xfrm>
              <a:prstGeom prst="rect">
                <a:avLst/>
              </a:prstGeom>
              <a:blipFill>
                <a:blip r:embed="rId2"/>
                <a:stretch>
                  <a:fillRect l="-998" t="-8197" r="-49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B4F5300-060A-440E-AF9D-F0718443B369}"/>
                  </a:ext>
                </a:extLst>
              </p:cNvPr>
              <p:cNvSpPr txBox="1"/>
              <p:nvPr/>
            </p:nvSpPr>
            <p:spPr>
              <a:xfrm>
                <a:off x="1214186" y="1774135"/>
                <a:ext cx="6715628" cy="7373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证明思路：要证明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是循环群，则要证明它存在生成元。因为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是循环群，所以它有生成元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的生成元是什么呢？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B4F5300-060A-440E-AF9D-F0718443B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86" y="1774135"/>
                <a:ext cx="6715628" cy="737318"/>
              </a:xfrm>
              <a:prstGeom prst="rect">
                <a:avLst/>
              </a:prstGeom>
              <a:blipFill>
                <a:blip r:embed="rId3"/>
                <a:stretch>
                  <a:fillRect l="-726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276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DADE41-4FF7-4AA1-9ADC-B714F06640EE}"/>
              </a:ext>
            </a:extLst>
          </p:cNvPr>
          <p:cNvSpPr/>
          <p:nvPr/>
        </p:nvSpPr>
        <p:spPr>
          <a:xfrm>
            <a:off x="1214186" y="2102126"/>
            <a:ext cx="6732149" cy="1008290"/>
          </a:xfrm>
          <a:prstGeom prst="roundRect">
            <a:avLst>
              <a:gd name="adj" fmla="val 976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C4FA7CB-EA44-4FAA-A80E-737ADDF7B61E}"/>
                  </a:ext>
                </a:extLst>
              </p:cNvPr>
              <p:cNvSpPr txBox="1"/>
              <p:nvPr/>
            </p:nvSpPr>
            <p:spPr>
              <a:xfrm>
                <a:off x="1214186" y="1043609"/>
                <a:ext cx="4890052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是循环群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也是循环群。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C4FA7CB-EA44-4FAA-A80E-737ADDF7B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86" y="1043609"/>
                <a:ext cx="4890052" cy="369332"/>
              </a:xfrm>
              <a:prstGeom prst="rect">
                <a:avLst/>
              </a:prstGeom>
              <a:blipFill>
                <a:blip r:embed="rId2"/>
                <a:stretch>
                  <a:fillRect l="-998" t="-8197" r="-49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DA2FBD3-03D8-4336-9212-1F2E28F59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144500"/>
            <a:ext cx="6639339" cy="93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33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4E5642-4957-421E-A04D-EC60F153D9DD}"/>
                  </a:ext>
                </a:extLst>
              </p:cNvPr>
              <p:cNvSpPr txBox="1"/>
              <p:nvPr/>
            </p:nvSpPr>
            <p:spPr>
              <a:xfrm>
                <a:off x="1056030" y="1027367"/>
                <a:ext cx="7044361" cy="71417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是交换群，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的所有阶数有限的元素构成的集合，证明：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的正规子群，且商群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只有单位元的阶数是有限的。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4E5642-4957-421E-A04D-EC60F153D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30" y="1027367"/>
                <a:ext cx="7044361" cy="714170"/>
              </a:xfrm>
              <a:prstGeom prst="rect">
                <a:avLst/>
              </a:prstGeom>
              <a:blipFill>
                <a:blip r:embed="rId2"/>
                <a:stretch>
                  <a:fillRect l="-692" t="-1709" r="-519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E5C6FF1-3293-4B71-AB75-946085616B72}"/>
                  </a:ext>
                </a:extLst>
              </p:cNvPr>
              <p:cNvSpPr txBox="1"/>
              <p:nvPr/>
            </p:nvSpPr>
            <p:spPr>
              <a:xfrm>
                <a:off x="1056028" y="1932505"/>
                <a:ext cx="7044361" cy="71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是交换群，它的任意子群都是正规子群，所以只要证明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的子群即可，可根据子群判定定理进行证明！怎么证明？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E5C6FF1-3293-4B71-AB75-946085616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28" y="1932505"/>
                <a:ext cx="7044361" cy="714170"/>
              </a:xfrm>
              <a:prstGeom prst="rect">
                <a:avLst/>
              </a:prstGeom>
              <a:blipFill>
                <a:blip r:embed="rId3"/>
                <a:stretch>
                  <a:fillRect l="-692" t="-855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7A59C13-AB87-4E92-9DB1-3E09723C2C8F}"/>
                  </a:ext>
                </a:extLst>
              </p:cNvPr>
              <p:cNvSpPr txBox="1"/>
              <p:nvPr/>
            </p:nvSpPr>
            <p:spPr>
              <a:xfrm>
                <a:off x="1049817" y="2837643"/>
                <a:ext cx="7044360" cy="14957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要证明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只有单位元的阶数有限，只要证明它的任意元素，如果阶数有限，则这个元素就是单位元。这里的关键是用清楚：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群的一个元素阶数有限意味着什么？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的单位元是什么？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7A59C13-AB87-4E92-9DB1-3E09723C2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7" y="2837643"/>
                <a:ext cx="7044360" cy="1495730"/>
              </a:xfrm>
              <a:prstGeom prst="rect">
                <a:avLst/>
              </a:prstGeom>
              <a:blipFill>
                <a:blip r:embed="rId4"/>
                <a:stretch>
                  <a:fillRect l="-433" r="-3460" b="-2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85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4E5642-4957-421E-A04D-EC60F153D9DD}"/>
                  </a:ext>
                </a:extLst>
              </p:cNvPr>
              <p:cNvSpPr txBox="1"/>
              <p:nvPr/>
            </p:nvSpPr>
            <p:spPr>
              <a:xfrm>
                <a:off x="1056030" y="1027367"/>
                <a:ext cx="7044361" cy="71417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是交换群，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的所有阶数有限的元素构成的集合，证明：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的正规子群，且商群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只有单位元的阶数是有限的。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4E5642-4957-421E-A04D-EC60F153D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30" y="1027367"/>
                <a:ext cx="7044361" cy="714170"/>
              </a:xfrm>
              <a:prstGeom prst="rect">
                <a:avLst/>
              </a:prstGeom>
              <a:blipFill>
                <a:blip r:embed="rId2"/>
                <a:stretch>
                  <a:fillRect l="-692" t="-1709" r="-519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228246CC-8E89-44E7-8079-3C2E71F55F75}"/>
              </a:ext>
            </a:extLst>
          </p:cNvPr>
          <p:cNvGrpSpPr/>
          <p:nvPr/>
        </p:nvGrpSpPr>
        <p:grpSpPr>
          <a:xfrm>
            <a:off x="1069779" y="2017643"/>
            <a:ext cx="7004441" cy="2171700"/>
            <a:chOff x="1095950" y="2017643"/>
            <a:chExt cx="7004441" cy="21717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0612B29-9194-4AF0-8B2F-5F4BAAD9A6E5}"/>
                </a:ext>
              </a:extLst>
            </p:cNvPr>
            <p:cNvSpPr/>
            <p:nvPr/>
          </p:nvSpPr>
          <p:spPr>
            <a:xfrm>
              <a:off x="1095950" y="2017643"/>
              <a:ext cx="7004441" cy="2171700"/>
            </a:xfrm>
            <a:prstGeom prst="roundRect">
              <a:avLst>
                <a:gd name="adj" fmla="val 4997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86CC380-9775-49CA-ADD7-11560FA4E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7971" y="2052689"/>
              <a:ext cx="6914989" cy="2105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607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/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阶有限交换群，证明：对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的任意素因子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blipFill>
                <a:blip r:embed="rId2"/>
                <a:stretch>
                  <a:fillRect l="-717" t="-1538" r="-71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F7997B52-B02C-4847-8C9E-D4ED7211C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16" y="1619063"/>
            <a:ext cx="3730906" cy="24697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DC4717-8EBE-4939-B248-1E57F27FFA95}"/>
                  </a:ext>
                </a:extLst>
              </p:cNvPr>
              <p:cNvSpPr txBox="1"/>
              <p:nvPr/>
            </p:nvSpPr>
            <p:spPr>
              <a:xfrm>
                <a:off x="5158409" y="1621801"/>
                <a:ext cx="2688534" cy="71487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的素因子有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DC4717-8EBE-4939-B248-1E57F27FF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409" y="1621801"/>
                <a:ext cx="2688534" cy="714876"/>
              </a:xfrm>
              <a:prstGeom prst="rect">
                <a:avLst/>
              </a:prstGeom>
              <a:blipFill>
                <a:blip r:embed="rId4"/>
                <a:stretch>
                  <a:fillRect t="-855" r="-10431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5D68ED68-392D-447D-9F7A-A89BBC2B52D7}"/>
              </a:ext>
            </a:extLst>
          </p:cNvPr>
          <p:cNvSpPr txBox="1"/>
          <p:nvPr/>
        </p:nvSpPr>
        <p:spPr>
          <a:xfrm>
            <a:off x="5158409" y="2459196"/>
            <a:ext cx="2688534" cy="1229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元素的阶如下：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|1| = 1		|2| = 6		|4| = 3</a:t>
            </a:r>
          </a:p>
          <a:p>
            <a:pPr>
              <a:lnSpc>
                <a:spcPts val="18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|5| = 6		|8| = 2		|10| = 6 </a:t>
            </a:r>
          </a:p>
          <a:p>
            <a:pPr>
              <a:lnSpc>
                <a:spcPts val="18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|11| = 6	|13| = 2	|16| = 3</a:t>
            </a:r>
          </a:p>
          <a:p>
            <a:pPr>
              <a:lnSpc>
                <a:spcPts val="18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|17| = 6 	|19| = 6	|20| = 2 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EF50B7-0537-470F-A4FD-8B3F701A5175}"/>
              </a:ext>
            </a:extLst>
          </p:cNvPr>
          <p:cNvSpPr txBox="1"/>
          <p:nvPr/>
        </p:nvSpPr>
        <p:spPr>
          <a:xfrm>
            <a:off x="5158410" y="3901109"/>
            <a:ext cx="2688534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有</a:t>
            </a:r>
            <a:r>
              <a:rPr lang="en-US" altLang="zh-CN" sz="1400" b="1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阶元和</a:t>
            </a:r>
            <a:r>
              <a:rPr lang="en-US" altLang="zh-CN" sz="1400" b="1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阶元，但没有</a:t>
            </a:r>
            <a:r>
              <a:rPr lang="en-US" altLang="zh-CN" sz="1400" b="1">
                <a:solidFill>
                  <a:schemeClr val="accent2">
                    <a:lumMod val="50000"/>
                  </a:schemeClr>
                </a:solidFill>
              </a:rPr>
              <a:t>4</a:t>
            </a:r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阶元！</a:t>
            </a:r>
          </a:p>
        </p:txBody>
      </p:sp>
    </p:spTree>
    <p:extLst>
      <p:ext uri="{BB962C8B-B14F-4D97-AF65-F5344CB8AC3E}">
        <p14:creationId xmlns:p14="http://schemas.microsoft.com/office/powerpoint/2010/main" val="2622206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/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阶有限交换群，证明：对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的任意素因子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blipFill>
                <a:blip r:embed="rId2"/>
                <a:stretch>
                  <a:fillRect l="-717" t="-1538" r="-71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0F703BD-CFEA-44A9-86D6-310AAF6519A1}"/>
                  </a:ext>
                </a:extLst>
              </p:cNvPr>
              <p:cNvSpPr txBox="1"/>
              <p:nvPr/>
            </p:nvSpPr>
            <p:spPr>
              <a:xfrm>
                <a:off x="1049816" y="1555474"/>
                <a:ext cx="6797127" cy="30162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800"/>
                  </a:lnSpc>
                  <a:spcBef>
                    <a:spcPts val="600"/>
                  </a:spcBef>
                </a:pP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证明思路</a:t>
                </a: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</a:p>
              <a:p>
                <a:pPr marL="171450" indent="-171450">
                  <a:lnSpc>
                    <a:spcPts val="1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使用数学归纳法，显然当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时，任意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阶群都有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阶元（为什么？）</a:t>
                </a:r>
                <a:endParaRPr lang="en-US" altLang="zh-CN" sz="12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171450" indent="-171450">
                  <a:lnSpc>
                    <a:spcPts val="1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，假设对于任意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阶有限交换群，对于群的阶的任意素因子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都有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阶元，考虑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sz="12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171450" indent="-171450">
                  <a:lnSpc>
                    <a:spcPts val="1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为应用归纳假设，需要考虑阶数比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阶小的有限交换群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，而且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有许多相似的性质，这样就需要利用商群的构造：即找到子群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是交换群，所以子群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就是正规子群，使得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的阶乘以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的阶，只要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不是只有单位元，那么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的阶比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的阶小。</a:t>
                </a:r>
                <a:endParaRPr lang="en-US" altLang="zh-CN" sz="12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171450" indent="-171450">
                  <a:lnSpc>
                    <a:spcPts val="1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的阶的素因子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，为利用归纳假设，还需要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的阶的因子，这就要求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不是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的阶的因子，这时可根据归纳假设，在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中存在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阶元，根据这个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阶元得到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  <a:endParaRPr lang="en-US" altLang="zh-CN" sz="12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171450" indent="-171450">
                  <a:lnSpc>
                    <a:spcPts val="1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而当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的阶的因子时，我们希望直接从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中找到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阶元，因此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最好是循环群，即是某个元素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生成的群，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的阶就是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的阶，而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的阶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的因子时，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f>
                          <m:f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num>
                          <m:den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就是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0F703BD-CFEA-44A9-86D6-310AAF651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1555474"/>
                <a:ext cx="6797127" cy="3016210"/>
              </a:xfrm>
              <a:prstGeom prst="rect">
                <a:avLst/>
              </a:prstGeom>
              <a:blipFill>
                <a:blip r:embed="rId3"/>
                <a:stretch>
                  <a:fillRect b="-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93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/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阶有限交换群，证明：对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的任意素因子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blipFill>
                <a:blip r:embed="rId2"/>
                <a:stretch>
                  <a:fillRect l="-717" t="-1538" r="-71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65D92EF-04E2-4F8F-9367-C8FF7D5D9D07}"/>
                  </a:ext>
                </a:extLst>
              </p:cNvPr>
              <p:cNvSpPr txBox="1"/>
              <p:nvPr/>
            </p:nvSpPr>
            <p:spPr>
              <a:xfrm>
                <a:off x="1049816" y="2353112"/>
                <a:ext cx="6838764" cy="17323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定理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是其单位元，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的任意元素，且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</m:sSup>
                      </m:e>
                    </m:d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den>
                    </m:f>
                  </m:oMath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65D92EF-04E2-4F8F-9367-C8FF7D5D9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2353112"/>
                <a:ext cx="6838764" cy="1732397"/>
              </a:xfrm>
              <a:prstGeom prst="rect">
                <a:avLst/>
              </a:prstGeom>
              <a:blipFill>
                <a:blip r:embed="rId3"/>
                <a:stretch>
                  <a:fillRect l="-713" t="-1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373F8637-3DA2-4A8E-BCD1-487943E15609}"/>
              </a:ext>
            </a:extLst>
          </p:cNvPr>
          <p:cNvSpPr txBox="1"/>
          <p:nvPr/>
        </p:nvSpPr>
        <p:spPr>
          <a:xfrm>
            <a:off x="1049815" y="1747779"/>
            <a:ext cx="517208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为证明这个命题，需要熟悉群元素阶的基本性质：</a:t>
            </a:r>
          </a:p>
        </p:txBody>
      </p:sp>
    </p:spTree>
    <p:extLst>
      <p:ext uri="{BB962C8B-B14F-4D97-AF65-F5344CB8AC3E}">
        <p14:creationId xmlns:p14="http://schemas.microsoft.com/office/powerpoint/2010/main" val="2961828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/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阶有限交换群，证明：对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的任意素因子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blipFill>
                <a:blip r:embed="rId2"/>
                <a:stretch>
                  <a:fillRect l="-717" t="-1538" r="-71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769B7083-D7EE-4C23-8355-BF0B84B97176}"/>
              </a:ext>
            </a:extLst>
          </p:cNvPr>
          <p:cNvGrpSpPr/>
          <p:nvPr/>
        </p:nvGrpSpPr>
        <p:grpSpPr>
          <a:xfrm>
            <a:off x="1049816" y="1540565"/>
            <a:ext cx="5838001" cy="2777987"/>
            <a:chOff x="1049816" y="1540565"/>
            <a:chExt cx="5838001" cy="2777987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EBD1FB6-7B6E-4C26-B8A0-F574A1F0879E}"/>
                </a:ext>
              </a:extLst>
            </p:cNvPr>
            <p:cNvSpPr/>
            <p:nvPr/>
          </p:nvSpPr>
          <p:spPr>
            <a:xfrm>
              <a:off x="1049816" y="1540565"/>
              <a:ext cx="5838001" cy="2777987"/>
            </a:xfrm>
            <a:prstGeom prst="roundRect">
              <a:avLst>
                <a:gd name="adj" fmla="val 486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BE45E23-5C21-4DBD-AFE5-A8EFC0B3B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801" y="1578856"/>
              <a:ext cx="5735319" cy="2701120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6BEEB78F-F3C3-4741-AFDC-B7A0610E2DFB}"/>
              </a:ext>
            </a:extLst>
          </p:cNvPr>
          <p:cNvSpPr txBox="1"/>
          <p:nvPr/>
        </p:nvSpPr>
        <p:spPr>
          <a:xfrm>
            <a:off x="6993787" y="1578856"/>
            <a:ext cx="1100397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bg1"/>
                </a:solidFill>
              </a:rPr>
              <a:t>证明中有哪些地方看不懂？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89953A-8F1B-4FAE-8DEB-819DB9034676}"/>
              </a:ext>
            </a:extLst>
          </p:cNvPr>
          <p:cNvSpPr txBox="1"/>
          <p:nvPr/>
        </p:nvSpPr>
        <p:spPr>
          <a:xfrm>
            <a:off x="6993787" y="2340665"/>
            <a:ext cx="110039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证明中说的数论知识是什么？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2D7F8AE-9154-4914-87C6-BB1E95F25356}"/>
                  </a:ext>
                </a:extLst>
              </p:cNvPr>
              <p:cNvSpPr txBox="1"/>
              <p:nvPr/>
            </p:nvSpPr>
            <p:spPr>
              <a:xfrm>
                <a:off x="6993787" y="3184262"/>
                <a:ext cx="1136422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为什么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不是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的因子，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就不等于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2D7F8AE-9154-4914-87C6-BB1E95F25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787" y="3184262"/>
                <a:ext cx="1136422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16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/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阶有限交换群，证明：对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的任意素因子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A6FEA4-66B5-44FA-A19A-FBF0364C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blipFill>
                <a:blip r:embed="rId2"/>
                <a:stretch>
                  <a:fillRect l="-717" t="-1538" r="-71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DC4717-8EBE-4939-B248-1E57F27FFA95}"/>
                  </a:ext>
                </a:extLst>
              </p:cNvPr>
              <p:cNvSpPr txBox="1"/>
              <p:nvPr/>
            </p:nvSpPr>
            <p:spPr>
              <a:xfrm>
                <a:off x="1049816" y="1504692"/>
                <a:ext cx="2688534" cy="71487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的素因子有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DC4717-8EBE-4939-B248-1E57F27FF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1504692"/>
                <a:ext cx="2688534" cy="714876"/>
              </a:xfrm>
              <a:prstGeom prst="rect">
                <a:avLst/>
              </a:prstGeom>
              <a:blipFill>
                <a:blip r:embed="rId3"/>
                <a:stretch>
                  <a:fillRect t="-1709" r="-10431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5D68ED68-392D-447D-9F7A-A89BBC2B52D7}"/>
              </a:ext>
            </a:extLst>
          </p:cNvPr>
          <p:cNvSpPr txBox="1"/>
          <p:nvPr/>
        </p:nvSpPr>
        <p:spPr>
          <a:xfrm>
            <a:off x="1049816" y="2309213"/>
            <a:ext cx="2688534" cy="11076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元素的阶如下：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|1| = 1		|2| = 6		|4| = 3</a:t>
            </a: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|5| = 6		|8| = 2		|10| = 6 </a:t>
            </a: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|11| = 6	|13| = 2	|16| = 3</a:t>
            </a: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|17| = 6 	|19| = 6	|20| = 2 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30CCC59-A44A-4E85-BDDE-57E64DC70438}"/>
                  </a:ext>
                </a:extLst>
              </p:cNvPr>
              <p:cNvSpPr txBox="1"/>
              <p:nvPr/>
            </p:nvSpPr>
            <p:spPr>
              <a:xfrm>
                <a:off x="3876262" y="1504692"/>
                <a:ext cx="3970682" cy="67877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中的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阶元怎样按照上面证明的归纳步中给出方式构造得到？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30CCC59-A44A-4E85-BDDE-57E64DC70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62" y="1504692"/>
                <a:ext cx="3970682" cy="678776"/>
              </a:xfrm>
              <a:prstGeom prst="rect">
                <a:avLst/>
              </a:prstGeom>
              <a:blipFill>
                <a:blip r:embed="rId4"/>
                <a:stretch>
                  <a:fillRect l="-461" b="-9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866014D-9701-46D7-8F1D-E3C37C683353}"/>
                  </a:ext>
                </a:extLst>
              </p:cNvPr>
              <p:cNvSpPr txBox="1"/>
              <p:nvPr/>
            </p:nvSpPr>
            <p:spPr>
              <a:xfrm>
                <a:off x="3876262" y="2530620"/>
                <a:ext cx="3970680" cy="53681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00"/>
                  </a:lnSpc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若取元素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中是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866014D-9701-46D7-8F1D-E3C37C683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62" y="2530620"/>
                <a:ext cx="3970680" cy="536814"/>
              </a:xfrm>
              <a:prstGeom prst="rect">
                <a:avLst/>
              </a:prstGeom>
              <a:blipFill>
                <a:blip r:embed="rId5"/>
                <a:stretch>
                  <a:fillRect l="-154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AC8659A-1602-4A44-8A90-F35E75DC91A1}"/>
                  </a:ext>
                </a:extLst>
              </p:cNvPr>
              <p:cNvSpPr txBox="1"/>
              <p:nvPr/>
            </p:nvSpPr>
            <p:spPr>
              <a:xfrm>
                <a:off x="3876262" y="3414587"/>
                <a:ext cx="3970680" cy="118994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若取元素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，考虑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（如左图），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，它的陪集是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，都是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阶元！取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中的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阶元！实际上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AC8659A-1602-4A44-8A90-F35E75DC9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62" y="3414587"/>
                <a:ext cx="3970680" cy="1189941"/>
              </a:xfrm>
              <a:prstGeom prst="rect">
                <a:avLst/>
              </a:prstGeom>
              <a:blipFill>
                <a:blip r:embed="rId6"/>
                <a:stretch>
                  <a:fillRect l="-154" b="-3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C5855B31-8CFB-4AE7-94A7-E84BCC750B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816" y="3494128"/>
            <a:ext cx="2688534" cy="111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1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/>
              <p:nvPr/>
            </p:nvSpPr>
            <p:spPr>
              <a:xfrm>
                <a:off x="837368" y="829358"/>
                <a:ext cx="7469257" cy="206832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800" b="1">
                    <a:solidFill>
                      <a:srgbClr val="002060"/>
                    </a:solidFill>
                  </a:rPr>
                  <a:t>正规子群与商群</a:t>
                </a:r>
              </a:p>
              <a:p>
                <a:pPr marL="257175" indent="-25717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正规子群的定义、正规子群的判定定理：例如，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𝒂𝒏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</m:oMath>
                </a14:m>
                <a:endParaRPr lang="en-US" altLang="zh-CN" sz="18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8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商群的定义，商群的例子</a:t>
                </a:r>
                <a:endParaRPr lang="en-US" altLang="zh-CN" sz="18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正规子群的基本性质：例如，子群具有传递性，正规子群没有传递性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8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商群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的基本性质：例如，交换群的商群仍是交换群，循环群的商群仍是循环群等</a:t>
                </a:r>
                <a:endParaRPr lang="zh-CN" altLang="en-US" sz="18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68" y="829358"/>
                <a:ext cx="7469257" cy="2068323"/>
              </a:xfrm>
              <a:prstGeom prst="rect">
                <a:avLst/>
              </a:prstGeom>
              <a:blipFill>
                <a:blip r:embed="rId2"/>
                <a:stretch>
                  <a:fillRect l="-489" t="-1475" b="-3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1861458" y="3027886"/>
            <a:ext cx="5421076" cy="15850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zh-CN" altLang="en-US" sz="1800" b="1">
                <a:solidFill>
                  <a:srgbClr val="C00000"/>
                </a:solidFill>
              </a:rPr>
              <a:t>学习这一部分的目标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熟悉正规子群的定义，熟悉正规子群的判定定理</a:t>
            </a:r>
            <a:endParaRPr lang="en-US" altLang="zh-CN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熟悉商群的定义，能给出一些具体的商群例子</a:t>
            </a:r>
            <a:endParaRPr lang="en-US" altLang="zh-CN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能证明与正规子群、商群相关的简单性质</a:t>
            </a:r>
            <a:endParaRPr lang="zh-CN" altLang="en-US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C5F06C-13F4-4700-A74A-50AE597C58B1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1AB877-3368-4FFC-9613-CFD7F9DE434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E550E3-E368-4444-865C-D1511A0ABEDF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总结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3CC005-3633-4177-82A7-AAC95BDF90FD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ED2EB6-7339-4103-AB2C-C889032943F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16D71E-13E4-4E7F-BFA5-D05D8033C3FF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F1BE71F-FA69-411D-BD7B-4CB93A594B2D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755375" y="2375543"/>
            <a:ext cx="506895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在线平台练习（正规子群与商群）！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C8CC8-7EDC-415B-B810-AAB219ACED13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83F4F5-7F97-4CED-B3A1-14F3C9811897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6627BE-7107-49BE-A498-826F3842F409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2BFF262-CF58-4B19-84BB-A52050DCEE8A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D040D8-C82F-4BD4-B428-4ECA0AC4E742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F40A9-6D3E-4591-BC81-1F0D9F0DCEC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7F494-7D4C-4480-A38A-430AACDA8F80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440939" y="1500963"/>
            <a:ext cx="6428759" cy="18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3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83226F-FD7D-4839-BED4-AEBFFE411A57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13707-B6C2-48CE-819B-21701DCC56A3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第五讲  正规子群与商群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C9D032-921C-433D-91C0-C2F117D77F55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D7340C-548D-4890-A315-72EA938BD92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2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A708D7-0568-4958-823C-2A91B21DB047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CA99B-E615-4BA7-8851-D6FD4767EAE2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2108</TotalTime>
  <Words>3343</Words>
  <Application>Microsoft Office PowerPoint</Application>
  <PresentationFormat>全屏显示(16:9)</PresentationFormat>
  <Paragraphs>341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等线</vt:lpstr>
      <vt:lpstr>仿宋</vt:lpstr>
      <vt:lpstr>华文新魏</vt:lpstr>
      <vt:lpstr>楷体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zhou xiaocong</cp:lastModifiedBy>
  <cp:revision>70</cp:revision>
  <dcterms:created xsi:type="dcterms:W3CDTF">2022-01-01T06:39:40Z</dcterms:created>
  <dcterms:modified xsi:type="dcterms:W3CDTF">2024-01-17T12:56:48Z</dcterms:modified>
</cp:coreProperties>
</file>